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24"/>
  </p:notesMasterIdLst>
  <p:sldIdLst>
    <p:sldId id="256" r:id="rId3"/>
    <p:sldId id="257" r:id="rId4"/>
    <p:sldId id="258" r:id="rId5"/>
    <p:sldId id="278" r:id="rId6"/>
    <p:sldId id="259" r:id="rId7"/>
    <p:sldId id="279" r:id="rId8"/>
    <p:sldId id="260" r:id="rId9"/>
    <p:sldId id="261" r:id="rId10"/>
    <p:sldId id="263" r:id="rId11"/>
    <p:sldId id="281" r:id="rId12"/>
    <p:sldId id="265" r:id="rId13"/>
    <p:sldId id="283" r:id="rId14"/>
    <p:sldId id="266" r:id="rId15"/>
    <p:sldId id="268" r:id="rId16"/>
    <p:sldId id="269" r:id="rId17"/>
    <p:sldId id="270" r:id="rId18"/>
    <p:sldId id="294" r:id="rId19"/>
    <p:sldId id="273" r:id="rId20"/>
    <p:sldId id="274" r:id="rId21"/>
    <p:sldId id="275" r:id="rId22"/>
    <p:sldId id="276" r:id="rId23"/>
  </p:sldIdLst>
  <p:sldSz cx="12192000" cy="6858000"/>
  <p:notesSz cx="6858000" cy="12192000"/>
  <p:embeddedFontLst>
    <p:embeddedFont>
      <p:font typeface="微软雅黑" panose="020B0503020204020204" pitchFamily="34" charset="-122"/>
      <p:regular r:id="rId25"/>
      <p:bold r:id="rId26"/>
    </p:embeddedFont>
    <p:embeddedFont>
      <p:font typeface="Liter"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101"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abri\Downloads\Attrition%20Use%20case%20%231.docx!_1832429509"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 in Attrition Use case #1.docx]Sheet6!PivotTable4</c:name>
    <c:fmtId val="-1"/>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Sheet6!$B$3:$B$4</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Sheet6!$A$5:$A$9</c:f>
              <c:strCache>
                <c:ptCount val="4"/>
                <c:pt idx="0">
                  <c:v>Average</c:v>
                </c:pt>
                <c:pt idx="1">
                  <c:v>Below Average</c:v>
                </c:pt>
                <c:pt idx="2">
                  <c:v>High</c:v>
                </c:pt>
                <c:pt idx="3">
                  <c:v>Low</c:v>
                </c:pt>
              </c:strCache>
            </c:strRef>
          </c:cat>
          <c:val>
            <c:numRef>
              <c:f>Sheet6!$B$5:$B$9</c:f>
              <c:numCache>
                <c:formatCode>General</c:formatCode>
                <c:ptCount val="4"/>
                <c:pt idx="0">
                  <c:v>172</c:v>
                </c:pt>
                <c:pt idx="1">
                  <c:v>45</c:v>
                </c:pt>
                <c:pt idx="2">
                  <c:v>69</c:v>
                </c:pt>
                <c:pt idx="3">
                  <c:v>14</c:v>
                </c:pt>
              </c:numCache>
            </c:numRef>
          </c:val>
          <c:smooth val="0"/>
          <c:extLst>
            <c:ext xmlns:c16="http://schemas.microsoft.com/office/drawing/2014/chart" uri="{C3380CC4-5D6E-409C-BE32-E72D297353CC}">
              <c16:uniqueId val="{00000000-32C8-4E69-BC17-0EB5B65EA9F9}"/>
            </c:ext>
          </c:extLst>
        </c:ser>
        <c:dLbls>
          <c:showLegendKey val="0"/>
          <c:showVal val="0"/>
          <c:showCatName val="0"/>
          <c:showSerName val="0"/>
          <c:showPercent val="0"/>
          <c:showBubbleSize val="0"/>
        </c:dLbls>
        <c:marker val="1"/>
        <c:smooth val="0"/>
        <c:axId val="899929424"/>
        <c:axId val="899930864"/>
      </c:lineChart>
      <c:catAx>
        <c:axId val="899929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99930864"/>
        <c:crosses val="autoZero"/>
        <c:auto val="1"/>
        <c:lblAlgn val="ctr"/>
        <c:lblOffset val="100"/>
        <c:noMultiLvlLbl val="0"/>
      </c:catAx>
      <c:valAx>
        <c:axId val="8999308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999294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07:30:13.492"/>
    </inkml:context>
    <inkml:brush xml:id="br0">
      <inkml:brushProperty name="width" value="0.035" units="cm"/>
      <inkml:brushProperty name="height" value="0.035" units="cm"/>
      <inkml:brushProperty name="color" value="#333333"/>
    </inkml:brush>
  </inkml:definitions>
  <inkml:trace contextRef="#ctx0" brushRef="#br0">0 0 24119,'0'405'0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00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977C-FCC3-3A9E-8E86-D54FA2618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98EA72-20E8-5A13-5B33-C21063933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647BB7-7259-F2CB-1716-1B617272D385}"/>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5" name="Footer Placeholder 4">
            <a:extLst>
              <a:ext uri="{FF2B5EF4-FFF2-40B4-BE49-F238E27FC236}">
                <a16:creationId xmlns:a16="http://schemas.microsoft.com/office/drawing/2014/main" id="{30E05899-6E57-9B7F-C64D-2753F3B6EA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C3BC31-95F4-24D8-157E-65E4218A15A5}"/>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2584226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08ACE-5BC1-0C0C-A4FC-F8C89261F1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AA6F8D-8D23-F3CD-D9AB-7EB36CA1D8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801B81-B27F-0283-6947-E454ECF3670D}"/>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5" name="Footer Placeholder 4">
            <a:extLst>
              <a:ext uri="{FF2B5EF4-FFF2-40B4-BE49-F238E27FC236}">
                <a16:creationId xmlns:a16="http://schemas.microsoft.com/office/drawing/2014/main" id="{62F2D95F-0ED7-CC97-54E2-78138DEDF1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D21034-B203-2A70-8B68-6A3900DF9525}"/>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824903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D4879-2A3B-12A4-5233-61D1E5A561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AE3A2D-269B-88CA-8DC6-B1080C3DEE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3BD106-712A-97E3-3D46-DE3A3324E666}"/>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5" name="Footer Placeholder 4">
            <a:extLst>
              <a:ext uri="{FF2B5EF4-FFF2-40B4-BE49-F238E27FC236}">
                <a16:creationId xmlns:a16="http://schemas.microsoft.com/office/drawing/2014/main" id="{F3C501C1-1EA3-5AD8-9DC8-6AAF1EC230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671C9E-D9D3-20B4-FC4C-6DEA59419591}"/>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2028333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DD4A2-8B57-91C9-2DC4-2D40792C6F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95DE53-B06E-42CC-04EA-49CFE29AE4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03983E-C75E-7B9C-CD2C-7519364BC0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ECE92C-EC8A-2D48-AE6C-56415194FAF9}"/>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6" name="Footer Placeholder 5">
            <a:extLst>
              <a:ext uri="{FF2B5EF4-FFF2-40B4-BE49-F238E27FC236}">
                <a16:creationId xmlns:a16="http://schemas.microsoft.com/office/drawing/2014/main" id="{ABE71CEE-0167-A214-AE40-AED3F82A2B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81E44A-578B-D185-B471-09424F4E43CA}"/>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3116920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24CEA-DD02-7EEE-050C-85F1D70282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E8921A-0648-8E53-052D-E4662E48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B64D3-3894-92E8-AC4B-637888632B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2BC0B-20E9-FE84-5C22-088B63A234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AA83B-054D-7E90-48BE-DEDA530455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1D83B1-80A3-1B1E-0FC6-EE7DE7B23275}"/>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8" name="Footer Placeholder 7">
            <a:extLst>
              <a:ext uri="{FF2B5EF4-FFF2-40B4-BE49-F238E27FC236}">
                <a16:creationId xmlns:a16="http://schemas.microsoft.com/office/drawing/2014/main" id="{D200C45E-1976-133E-7989-71BE645A51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03F692-7C9E-E5BB-83A5-D9997F68B7BA}"/>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360460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9644-5A4F-1F60-78EC-A4F79A936B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A6FB33-DBE9-9DA2-0B7F-07B3E22C2D13}"/>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4" name="Footer Placeholder 3">
            <a:extLst>
              <a:ext uri="{FF2B5EF4-FFF2-40B4-BE49-F238E27FC236}">
                <a16:creationId xmlns:a16="http://schemas.microsoft.com/office/drawing/2014/main" id="{8978F865-0078-B581-AF0F-7F8917D2F2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4F72BC3-B43D-1073-0138-82910554ABAC}"/>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1599961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1B61F3-0D5D-C11A-86B4-FA3840F6EBBA}"/>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3" name="Footer Placeholder 2">
            <a:extLst>
              <a:ext uri="{FF2B5EF4-FFF2-40B4-BE49-F238E27FC236}">
                <a16:creationId xmlns:a16="http://schemas.microsoft.com/office/drawing/2014/main" id="{ED93A2AA-189A-2F5E-0EB3-5AA2589584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CD3FAE-9F5F-AB09-53B7-A5E700055934}"/>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2196948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0561C-10F8-6E86-8C41-F0FE26E21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5BE7C48-A2BC-97EC-A8C8-A51043F03E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039969-9B9A-FF12-8859-7531056DF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454010-8D8B-67E2-4092-A3B70D287EB4}"/>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6" name="Footer Placeholder 5">
            <a:extLst>
              <a:ext uri="{FF2B5EF4-FFF2-40B4-BE49-F238E27FC236}">
                <a16:creationId xmlns:a16="http://schemas.microsoft.com/office/drawing/2014/main" id="{7EFD398E-E885-5854-FB40-706E333A97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F976BF-E012-B9C9-F3B5-E5DA1230CFBE}"/>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3957808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7C29A-8E00-9436-ED34-2FA7517B3D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5C0C7D-1491-DA0F-D5D9-E2E3CB67DC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B320CD-4C06-96F9-6BAE-8C69C2041F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229FB-ED36-116A-3BE3-D8C9CE1F3B1C}"/>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6" name="Footer Placeholder 5">
            <a:extLst>
              <a:ext uri="{FF2B5EF4-FFF2-40B4-BE49-F238E27FC236}">
                <a16:creationId xmlns:a16="http://schemas.microsoft.com/office/drawing/2014/main" id="{60289AEF-8B44-1CEE-1FDE-40E5AC2563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B9695E-5EFC-6143-1CF9-5842D828F2D1}"/>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3076404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C4F6-C87A-CD4D-DBCB-0AF3191236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743246-3D51-2E45-9572-7949A502E6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AD74B-9F19-9C64-808B-B87AC5122065}"/>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5" name="Footer Placeholder 4">
            <a:extLst>
              <a:ext uri="{FF2B5EF4-FFF2-40B4-BE49-F238E27FC236}">
                <a16:creationId xmlns:a16="http://schemas.microsoft.com/office/drawing/2014/main" id="{62F378E5-E0D3-206A-E8CA-EED71D5A82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B3DF57-A636-0322-D9A0-B438B68767E7}"/>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500665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3DA5B8-9437-D94D-1066-F5CD836B2F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44D274-C231-5C0A-8910-F8982F7AE4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6D5476-1DED-EE4F-5A24-261E3B311F71}"/>
              </a:ext>
            </a:extLst>
          </p:cNvPr>
          <p:cNvSpPr>
            <a:spLocks noGrp="1"/>
          </p:cNvSpPr>
          <p:nvPr>
            <p:ph type="dt" sz="half" idx="10"/>
          </p:nvPr>
        </p:nvSpPr>
        <p:spPr/>
        <p:txBody>
          <a:bodyPr/>
          <a:lstStyle/>
          <a:p>
            <a:fld id="{779A9CD4-4E93-4F7F-9ADF-50CB7A6DBEE3}" type="datetimeFigureOut">
              <a:rPr lang="en-IN" smtClean="0"/>
              <a:t>26-02-2026</a:t>
            </a:fld>
            <a:endParaRPr lang="en-IN"/>
          </a:p>
        </p:txBody>
      </p:sp>
      <p:sp>
        <p:nvSpPr>
          <p:cNvPr id="5" name="Footer Placeholder 4">
            <a:extLst>
              <a:ext uri="{FF2B5EF4-FFF2-40B4-BE49-F238E27FC236}">
                <a16:creationId xmlns:a16="http://schemas.microsoft.com/office/drawing/2014/main" id="{7B65C77A-607C-1672-6BD7-0325978F05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445076-2227-52B5-AB00-249D0CF84937}"/>
              </a:ext>
            </a:extLst>
          </p:cNvPr>
          <p:cNvSpPr>
            <a:spLocks noGrp="1"/>
          </p:cNvSpPr>
          <p:nvPr>
            <p:ph type="sldNum" sz="quarter" idx="12"/>
          </p:nvPr>
        </p:nvSpPr>
        <p:spPr/>
        <p:txBody>
          <a:bodyPr/>
          <a:lstStyle/>
          <a:p>
            <a:fld id="{3212E635-B159-4881-9E4C-E7653ABB087A}" type="slidenum">
              <a:rPr lang="en-IN" smtClean="0"/>
              <a:t>‹#›</a:t>
            </a:fld>
            <a:endParaRPr lang="en-IN"/>
          </a:p>
        </p:txBody>
      </p:sp>
    </p:spTree>
    <p:extLst>
      <p:ext uri="{BB962C8B-B14F-4D97-AF65-F5344CB8AC3E}">
        <p14:creationId xmlns:p14="http://schemas.microsoft.com/office/powerpoint/2010/main" val="17237085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2D833-8FF8-ECDD-EF51-C33C6E29FB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A3C17B-EB61-45AB-3413-E7E3DDAB61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9DB339-1F97-6C7E-3DE7-043E3A882E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9A9CD4-4E93-4F7F-9ADF-50CB7A6DBEE3}" type="datetimeFigureOut">
              <a:rPr lang="en-IN" smtClean="0"/>
              <a:t>26-02-2026</a:t>
            </a:fld>
            <a:endParaRPr lang="en-IN"/>
          </a:p>
        </p:txBody>
      </p:sp>
      <p:sp>
        <p:nvSpPr>
          <p:cNvPr id="5" name="Footer Placeholder 4">
            <a:extLst>
              <a:ext uri="{FF2B5EF4-FFF2-40B4-BE49-F238E27FC236}">
                <a16:creationId xmlns:a16="http://schemas.microsoft.com/office/drawing/2014/main" id="{D9DB621A-0EC9-9E40-88FE-A6353B552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2980B20-63B5-86B5-99FC-408FE7EC7F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12E635-B159-4881-9E4C-E7653ABB087A}" type="slidenum">
              <a:rPr lang="en-IN" smtClean="0"/>
              <a:t>‹#›</a:t>
            </a:fld>
            <a:endParaRPr lang="en-IN"/>
          </a:p>
        </p:txBody>
      </p:sp>
    </p:spTree>
    <p:extLst>
      <p:ext uri="{BB962C8B-B14F-4D97-AF65-F5344CB8AC3E}">
        <p14:creationId xmlns:p14="http://schemas.microsoft.com/office/powerpoint/2010/main" val="109022677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emf"/><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web-img.moonshot.cn/img/images.stockcake.com/0a3e234a6e0962c0883ab12dcadebc02bb5cca51.jpg"/>
          <p:cNvPicPr>
            <a:picLocks noChangeAspect="1"/>
          </p:cNvPicPr>
          <p:nvPr/>
        </p:nvPicPr>
        <p:blipFill>
          <a:blip r:embed="rId3">
            <a:alphaModFix amt="30000"/>
          </a:blip>
          <a:srcRect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3A52">
                  <a:alpha val="95000"/>
                </a:srgbClr>
              </a:gs>
              <a:gs pos="50000">
                <a:srgbClr val="1A3A52">
                  <a:alpha val="85000"/>
                </a:srgbClr>
              </a:gs>
              <a:gs pos="100000">
                <a:srgbClr val="5E7A91">
                  <a:alpha val="75000"/>
                </a:srgbClr>
              </a:gs>
            </a:gsLst>
            <a:lin ang="2700000" scaled="1"/>
          </a:gradFill>
          <a:ln/>
        </p:spPr>
      </p:sp>
      <p:sp>
        <p:nvSpPr>
          <p:cNvPr id="4" name="Shape 1"/>
          <p:cNvSpPr/>
          <p:nvPr/>
        </p:nvSpPr>
        <p:spPr>
          <a:xfrm>
            <a:off x="400050" y="1428750"/>
            <a:ext cx="2305050" cy="419100"/>
          </a:xfrm>
          <a:custGeom>
            <a:avLst/>
            <a:gdLst/>
            <a:ahLst/>
            <a:cxnLst/>
            <a:rect l="l" t="t" r="r" b="b"/>
            <a:pathLst>
              <a:path w="2305050" h="419100">
                <a:moveTo>
                  <a:pt x="0" y="0"/>
                </a:moveTo>
                <a:lnTo>
                  <a:pt x="2305050" y="0"/>
                </a:lnTo>
                <a:lnTo>
                  <a:pt x="2305050" y="419100"/>
                </a:lnTo>
                <a:lnTo>
                  <a:pt x="0" y="419100"/>
                </a:lnTo>
                <a:lnTo>
                  <a:pt x="0" y="0"/>
                </a:lnTo>
                <a:close/>
              </a:path>
            </a:pathLst>
          </a:custGeom>
          <a:solidFill>
            <a:srgbClr val="C5A56A">
              <a:alpha val="20000"/>
            </a:srgbClr>
          </a:solidFill>
          <a:ln/>
        </p:spPr>
      </p:sp>
      <p:sp>
        <p:nvSpPr>
          <p:cNvPr id="5" name="Shape 2"/>
          <p:cNvSpPr/>
          <p:nvPr/>
        </p:nvSpPr>
        <p:spPr>
          <a:xfrm>
            <a:off x="400050" y="1428750"/>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C5A56A"/>
          </a:solidFill>
          <a:ln/>
        </p:spPr>
      </p:sp>
      <p:sp>
        <p:nvSpPr>
          <p:cNvPr id="6" name="Text 3"/>
          <p:cNvSpPr/>
          <p:nvPr/>
        </p:nvSpPr>
        <p:spPr>
          <a:xfrm>
            <a:off x="609600" y="1504950"/>
            <a:ext cx="1990725" cy="266700"/>
          </a:xfrm>
          <a:prstGeom prst="rect">
            <a:avLst/>
          </a:prstGeom>
          <a:noFill/>
          <a:ln/>
        </p:spPr>
        <p:txBody>
          <a:bodyPr wrap="square" lIns="0" tIns="0" rIns="0" bIns="0" rtlCol="0" anchor="ctr"/>
          <a:lstStyle/>
          <a:p>
            <a:pPr>
              <a:lnSpc>
                <a:spcPct val="130000"/>
              </a:lnSpc>
            </a:pPr>
            <a:r>
              <a:rPr lang="en-US" sz="1350" b="1" kern="0" spc="135" dirty="0">
                <a:solidFill>
                  <a:srgbClr val="C5A56A"/>
                </a:solidFill>
                <a:latin typeface="Liter" pitchFamily="34" charset="0"/>
                <a:ea typeface="Liter" pitchFamily="34" charset="-122"/>
                <a:cs typeface="Liter" pitchFamily="34" charset="-120"/>
              </a:rPr>
              <a:t>Six Sigma Project</a:t>
            </a:r>
            <a:endParaRPr lang="en-US" sz="1600" dirty="0"/>
          </a:p>
        </p:txBody>
      </p:sp>
      <p:sp>
        <p:nvSpPr>
          <p:cNvPr id="7" name="Text 4"/>
          <p:cNvSpPr/>
          <p:nvPr/>
        </p:nvSpPr>
        <p:spPr>
          <a:xfrm>
            <a:off x="381000" y="2076450"/>
            <a:ext cx="5972175" cy="1714500"/>
          </a:xfrm>
          <a:prstGeom prst="rect">
            <a:avLst/>
          </a:prstGeom>
          <a:noFill/>
          <a:ln/>
        </p:spPr>
        <p:txBody>
          <a:bodyPr wrap="square" lIns="0" tIns="0" rIns="0" bIns="0" rtlCol="0" anchor="ctr"/>
          <a:lstStyle/>
          <a:p>
            <a:pPr>
              <a:lnSpc>
                <a:spcPct val="100000"/>
              </a:lnSpc>
            </a:pPr>
            <a:r>
              <a:rPr lang="en-US" sz="5400" b="1" dirty="0">
                <a:solidFill>
                  <a:srgbClr val="F8F9FA"/>
                </a:solidFill>
                <a:latin typeface="Liter" pitchFamily="34" charset="0"/>
                <a:ea typeface="Liter" pitchFamily="34" charset="-122"/>
                <a:cs typeface="Liter" pitchFamily="34" charset="-120"/>
              </a:rPr>
              <a:t>Employee Attrition</a:t>
            </a:r>
            <a:endParaRPr lang="en-US" sz="1600" dirty="0"/>
          </a:p>
          <a:p>
            <a:pPr>
              <a:lnSpc>
                <a:spcPct val="100000"/>
              </a:lnSpc>
            </a:pPr>
            <a:r>
              <a:rPr lang="en-US" sz="5400" b="1" dirty="0">
                <a:solidFill>
                  <a:srgbClr val="F8F9FA"/>
                </a:solidFill>
                <a:latin typeface="Liter" pitchFamily="34" charset="0"/>
                <a:ea typeface="Liter" pitchFamily="34" charset="-122"/>
                <a:cs typeface="Liter" pitchFamily="34" charset="-120"/>
              </a:rPr>
              <a:t>Reduction Project</a:t>
            </a:r>
            <a:endParaRPr lang="en-US" sz="1600" dirty="0"/>
          </a:p>
        </p:txBody>
      </p:sp>
      <p:sp>
        <p:nvSpPr>
          <p:cNvPr id="8" name="Shape 5"/>
          <p:cNvSpPr/>
          <p:nvPr/>
        </p:nvSpPr>
        <p:spPr>
          <a:xfrm>
            <a:off x="381000" y="401955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C5A56A"/>
          </a:solidFill>
          <a:ln/>
        </p:spPr>
      </p:sp>
      <p:sp>
        <p:nvSpPr>
          <p:cNvPr id="9" name="Text 6"/>
          <p:cNvSpPr/>
          <p:nvPr/>
        </p:nvSpPr>
        <p:spPr>
          <a:xfrm>
            <a:off x="381000" y="4362450"/>
            <a:ext cx="4010025" cy="342900"/>
          </a:xfrm>
          <a:prstGeom prst="rect">
            <a:avLst/>
          </a:prstGeom>
          <a:noFill/>
          <a:ln/>
        </p:spPr>
        <p:txBody>
          <a:bodyPr wrap="square" lIns="0" tIns="0" rIns="0" bIns="0" rtlCol="0" anchor="ctr"/>
          <a:lstStyle/>
          <a:p>
            <a:pPr>
              <a:lnSpc>
                <a:spcPct val="100000"/>
              </a:lnSpc>
            </a:pPr>
            <a:r>
              <a:rPr lang="en-US" sz="2250" dirty="0">
                <a:solidFill>
                  <a:srgbClr val="F8F9FA">
                    <a:alpha val="90000"/>
                  </a:srgbClr>
                </a:solidFill>
                <a:latin typeface="Liter" pitchFamily="34" charset="0"/>
                <a:ea typeface="Liter" pitchFamily="34" charset="-122"/>
                <a:cs typeface="Liter" pitchFamily="34" charset="-120"/>
              </a:rPr>
              <a:t>Red Apple Technologies (RAT)</a:t>
            </a:r>
            <a:endParaRPr lang="en-US" sz="1600" dirty="0"/>
          </a:p>
        </p:txBody>
      </p:sp>
      <p:sp>
        <p:nvSpPr>
          <p:cNvPr id="10" name="Shape 7"/>
          <p:cNvSpPr/>
          <p:nvPr/>
        </p:nvSpPr>
        <p:spPr>
          <a:xfrm>
            <a:off x="416719" y="5200650"/>
            <a:ext cx="166688" cy="190500"/>
          </a:xfrm>
          <a:custGeom>
            <a:avLst/>
            <a:gdLst/>
            <a:ahLst/>
            <a:cxn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5A56A"/>
          </a:solidFill>
          <a:ln/>
        </p:spPr>
      </p:sp>
      <p:sp>
        <p:nvSpPr>
          <p:cNvPr id="11" name="Text 8"/>
          <p:cNvSpPr/>
          <p:nvPr/>
        </p:nvSpPr>
        <p:spPr>
          <a:xfrm>
            <a:off x="733425" y="5162550"/>
            <a:ext cx="552450" cy="266700"/>
          </a:xfrm>
          <a:prstGeom prst="rect">
            <a:avLst/>
          </a:prstGeom>
          <a:noFill/>
          <a:ln/>
        </p:spPr>
        <p:txBody>
          <a:bodyPr wrap="square" lIns="0" tIns="0" rIns="0" bIns="0" rtlCol="0" anchor="ctr"/>
          <a:lstStyle/>
          <a:p>
            <a:pPr>
              <a:lnSpc>
                <a:spcPct val="120000"/>
              </a:lnSpc>
            </a:pPr>
            <a:r>
              <a:rPr lang="en-US" sz="1500" dirty="0">
                <a:solidFill>
                  <a:srgbClr val="F8F9FA">
                    <a:alpha val="80000"/>
                  </a:srgbClr>
                </a:solidFill>
                <a:latin typeface="Liter" pitchFamily="34" charset="0"/>
                <a:ea typeface="Liter" pitchFamily="34" charset="-122"/>
                <a:cs typeface="Liter" pitchFamily="34" charset="-120"/>
              </a:rPr>
              <a:t>2025</a:t>
            </a:r>
            <a:endParaRPr lang="en-US" sz="1600" dirty="0"/>
          </a:p>
        </p:txBody>
      </p:sp>
      <p:sp>
        <p:nvSpPr>
          <p:cNvPr id="12" name="Shape 9"/>
          <p:cNvSpPr/>
          <p:nvPr/>
        </p:nvSpPr>
        <p:spPr>
          <a:xfrm>
            <a:off x="1590874" y="520065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C5A56A"/>
          </a:solidFill>
          <a:ln/>
        </p:spPr>
      </p:sp>
      <p:sp>
        <p:nvSpPr>
          <p:cNvPr id="13" name="Text 10"/>
          <p:cNvSpPr/>
          <p:nvPr/>
        </p:nvSpPr>
        <p:spPr>
          <a:xfrm>
            <a:off x="1919486" y="5162550"/>
            <a:ext cx="1828800" cy="266700"/>
          </a:xfrm>
          <a:prstGeom prst="rect">
            <a:avLst/>
          </a:prstGeom>
          <a:noFill/>
          <a:ln/>
        </p:spPr>
        <p:txBody>
          <a:bodyPr wrap="square" lIns="0" tIns="0" rIns="0" bIns="0" rtlCol="0" anchor="ctr"/>
          <a:lstStyle/>
          <a:p>
            <a:pPr>
              <a:lnSpc>
                <a:spcPct val="120000"/>
              </a:lnSpc>
            </a:pPr>
            <a:r>
              <a:rPr lang="en-US" sz="1500" dirty="0">
                <a:solidFill>
                  <a:srgbClr val="F8F9FA">
                    <a:alpha val="80000"/>
                  </a:srgbClr>
                </a:solidFill>
                <a:latin typeface="Liter" pitchFamily="34" charset="0"/>
                <a:ea typeface="Liter" pitchFamily="34" charset="-122"/>
                <a:cs typeface="Liter" pitchFamily="34" charset="-120"/>
              </a:rPr>
              <a:t>Target: Attrition ≤ 1%</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5A56A"/>
                </a:solidFill>
                <a:latin typeface="Liter" pitchFamily="34" charset="0"/>
                <a:ea typeface="Liter" pitchFamily="34" charset="-122"/>
                <a:cs typeface="Liter" pitchFamily="34" charset="-120"/>
              </a:rPr>
              <a:t>Define Phase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A3A52"/>
                </a:solidFill>
                <a:latin typeface="Liter" pitchFamily="34" charset="0"/>
                <a:ea typeface="Liter" pitchFamily="34" charset="-122"/>
                <a:cs typeface="Liter" pitchFamily="34" charset="-120"/>
              </a:rPr>
              <a:t>Voice of Stakeholders</a:t>
            </a:r>
            <a:endParaRPr lang="en-US" sz="1600" dirty="0"/>
          </a:p>
        </p:txBody>
      </p:sp>
      <p:sp>
        <p:nvSpPr>
          <p:cNvPr id="4" name="Shape 2"/>
          <p:cNvSpPr/>
          <p:nvPr/>
        </p:nvSpPr>
        <p:spPr>
          <a:xfrm>
            <a:off x="381000" y="12573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5A56A"/>
          </a:solidFill>
          <a:ln/>
        </p:spPr>
      </p:sp>
      <p:sp>
        <p:nvSpPr>
          <p:cNvPr id="5" name="Shape 3"/>
          <p:cNvSpPr/>
          <p:nvPr/>
        </p:nvSpPr>
        <p:spPr>
          <a:xfrm>
            <a:off x="381000" y="1504950"/>
            <a:ext cx="3686175" cy="4933950"/>
          </a:xfrm>
          <a:custGeom>
            <a:avLst/>
            <a:gdLst/>
            <a:ahLst/>
            <a:cxnLst/>
            <a:rect l="l" t="t" r="r" b="b"/>
            <a:pathLst>
              <a:path w="3686175" h="4933950">
                <a:moveTo>
                  <a:pt x="38100" y="0"/>
                </a:moveTo>
                <a:lnTo>
                  <a:pt x="3648075" y="0"/>
                </a:lnTo>
                <a:cubicBezTo>
                  <a:pt x="3669103" y="0"/>
                  <a:pt x="3686175" y="17072"/>
                  <a:pt x="3686175" y="38100"/>
                </a:cubicBezTo>
                <a:lnTo>
                  <a:pt x="3686175" y="4857757"/>
                </a:lnTo>
                <a:cubicBezTo>
                  <a:pt x="3686175" y="4899837"/>
                  <a:pt x="3652062" y="4933950"/>
                  <a:pt x="3609982" y="4933950"/>
                </a:cubicBezTo>
                <a:lnTo>
                  <a:pt x="76193" y="4933950"/>
                </a:lnTo>
                <a:cubicBezTo>
                  <a:pt x="34113" y="4933950"/>
                  <a:pt x="0" y="4899837"/>
                  <a:pt x="0" y="4857757"/>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6" name="Shape 4"/>
          <p:cNvSpPr/>
          <p:nvPr/>
        </p:nvSpPr>
        <p:spPr>
          <a:xfrm>
            <a:off x="381000" y="15049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1A3A52"/>
          </a:solidFill>
          <a:ln/>
        </p:spPr>
      </p:sp>
      <p:sp>
        <p:nvSpPr>
          <p:cNvPr id="7" name="Shape 5"/>
          <p:cNvSpPr/>
          <p:nvPr/>
        </p:nvSpPr>
        <p:spPr>
          <a:xfrm>
            <a:off x="571500" y="17145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A3A52"/>
          </a:solidFill>
          <a:ln/>
        </p:spPr>
      </p:sp>
      <p:sp>
        <p:nvSpPr>
          <p:cNvPr id="8" name="Shape 6"/>
          <p:cNvSpPr/>
          <p:nvPr/>
        </p:nvSpPr>
        <p:spPr>
          <a:xfrm>
            <a:off x="681038" y="1847850"/>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FFFFFF"/>
          </a:solidFill>
          <a:ln/>
        </p:spPr>
      </p:sp>
      <p:sp>
        <p:nvSpPr>
          <p:cNvPr id="9" name="Text 7"/>
          <p:cNvSpPr/>
          <p:nvPr/>
        </p:nvSpPr>
        <p:spPr>
          <a:xfrm>
            <a:off x="1143000" y="1790700"/>
            <a:ext cx="1990725" cy="304800"/>
          </a:xfrm>
          <a:prstGeom prst="rect">
            <a:avLst/>
          </a:prstGeom>
          <a:noFill/>
          <a:ln/>
        </p:spPr>
        <p:txBody>
          <a:bodyPr wrap="square" lIns="0" tIns="0" rIns="0" bIns="0" rtlCol="0" anchor="ctr"/>
          <a:lstStyle/>
          <a:p>
            <a:pPr>
              <a:lnSpc>
                <a:spcPct val="110000"/>
              </a:lnSpc>
            </a:pPr>
            <a:r>
              <a:rPr lang="en-US" sz="1800" b="1" dirty="0">
                <a:solidFill>
                  <a:srgbClr val="1A3A52"/>
                </a:solidFill>
                <a:latin typeface="Liter" pitchFamily="34" charset="0"/>
                <a:ea typeface="Liter" pitchFamily="34" charset="-122"/>
                <a:cs typeface="Liter" pitchFamily="34" charset="-120"/>
              </a:rPr>
              <a:t>Voice of Customer</a:t>
            </a:r>
            <a:endParaRPr lang="en-US" sz="1600" dirty="0"/>
          </a:p>
        </p:txBody>
      </p:sp>
      <p:sp>
        <p:nvSpPr>
          <p:cNvPr id="10" name="Text 8"/>
          <p:cNvSpPr/>
          <p:nvPr/>
        </p:nvSpPr>
        <p:spPr>
          <a:xfrm>
            <a:off x="571500" y="2324100"/>
            <a:ext cx="3381375" cy="228600"/>
          </a:xfrm>
          <a:prstGeom prst="rect">
            <a:avLst/>
          </a:prstGeom>
          <a:noFill/>
          <a:ln/>
        </p:spPr>
        <p:txBody>
          <a:bodyPr wrap="square" lIns="0" tIns="0" rIns="0" bIns="0" rtlCol="0" anchor="ctr"/>
          <a:lstStyle/>
          <a:p>
            <a:pPr>
              <a:lnSpc>
                <a:spcPct val="130000"/>
              </a:lnSpc>
            </a:pPr>
            <a:r>
              <a:rPr lang="en-US" sz="1200" dirty="0">
                <a:solidFill>
                  <a:srgbClr val="5E7A91"/>
                </a:solidFill>
                <a:latin typeface="Liter" pitchFamily="34" charset="0"/>
                <a:ea typeface="Liter" pitchFamily="34" charset="-122"/>
                <a:cs typeface="Liter" pitchFamily="34" charset="-120"/>
              </a:rPr>
              <a:t>What clients expect from RAT</a:t>
            </a:r>
            <a:endParaRPr lang="en-US" sz="1600" dirty="0"/>
          </a:p>
        </p:txBody>
      </p:sp>
      <p:sp>
        <p:nvSpPr>
          <p:cNvPr id="11" name="Shape 9"/>
          <p:cNvSpPr/>
          <p:nvPr/>
        </p:nvSpPr>
        <p:spPr>
          <a:xfrm>
            <a:off x="571500" y="27813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12" name="Text 10"/>
          <p:cNvSpPr/>
          <p:nvPr/>
        </p:nvSpPr>
        <p:spPr>
          <a:xfrm>
            <a:off x="762000" y="2705100"/>
            <a:ext cx="3143250"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Stable project execution</a:t>
            </a:r>
            <a:r>
              <a:rPr lang="en-US" sz="1200" dirty="0">
                <a:solidFill>
                  <a:srgbClr val="212529"/>
                </a:solidFill>
                <a:latin typeface="Liter" pitchFamily="34" charset="0"/>
                <a:ea typeface="Liter" pitchFamily="34" charset="-122"/>
                <a:cs typeface="Liter" pitchFamily="34" charset="-120"/>
              </a:rPr>
              <a:t> without staffing gaps</a:t>
            </a:r>
            <a:endParaRPr lang="en-US" sz="1600" dirty="0"/>
          </a:p>
        </p:txBody>
      </p:sp>
      <p:sp>
        <p:nvSpPr>
          <p:cNvPr id="13" name="Shape 11"/>
          <p:cNvSpPr/>
          <p:nvPr/>
        </p:nvSpPr>
        <p:spPr>
          <a:xfrm>
            <a:off x="571500" y="31242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14" name="Text 12"/>
          <p:cNvSpPr/>
          <p:nvPr/>
        </p:nvSpPr>
        <p:spPr>
          <a:xfrm>
            <a:off x="762000" y="3048000"/>
            <a:ext cx="3190875" cy="4572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Skilled professionals</a:t>
            </a:r>
            <a:r>
              <a:rPr lang="en-US" sz="1200" dirty="0">
                <a:solidFill>
                  <a:srgbClr val="212529"/>
                </a:solidFill>
                <a:latin typeface="Liter" pitchFamily="34" charset="0"/>
                <a:ea typeface="Liter" pitchFamily="34" charset="-122"/>
                <a:cs typeface="Liter" pitchFamily="34" charset="-120"/>
              </a:rPr>
              <a:t> in niche technologies (VAGNETTE, INTERBASE, LITEWARE)</a:t>
            </a:r>
            <a:endParaRPr lang="en-US" sz="1600" dirty="0"/>
          </a:p>
        </p:txBody>
      </p:sp>
      <p:sp>
        <p:nvSpPr>
          <p:cNvPr id="15" name="Shape 13"/>
          <p:cNvSpPr/>
          <p:nvPr/>
        </p:nvSpPr>
        <p:spPr>
          <a:xfrm>
            <a:off x="571500" y="36957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16" name="Text 14"/>
          <p:cNvSpPr/>
          <p:nvPr/>
        </p:nvSpPr>
        <p:spPr>
          <a:xfrm>
            <a:off x="762000" y="3619500"/>
            <a:ext cx="2638425"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Consistent quality</a:t>
            </a:r>
            <a:r>
              <a:rPr lang="en-US" sz="1200" dirty="0">
                <a:solidFill>
                  <a:srgbClr val="212529"/>
                </a:solidFill>
                <a:latin typeface="Liter" pitchFamily="34" charset="0"/>
                <a:ea typeface="Liter" pitchFamily="34" charset="-122"/>
                <a:cs typeface="Liter" pitchFamily="34" charset="-120"/>
              </a:rPr>
              <a:t> &amp; delivery timelines</a:t>
            </a:r>
            <a:endParaRPr lang="en-US" sz="1600" dirty="0"/>
          </a:p>
        </p:txBody>
      </p:sp>
      <p:sp>
        <p:nvSpPr>
          <p:cNvPr id="17" name="Shape 15"/>
          <p:cNvSpPr/>
          <p:nvPr/>
        </p:nvSpPr>
        <p:spPr>
          <a:xfrm>
            <a:off x="571500" y="40386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18" name="Text 16"/>
          <p:cNvSpPr/>
          <p:nvPr/>
        </p:nvSpPr>
        <p:spPr>
          <a:xfrm>
            <a:off x="762000" y="3962400"/>
            <a:ext cx="3124200"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Minimal disruption</a:t>
            </a:r>
            <a:r>
              <a:rPr lang="en-US" sz="1200" dirty="0">
                <a:solidFill>
                  <a:srgbClr val="212529"/>
                </a:solidFill>
                <a:latin typeface="Liter" pitchFamily="34" charset="0"/>
                <a:ea typeface="Liter" pitchFamily="34" charset="-122"/>
                <a:cs typeface="Liter" pitchFamily="34" charset="-120"/>
              </a:rPr>
              <a:t> in communication/support</a:t>
            </a:r>
            <a:endParaRPr lang="en-US" sz="1600" dirty="0"/>
          </a:p>
        </p:txBody>
      </p:sp>
      <p:sp>
        <p:nvSpPr>
          <p:cNvPr id="19" name="Shape 17"/>
          <p:cNvSpPr/>
          <p:nvPr/>
        </p:nvSpPr>
        <p:spPr>
          <a:xfrm>
            <a:off x="571500" y="5673725"/>
            <a:ext cx="3305175" cy="6350"/>
          </a:xfrm>
          <a:custGeom>
            <a:avLst/>
            <a:gdLst/>
            <a:ahLst/>
            <a:cxnLst/>
            <a:rect l="l" t="t" r="r" b="b"/>
            <a:pathLst>
              <a:path w="3305175" h="6350">
                <a:moveTo>
                  <a:pt x="0" y="0"/>
                </a:moveTo>
                <a:lnTo>
                  <a:pt x="3305175" y="0"/>
                </a:lnTo>
                <a:lnTo>
                  <a:pt x="3305175" y="6350"/>
                </a:lnTo>
                <a:lnTo>
                  <a:pt x="0" y="6350"/>
                </a:lnTo>
                <a:lnTo>
                  <a:pt x="0" y="0"/>
                </a:lnTo>
                <a:close/>
              </a:path>
            </a:pathLst>
          </a:custGeom>
          <a:solidFill>
            <a:srgbClr val="5E7A91">
              <a:alpha val="20000"/>
            </a:srgbClr>
          </a:solidFill>
          <a:ln/>
        </p:spPr>
      </p:sp>
      <p:sp>
        <p:nvSpPr>
          <p:cNvPr id="20" name="Shape 18"/>
          <p:cNvSpPr/>
          <p:nvPr/>
        </p:nvSpPr>
        <p:spPr>
          <a:xfrm>
            <a:off x="609600" y="584835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5A56A"/>
          </a:solidFill>
          <a:ln/>
        </p:spPr>
      </p:sp>
      <p:sp>
        <p:nvSpPr>
          <p:cNvPr id="21" name="Text 19"/>
          <p:cNvSpPr/>
          <p:nvPr/>
        </p:nvSpPr>
        <p:spPr>
          <a:xfrm>
            <a:off x="838200" y="5829300"/>
            <a:ext cx="714375" cy="190500"/>
          </a:xfrm>
          <a:prstGeom prst="rect">
            <a:avLst/>
          </a:prstGeom>
          <a:noFill/>
          <a:ln/>
        </p:spPr>
        <p:txBody>
          <a:bodyPr wrap="square" lIns="0" tIns="0" rIns="0" bIns="0" rtlCol="0" anchor="ctr"/>
          <a:lstStyle/>
          <a:p>
            <a:pPr>
              <a:lnSpc>
                <a:spcPct val="120000"/>
              </a:lnSpc>
            </a:pPr>
            <a:r>
              <a:rPr lang="en-US" sz="1050" b="1" dirty="0">
                <a:solidFill>
                  <a:srgbClr val="1A3A52"/>
                </a:solidFill>
                <a:latin typeface="Liter" pitchFamily="34" charset="0"/>
                <a:ea typeface="Liter" pitchFamily="34" charset="-122"/>
                <a:cs typeface="Liter" pitchFamily="34" charset="-120"/>
              </a:rPr>
              <a:t>Key Insight</a:t>
            </a:r>
            <a:endParaRPr lang="en-US" sz="1600" dirty="0"/>
          </a:p>
        </p:txBody>
      </p:sp>
      <p:sp>
        <p:nvSpPr>
          <p:cNvPr id="22" name="Text 20"/>
          <p:cNvSpPr/>
          <p:nvPr/>
        </p:nvSpPr>
        <p:spPr>
          <a:xfrm>
            <a:off x="571500" y="6057900"/>
            <a:ext cx="3371850" cy="190500"/>
          </a:xfrm>
          <a:prstGeom prst="rect">
            <a:avLst/>
          </a:prstGeom>
          <a:noFill/>
          <a:ln/>
        </p:spPr>
        <p:txBody>
          <a:bodyPr wrap="square" lIns="0" tIns="0" rIns="0" bIns="0" rtlCol="0" anchor="ctr"/>
          <a:lstStyle/>
          <a:p>
            <a:pPr>
              <a:lnSpc>
                <a:spcPct val="120000"/>
              </a:lnSpc>
            </a:pPr>
            <a:r>
              <a:rPr lang="en-US" sz="1050" dirty="0">
                <a:solidFill>
                  <a:srgbClr val="5E7A91"/>
                </a:solidFill>
                <a:latin typeface="Liter" pitchFamily="34" charset="0"/>
                <a:ea typeface="Liter" pitchFamily="34" charset="-122"/>
                <a:cs typeface="Liter" pitchFamily="34" charset="-120"/>
              </a:rPr>
              <a:t>Client satisfaction depends on workforce stability</a:t>
            </a:r>
            <a:endParaRPr lang="en-US" sz="1600" dirty="0"/>
          </a:p>
        </p:txBody>
      </p:sp>
      <p:sp>
        <p:nvSpPr>
          <p:cNvPr id="23" name="Shape 21"/>
          <p:cNvSpPr/>
          <p:nvPr/>
        </p:nvSpPr>
        <p:spPr>
          <a:xfrm>
            <a:off x="4254500" y="1504950"/>
            <a:ext cx="3686175" cy="4933950"/>
          </a:xfrm>
          <a:custGeom>
            <a:avLst/>
            <a:gdLst/>
            <a:ahLst/>
            <a:cxnLst/>
            <a:rect l="l" t="t" r="r" b="b"/>
            <a:pathLst>
              <a:path w="3686175" h="4933950">
                <a:moveTo>
                  <a:pt x="38100" y="0"/>
                </a:moveTo>
                <a:lnTo>
                  <a:pt x="3648075" y="0"/>
                </a:lnTo>
                <a:cubicBezTo>
                  <a:pt x="3669103" y="0"/>
                  <a:pt x="3686175" y="17072"/>
                  <a:pt x="3686175" y="38100"/>
                </a:cubicBezTo>
                <a:lnTo>
                  <a:pt x="3686175" y="4857757"/>
                </a:lnTo>
                <a:cubicBezTo>
                  <a:pt x="3686175" y="4899837"/>
                  <a:pt x="3652062" y="4933950"/>
                  <a:pt x="3609982" y="4933950"/>
                </a:cubicBezTo>
                <a:lnTo>
                  <a:pt x="76193" y="4933950"/>
                </a:lnTo>
                <a:cubicBezTo>
                  <a:pt x="34113" y="4933950"/>
                  <a:pt x="0" y="4899837"/>
                  <a:pt x="0" y="4857757"/>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24" name="Shape 22"/>
          <p:cNvSpPr/>
          <p:nvPr/>
        </p:nvSpPr>
        <p:spPr>
          <a:xfrm>
            <a:off x="4254500" y="15049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C5A56A"/>
          </a:solidFill>
          <a:ln/>
        </p:spPr>
      </p:sp>
      <p:sp>
        <p:nvSpPr>
          <p:cNvPr id="25" name="Shape 23"/>
          <p:cNvSpPr/>
          <p:nvPr/>
        </p:nvSpPr>
        <p:spPr>
          <a:xfrm>
            <a:off x="4445000" y="17145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5A56A"/>
          </a:solidFill>
          <a:ln/>
        </p:spPr>
      </p:sp>
      <p:sp>
        <p:nvSpPr>
          <p:cNvPr id="26" name="Shape 24"/>
          <p:cNvSpPr/>
          <p:nvPr/>
        </p:nvSpPr>
        <p:spPr>
          <a:xfrm>
            <a:off x="4578350" y="1847850"/>
            <a:ext cx="190500" cy="190500"/>
          </a:xfrm>
          <a:custGeom>
            <a:avLst/>
            <a:gdLst/>
            <a:ahLst/>
            <a:cxnLst/>
            <a:rect l="l" t="t" r="r" b="b"/>
            <a:pathLst>
              <a:path w="190500" h="190500">
                <a:moveTo>
                  <a:pt x="74414" y="17859"/>
                </a:moveTo>
                <a:lnTo>
                  <a:pt x="116086" y="17859"/>
                </a:lnTo>
                <a:cubicBezTo>
                  <a:pt x="117723" y="17859"/>
                  <a:pt x="119063" y="19199"/>
                  <a:pt x="119063" y="20836"/>
                </a:cubicBezTo>
                <a:lnTo>
                  <a:pt x="119063" y="35719"/>
                </a:lnTo>
                <a:lnTo>
                  <a:pt x="71438" y="35719"/>
                </a:lnTo>
                <a:lnTo>
                  <a:pt x="71438" y="20836"/>
                </a:lnTo>
                <a:cubicBezTo>
                  <a:pt x="71438" y="19199"/>
                  <a:pt x="72777" y="17859"/>
                  <a:pt x="74414" y="17859"/>
                </a:cubicBezTo>
                <a:close/>
                <a:moveTo>
                  <a:pt x="53578" y="20836"/>
                </a:moveTo>
                <a:lnTo>
                  <a:pt x="53578" y="35719"/>
                </a:lnTo>
                <a:lnTo>
                  <a:pt x="23812" y="35719"/>
                </a:lnTo>
                <a:cubicBezTo>
                  <a:pt x="10678" y="35719"/>
                  <a:pt x="0" y="46397"/>
                  <a:pt x="0" y="59531"/>
                </a:cubicBezTo>
                <a:lnTo>
                  <a:pt x="0" y="95250"/>
                </a:lnTo>
                <a:lnTo>
                  <a:pt x="190500" y="95250"/>
                </a:lnTo>
                <a:lnTo>
                  <a:pt x="190500" y="59531"/>
                </a:lnTo>
                <a:cubicBezTo>
                  <a:pt x="190500" y="46397"/>
                  <a:pt x="179822" y="35719"/>
                  <a:pt x="166688" y="35719"/>
                </a:cubicBezTo>
                <a:lnTo>
                  <a:pt x="136922" y="35719"/>
                </a:lnTo>
                <a:lnTo>
                  <a:pt x="136922" y="20836"/>
                </a:lnTo>
                <a:cubicBezTo>
                  <a:pt x="136922" y="9339"/>
                  <a:pt x="127583" y="0"/>
                  <a:pt x="116086" y="0"/>
                </a:cubicBezTo>
                <a:lnTo>
                  <a:pt x="74414" y="0"/>
                </a:lnTo>
                <a:cubicBezTo>
                  <a:pt x="62917" y="0"/>
                  <a:pt x="53578" y="9339"/>
                  <a:pt x="53578" y="20836"/>
                </a:cubicBezTo>
                <a:close/>
                <a:moveTo>
                  <a:pt x="190500" y="113109"/>
                </a:moveTo>
                <a:lnTo>
                  <a:pt x="119063" y="113109"/>
                </a:lnTo>
                <a:lnTo>
                  <a:pt x="119063" y="119063"/>
                </a:lnTo>
                <a:cubicBezTo>
                  <a:pt x="119063" y="125648"/>
                  <a:pt x="113742" y="130969"/>
                  <a:pt x="107156" y="130969"/>
                </a:cubicBezTo>
                <a:lnTo>
                  <a:pt x="83344" y="130969"/>
                </a:lnTo>
                <a:cubicBezTo>
                  <a:pt x="76758" y="130969"/>
                  <a:pt x="71438" y="125648"/>
                  <a:pt x="71438" y="119063"/>
                </a:cubicBezTo>
                <a:lnTo>
                  <a:pt x="71438" y="113109"/>
                </a:lnTo>
                <a:lnTo>
                  <a:pt x="0" y="113109"/>
                </a:lnTo>
                <a:lnTo>
                  <a:pt x="0" y="154781"/>
                </a:lnTo>
                <a:cubicBezTo>
                  <a:pt x="0" y="167915"/>
                  <a:pt x="10678" y="178594"/>
                  <a:pt x="23812" y="178594"/>
                </a:cubicBezTo>
                <a:lnTo>
                  <a:pt x="166688" y="178594"/>
                </a:lnTo>
                <a:cubicBezTo>
                  <a:pt x="179822" y="178594"/>
                  <a:pt x="190500" y="167915"/>
                  <a:pt x="190500" y="154781"/>
                </a:cubicBezTo>
                <a:lnTo>
                  <a:pt x="190500" y="113109"/>
                </a:lnTo>
                <a:close/>
              </a:path>
            </a:pathLst>
          </a:custGeom>
          <a:solidFill>
            <a:srgbClr val="FFFFFF"/>
          </a:solidFill>
          <a:ln/>
        </p:spPr>
      </p:sp>
      <p:sp>
        <p:nvSpPr>
          <p:cNvPr id="27" name="Text 25"/>
          <p:cNvSpPr/>
          <p:nvPr/>
        </p:nvSpPr>
        <p:spPr>
          <a:xfrm>
            <a:off x="5016500" y="1790700"/>
            <a:ext cx="1895475" cy="304800"/>
          </a:xfrm>
          <a:prstGeom prst="rect">
            <a:avLst/>
          </a:prstGeom>
          <a:noFill/>
          <a:ln/>
        </p:spPr>
        <p:txBody>
          <a:bodyPr wrap="square" lIns="0" tIns="0" rIns="0" bIns="0" rtlCol="0" anchor="ctr"/>
          <a:lstStyle/>
          <a:p>
            <a:pPr>
              <a:lnSpc>
                <a:spcPct val="110000"/>
              </a:lnSpc>
            </a:pPr>
            <a:r>
              <a:rPr lang="en-US" sz="1800" b="1" dirty="0">
                <a:solidFill>
                  <a:srgbClr val="1A3A52"/>
                </a:solidFill>
                <a:latin typeface="Liter" pitchFamily="34" charset="0"/>
                <a:ea typeface="Liter" pitchFamily="34" charset="-122"/>
                <a:cs typeface="Liter" pitchFamily="34" charset="-120"/>
              </a:rPr>
              <a:t>Voice of Business</a:t>
            </a:r>
            <a:endParaRPr lang="en-US" sz="1600" dirty="0"/>
          </a:p>
        </p:txBody>
      </p:sp>
      <p:sp>
        <p:nvSpPr>
          <p:cNvPr id="28" name="Text 26"/>
          <p:cNvSpPr/>
          <p:nvPr/>
        </p:nvSpPr>
        <p:spPr>
          <a:xfrm>
            <a:off x="4445000" y="2324100"/>
            <a:ext cx="3381375" cy="228600"/>
          </a:xfrm>
          <a:prstGeom prst="rect">
            <a:avLst/>
          </a:prstGeom>
          <a:noFill/>
          <a:ln/>
        </p:spPr>
        <p:txBody>
          <a:bodyPr wrap="square" lIns="0" tIns="0" rIns="0" bIns="0" rtlCol="0" anchor="ctr"/>
          <a:lstStyle/>
          <a:p>
            <a:pPr>
              <a:lnSpc>
                <a:spcPct val="130000"/>
              </a:lnSpc>
            </a:pPr>
            <a:r>
              <a:rPr lang="en-US" sz="1200" dirty="0">
                <a:solidFill>
                  <a:srgbClr val="5E7A91"/>
                </a:solidFill>
                <a:latin typeface="Liter" pitchFamily="34" charset="0"/>
                <a:ea typeface="Liter" pitchFamily="34" charset="-122"/>
                <a:cs typeface="Liter" pitchFamily="34" charset="-120"/>
              </a:rPr>
              <a:t>Strategic objectives for RAT</a:t>
            </a:r>
            <a:endParaRPr lang="en-US" sz="1600" dirty="0"/>
          </a:p>
        </p:txBody>
      </p:sp>
      <p:sp>
        <p:nvSpPr>
          <p:cNvPr id="29" name="Shape 27"/>
          <p:cNvSpPr/>
          <p:nvPr/>
        </p:nvSpPr>
        <p:spPr>
          <a:xfrm>
            <a:off x="4445000" y="27813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30" name="Text 28"/>
          <p:cNvSpPr/>
          <p:nvPr/>
        </p:nvSpPr>
        <p:spPr>
          <a:xfrm>
            <a:off x="4635500" y="2705100"/>
            <a:ext cx="3143250"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Reduce attrition rate:</a:t>
            </a:r>
            <a:r>
              <a:rPr lang="en-US" sz="1200" dirty="0">
                <a:solidFill>
                  <a:srgbClr val="212529"/>
                </a:solidFill>
                <a:latin typeface="Liter" pitchFamily="34" charset="0"/>
                <a:ea typeface="Liter" pitchFamily="34" charset="-122"/>
                <a:cs typeface="Liter" pitchFamily="34" charset="-120"/>
              </a:rPr>
              <a:t> 3.43% → 1% by Q3 2025</a:t>
            </a:r>
            <a:endParaRPr lang="en-US" sz="1600" dirty="0"/>
          </a:p>
        </p:txBody>
      </p:sp>
      <p:sp>
        <p:nvSpPr>
          <p:cNvPr id="31" name="Shape 29"/>
          <p:cNvSpPr/>
          <p:nvPr/>
        </p:nvSpPr>
        <p:spPr>
          <a:xfrm>
            <a:off x="4445000" y="31242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32" name="Text 30"/>
          <p:cNvSpPr/>
          <p:nvPr/>
        </p:nvSpPr>
        <p:spPr>
          <a:xfrm>
            <a:off x="4635500" y="3048000"/>
            <a:ext cx="3190875" cy="4572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Control costs:</a:t>
            </a:r>
            <a:r>
              <a:rPr lang="en-US" sz="1200" dirty="0">
                <a:solidFill>
                  <a:srgbClr val="212529"/>
                </a:solidFill>
                <a:latin typeface="Liter" pitchFamily="34" charset="0"/>
                <a:ea typeface="Liter" pitchFamily="34" charset="-122"/>
                <a:cs typeface="Liter" pitchFamily="34" charset="-120"/>
              </a:rPr>
              <a:t> Hiring ($700), Training ($1000), Productivity loss ($350)</a:t>
            </a:r>
            <a:endParaRPr lang="en-US" sz="1600" dirty="0"/>
          </a:p>
        </p:txBody>
      </p:sp>
      <p:sp>
        <p:nvSpPr>
          <p:cNvPr id="33" name="Shape 31"/>
          <p:cNvSpPr/>
          <p:nvPr/>
        </p:nvSpPr>
        <p:spPr>
          <a:xfrm>
            <a:off x="4445000" y="36957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34" name="Text 32"/>
          <p:cNvSpPr/>
          <p:nvPr/>
        </p:nvSpPr>
        <p:spPr>
          <a:xfrm>
            <a:off x="4635500" y="3619500"/>
            <a:ext cx="3190875" cy="4572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Improve promotion timelines</a:t>
            </a:r>
            <a:r>
              <a:rPr lang="en-US" sz="1200" dirty="0">
                <a:solidFill>
                  <a:srgbClr val="212529"/>
                </a:solidFill>
                <a:latin typeface="Liter" pitchFamily="34" charset="0"/>
                <a:ea typeface="Liter" pitchFamily="34" charset="-122"/>
                <a:cs typeface="Liter" pitchFamily="34" charset="-120"/>
              </a:rPr>
              <a:t> (L1→L2 in 1–1.5 years)</a:t>
            </a:r>
            <a:endParaRPr lang="en-US" sz="1600" dirty="0"/>
          </a:p>
        </p:txBody>
      </p:sp>
      <p:sp>
        <p:nvSpPr>
          <p:cNvPr id="35" name="Shape 33"/>
          <p:cNvSpPr/>
          <p:nvPr/>
        </p:nvSpPr>
        <p:spPr>
          <a:xfrm>
            <a:off x="4445000" y="42672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36" name="Text 34"/>
          <p:cNvSpPr/>
          <p:nvPr/>
        </p:nvSpPr>
        <p:spPr>
          <a:xfrm>
            <a:off x="4635500" y="4191000"/>
            <a:ext cx="2200275"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Ensure staffing</a:t>
            </a:r>
            <a:r>
              <a:rPr lang="en-US" sz="1200" dirty="0">
                <a:solidFill>
                  <a:srgbClr val="212529"/>
                </a:solidFill>
                <a:latin typeface="Liter" pitchFamily="34" charset="0"/>
                <a:ea typeface="Liter" pitchFamily="34" charset="-122"/>
                <a:cs typeface="Liter" pitchFamily="34" charset="-120"/>
              </a:rPr>
              <a:t> for new projects</a:t>
            </a:r>
            <a:endParaRPr lang="en-US" sz="1600" dirty="0"/>
          </a:p>
        </p:txBody>
      </p:sp>
      <p:sp>
        <p:nvSpPr>
          <p:cNvPr id="37" name="Shape 35"/>
          <p:cNvSpPr/>
          <p:nvPr/>
        </p:nvSpPr>
        <p:spPr>
          <a:xfrm>
            <a:off x="4445000" y="46101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38" name="Text 36"/>
          <p:cNvSpPr/>
          <p:nvPr/>
        </p:nvSpPr>
        <p:spPr>
          <a:xfrm>
            <a:off x="4635500" y="4533900"/>
            <a:ext cx="3162300"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Maintain brand reputation</a:t>
            </a:r>
            <a:r>
              <a:rPr lang="en-US" sz="1200" dirty="0">
                <a:solidFill>
                  <a:srgbClr val="212529"/>
                </a:solidFill>
                <a:latin typeface="Liter" pitchFamily="34" charset="0"/>
                <a:ea typeface="Liter" pitchFamily="34" charset="-122"/>
                <a:cs typeface="Liter" pitchFamily="34" charset="-120"/>
              </a:rPr>
              <a:t> &amp; client satisfaction</a:t>
            </a:r>
            <a:endParaRPr lang="en-US" sz="1600" dirty="0"/>
          </a:p>
        </p:txBody>
      </p:sp>
      <p:sp>
        <p:nvSpPr>
          <p:cNvPr id="39" name="Shape 37"/>
          <p:cNvSpPr/>
          <p:nvPr/>
        </p:nvSpPr>
        <p:spPr>
          <a:xfrm>
            <a:off x="4445000" y="5673725"/>
            <a:ext cx="3305175" cy="6350"/>
          </a:xfrm>
          <a:custGeom>
            <a:avLst/>
            <a:gdLst/>
            <a:ahLst/>
            <a:cxnLst/>
            <a:rect l="l" t="t" r="r" b="b"/>
            <a:pathLst>
              <a:path w="3305175" h="6350">
                <a:moveTo>
                  <a:pt x="0" y="0"/>
                </a:moveTo>
                <a:lnTo>
                  <a:pt x="3305175" y="0"/>
                </a:lnTo>
                <a:lnTo>
                  <a:pt x="3305175" y="6350"/>
                </a:lnTo>
                <a:lnTo>
                  <a:pt x="0" y="6350"/>
                </a:lnTo>
                <a:lnTo>
                  <a:pt x="0" y="0"/>
                </a:lnTo>
                <a:close/>
              </a:path>
            </a:pathLst>
          </a:custGeom>
          <a:solidFill>
            <a:srgbClr val="5E7A91">
              <a:alpha val="20000"/>
            </a:srgbClr>
          </a:solidFill>
          <a:ln/>
        </p:spPr>
      </p:sp>
      <p:sp>
        <p:nvSpPr>
          <p:cNvPr id="40" name="Shape 38"/>
          <p:cNvSpPr/>
          <p:nvPr/>
        </p:nvSpPr>
        <p:spPr>
          <a:xfrm>
            <a:off x="4492625" y="5848350"/>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C5A56A"/>
          </a:solidFill>
          <a:ln/>
        </p:spPr>
      </p:sp>
      <p:sp>
        <p:nvSpPr>
          <p:cNvPr id="41" name="Text 39"/>
          <p:cNvSpPr/>
          <p:nvPr/>
        </p:nvSpPr>
        <p:spPr>
          <a:xfrm>
            <a:off x="4711700" y="5829300"/>
            <a:ext cx="1028700" cy="190500"/>
          </a:xfrm>
          <a:prstGeom prst="rect">
            <a:avLst/>
          </a:prstGeom>
          <a:noFill/>
          <a:ln/>
        </p:spPr>
        <p:txBody>
          <a:bodyPr wrap="square" lIns="0" tIns="0" rIns="0" bIns="0" rtlCol="0" anchor="ctr"/>
          <a:lstStyle/>
          <a:p>
            <a:pPr>
              <a:lnSpc>
                <a:spcPct val="120000"/>
              </a:lnSpc>
            </a:pPr>
            <a:r>
              <a:rPr lang="en-US" sz="1050" b="1" dirty="0">
                <a:solidFill>
                  <a:srgbClr val="C5A56A"/>
                </a:solidFill>
                <a:latin typeface="Liter" pitchFamily="34" charset="0"/>
                <a:ea typeface="Liter" pitchFamily="34" charset="-122"/>
                <a:cs typeface="Liter" pitchFamily="34" charset="-120"/>
              </a:rPr>
              <a:t>Financial Impact</a:t>
            </a:r>
            <a:endParaRPr lang="en-US" sz="1600" dirty="0"/>
          </a:p>
        </p:txBody>
      </p:sp>
      <p:sp>
        <p:nvSpPr>
          <p:cNvPr id="42" name="Text 40"/>
          <p:cNvSpPr/>
          <p:nvPr/>
        </p:nvSpPr>
        <p:spPr>
          <a:xfrm>
            <a:off x="4445000" y="6057900"/>
            <a:ext cx="3371850" cy="190500"/>
          </a:xfrm>
          <a:prstGeom prst="rect">
            <a:avLst/>
          </a:prstGeom>
          <a:noFill/>
          <a:ln/>
        </p:spPr>
        <p:txBody>
          <a:bodyPr wrap="square" lIns="0" tIns="0" rIns="0" bIns="0" rtlCol="0" anchor="ctr"/>
          <a:lstStyle/>
          <a:p>
            <a:pPr>
              <a:lnSpc>
                <a:spcPct val="120000"/>
              </a:lnSpc>
            </a:pPr>
            <a:r>
              <a:rPr lang="en-US" sz="1050" dirty="0">
                <a:solidFill>
                  <a:srgbClr val="5E7A91"/>
                </a:solidFill>
                <a:latin typeface="Liter" pitchFamily="34" charset="0"/>
                <a:ea typeface="Liter" pitchFamily="34" charset="-122"/>
                <a:cs typeface="Liter" pitchFamily="34" charset="-120"/>
              </a:rPr>
              <a:t>$2,050 cost per attrition; $205K loss in 6 months</a:t>
            </a:r>
            <a:endParaRPr lang="en-US" sz="1600" dirty="0"/>
          </a:p>
        </p:txBody>
      </p:sp>
      <p:sp>
        <p:nvSpPr>
          <p:cNvPr id="43" name="Shape 41"/>
          <p:cNvSpPr/>
          <p:nvPr/>
        </p:nvSpPr>
        <p:spPr>
          <a:xfrm>
            <a:off x="8128000" y="1504950"/>
            <a:ext cx="3686175" cy="4933950"/>
          </a:xfrm>
          <a:custGeom>
            <a:avLst/>
            <a:gdLst/>
            <a:ahLst/>
            <a:cxnLst/>
            <a:rect l="l" t="t" r="r" b="b"/>
            <a:pathLst>
              <a:path w="3686175" h="4933950">
                <a:moveTo>
                  <a:pt x="38100" y="0"/>
                </a:moveTo>
                <a:lnTo>
                  <a:pt x="3648075" y="0"/>
                </a:lnTo>
                <a:cubicBezTo>
                  <a:pt x="3669103" y="0"/>
                  <a:pt x="3686175" y="17072"/>
                  <a:pt x="3686175" y="38100"/>
                </a:cubicBezTo>
                <a:lnTo>
                  <a:pt x="3686175" y="4857757"/>
                </a:lnTo>
                <a:cubicBezTo>
                  <a:pt x="3686175" y="4899837"/>
                  <a:pt x="3652062" y="4933950"/>
                  <a:pt x="3609982" y="4933950"/>
                </a:cubicBezTo>
                <a:lnTo>
                  <a:pt x="76193" y="4933950"/>
                </a:lnTo>
                <a:cubicBezTo>
                  <a:pt x="34113" y="4933950"/>
                  <a:pt x="0" y="4899837"/>
                  <a:pt x="0" y="4857757"/>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44" name="Shape 42"/>
          <p:cNvSpPr/>
          <p:nvPr/>
        </p:nvSpPr>
        <p:spPr>
          <a:xfrm>
            <a:off x="8128000" y="15049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5E7A91"/>
          </a:solidFill>
          <a:ln/>
        </p:spPr>
      </p:sp>
      <p:sp>
        <p:nvSpPr>
          <p:cNvPr id="45" name="Shape 43"/>
          <p:cNvSpPr/>
          <p:nvPr/>
        </p:nvSpPr>
        <p:spPr>
          <a:xfrm>
            <a:off x="8318500" y="17145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E7A91"/>
          </a:solidFill>
          <a:ln/>
        </p:spPr>
      </p:sp>
      <p:sp>
        <p:nvSpPr>
          <p:cNvPr id="46" name="Shape 44"/>
          <p:cNvSpPr/>
          <p:nvPr/>
        </p:nvSpPr>
        <p:spPr>
          <a:xfrm>
            <a:off x="8451850" y="1847850"/>
            <a:ext cx="190500" cy="190500"/>
          </a:xfrm>
          <a:custGeom>
            <a:avLst/>
            <a:gdLst/>
            <a:ahLst/>
            <a:cxn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FFFFFF"/>
          </a:solidFill>
          <a:ln/>
        </p:spPr>
      </p:sp>
      <p:sp>
        <p:nvSpPr>
          <p:cNvPr id="47" name="Text 45"/>
          <p:cNvSpPr/>
          <p:nvPr/>
        </p:nvSpPr>
        <p:spPr>
          <a:xfrm>
            <a:off x="8890000" y="1790700"/>
            <a:ext cx="2000250" cy="304800"/>
          </a:xfrm>
          <a:prstGeom prst="rect">
            <a:avLst/>
          </a:prstGeom>
          <a:noFill/>
          <a:ln/>
        </p:spPr>
        <p:txBody>
          <a:bodyPr wrap="square" lIns="0" tIns="0" rIns="0" bIns="0" rtlCol="0" anchor="ctr"/>
          <a:lstStyle/>
          <a:p>
            <a:pPr>
              <a:lnSpc>
                <a:spcPct val="110000"/>
              </a:lnSpc>
            </a:pPr>
            <a:r>
              <a:rPr lang="en-US" sz="1800" b="1" dirty="0">
                <a:solidFill>
                  <a:srgbClr val="1A3A52"/>
                </a:solidFill>
                <a:latin typeface="Liter" pitchFamily="34" charset="0"/>
                <a:ea typeface="Liter" pitchFamily="34" charset="-122"/>
                <a:cs typeface="Liter" pitchFamily="34" charset="-120"/>
              </a:rPr>
              <a:t>Voice of Employee</a:t>
            </a:r>
            <a:endParaRPr lang="en-US" sz="1600" dirty="0"/>
          </a:p>
        </p:txBody>
      </p:sp>
      <p:sp>
        <p:nvSpPr>
          <p:cNvPr id="48" name="Text 46"/>
          <p:cNvSpPr/>
          <p:nvPr/>
        </p:nvSpPr>
        <p:spPr>
          <a:xfrm>
            <a:off x="8318500" y="2324100"/>
            <a:ext cx="3381375" cy="228600"/>
          </a:xfrm>
          <a:prstGeom prst="rect">
            <a:avLst/>
          </a:prstGeom>
          <a:noFill/>
          <a:ln/>
        </p:spPr>
        <p:txBody>
          <a:bodyPr wrap="square" lIns="0" tIns="0" rIns="0" bIns="0" rtlCol="0" anchor="ctr"/>
          <a:lstStyle/>
          <a:p>
            <a:pPr>
              <a:lnSpc>
                <a:spcPct val="130000"/>
              </a:lnSpc>
            </a:pPr>
            <a:r>
              <a:rPr lang="en-US" sz="1200" dirty="0">
                <a:solidFill>
                  <a:srgbClr val="5E7A91"/>
                </a:solidFill>
                <a:latin typeface="Liter" pitchFamily="34" charset="0"/>
                <a:ea typeface="Liter" pitchFamily="34" charset="-122"/>
                <a:cs typeface="Liter" pitchFamily="34" charset="-120"/>
              </a:rPr>
              <a:t>What employees value most</a:t>
            </a:r>
            <a:endParaRPr lang="en-US" sz="1600" dirty="0"/>
          </a:p>
        </p:txBody>
      </p:sp>
      <p:sp>
        <p:nvSpPr>
          <p:cNvPr id="49" name="Shape 47"/>
          <p:cNvSpPr/>
          <p:nvPr/>
        </p:nvSpPr>
        <p:spPr>
          <a:xfrm>
            <a:off x="8318500" y="27813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50" name="Text 48"/>
          <p:cNvSpPr/>
          <p:nvPr/>
        </p:nvSpPr>
        <p:spPr>
          <a:xfrm>
            <a:off x="8509000" y="2705100"/>
            <a:ext cx="2886075"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Career growth opportunities</a:t>
            </a:r>
            <a:r>
              <a:rPr lang="en-US" sz="1200" dirty="0">
                <a:solidFill>
                  <a:srgbClr val="212529"/>
                </a:solidFill>
                <a:latin typeface="Liter" pitchFamily="34" charset="0"/>
                <a:ea typeface="Liter" pitchFamily="34" charset="-122"/>
                <a:cs typeface="Liter" pitchFamily="34" charset="-120"/>
              </a:rPr>
              <a:t> (L1/L2 focus)</a:t>
            </a:r>
            <a:endParaRPr lang="en-US" sz="1600" dirty="0"/>
          </a:p>
        </p:txBody>
      </p:sp>
      <p:sp>
        <p:nvSpPr>
          <p:cNvPr id="51" name="Shape 49"/>
          <p:cNvSpPr/>
          <p:nvPr/>
        </p:nvSpPr>
        <p:spPr>
          <a:xfrm>
            <a:off x="8318500" y="31242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52" name="Text 50"/>
          <p:cNvSpPr/>
          <p:nvPr/>
        </p:nvSpPr>
        <p:spPr>
          <a:xfrm>
            <a:off x="8509000" y="3048000"/>
            <a:ext cx="1887637" cy="22225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Competitive compensation</a:t>
            </a:r>
            <a:endParaRPr lang="en-US" sz="1600" dirty="0"/>
          </a:p>
        </p:txBody>
      </p:sp>
      <p:sp>
        <p:nvSpPr>
          <p:cNvPr id="53" name="Shape 51"/>
          <p:cNvSpPr/>
          <p:nvPr/>
        </p:nvSpPr>
        <p:spPr>
          <a:xfrm>
            <a:off x="8318500" y="34671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54" name="Text 52"/>
          <p:cNvSpPr/>
          <p:nvPr/>
        </p:nvSpPr>
        <p:spPr>
          <a:xfrm>
            <a:off x="8509000" y="3390900"/>
            <a:ext cx="2162175"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Work-life balance</a:t>
            </a:r>
            <a:r>
              <a:rPr lang="en-US" sz="1200" dirty="0">
                <a:solidFill>
                  <a:srgbClr val="212529"/>
                </a:solidFill>
                <a:latin typeface="Liter" pitchFamily="34" charset="0"/>
                <a:ea typeface="Liter" pitchFamily="34" charset="-122"/>
                <a:cs typeface="Liter" pitchFamily="34" charset="-120"/>
              </a:rPr>
              <a:t> (≤ 9 hrs/day)</a:t>
            </a:r>
            <a:endParaRPr lang="en-US" sz="1600" dirty="0"/>
          </a:p>
        </p:txBody>
      </p:sp>
      <p:sp>
        <p:nvSpPr>
          <p:cNvPr id="55" name="Shape 53"/>
          <p:cNvSpPr/>
          <p:nvPr/>
        </p:nvSpPr>
        <p:spPr>
          <a:xfrm>
            <a:off x="8318500" y="38100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56" name="Text 54"/>
          <p:cNvSpPr/>
          <p:nvPr/>
        </p:nvSpPr>
        <p:spPr>
          <a:xfrm>
            <a:off x="8509000" y="3733800"/>
            <a:ext cx="2277963" cy="22225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Healthy, stress-free environment</a:t>
            </a:r>
            <a:endParaRPr lang="en-US" sz="1600" dirty="0"/>
          </a:p>
        </p:txBody>
      </p:sp>
      <p:sp>
        <p:nvSpPr>
          <p:cNvPr id="57" name="Shape 55"/>
          <p:cNvSpPr/>
          <p:nvPr/>
        </p:nvSpPr>
        <p:spPr>
          <a:xfrm>
            <a:off x="8318500" y="41529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58" name="Text 56"/>
          <p:cNvSpPr/>
          <p:nvPr/>
        </p:nvSpPr>
        <p:spPr>
          <a:xfrm>
            <a:off x="8509000" y="4076700"/>
            <a:ext cx="3190875" cy="4572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Respectful management</a:t>
            </a:r>
            <a:r>
              <a:rPr lang="en-US" sz="1200" dirty="0">
                <a:solidFill>
                  <a:srgbClr val="212529"/>
                </a:solidFill>
                <a:latin typeface="Liter" pitchFamily="34" charset="0"/>
                <a:ea typeface="Liter" pitchFamily="34" charset="-122"/>
                <a:cs typeface="Liter" pitchFamily="34" charset="-120"/>
              </a:rPr>
              <a:t> &amp; transparent reviews</a:t>
            </a:r>
            <a:endParaRPr lang="en-US" sz="1600" dirty="0"/>
          </a:p>
        </p:txBody>
      </p:sp>
      <p:sp>
        <p:nvSpPr>
          <p:cNvPr id="59" name="Shape 57"/>
          <p:cNvSpPr/>
          <p:nvPr/>
        </p:nvSpPr>
        <p:spPr>
          <a:xfrm>
            <a:off x="8318500" y="472440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5A56A"/>
          </a:solidFill>
          <a:ln/>
        </p:spPr>
      </p:sp>
      <p:sp>
        <p:nvSpPr>
          <p:cNvPr id="60" name="Text 58"/>
          <p:cNvSpPr/>
          <p:nvPr/>
        </p:nvSpPr>
        <p:spPr>
          <a:xfrm>
            <a:off x="8509000" y="4648200"/>
            <a:ext cx="2186484" cy="22225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Support for personal transitions</a:t>
            </a:r>
            <a:endParaRPr lang="en-US" sz="1600" dirty="0"/>
          </a:p>
        </p:txBody>
      </p:sp>
      <p:sp>
        <p:nvSpPr>
          <p:cNvPr id="61" name="Shape 59"/>
          <p:cNvSpPr/>
          <p:nvPr/>
        </p:nvSpPr>
        <p:spPr>
          <a:xfrm>
            <a:off x="8318500" y="5673725"/>
            <a:ext cx="3305175" cy="6350"/>
          </a:xfrm>
          <a:custGeom>
            <a:avLst/>
            <a:gdLst/>
            <a:ahLst/>
            <a:cxnLst/>
            <a:rect l="l" t="t" r="r" b="b"/>
            <a:pathLst>
              <a:path w="3305175" h="6350">
                <a:moveTo>
                  <a:pt x="0" y="0"/>
                </a:moveTo>
                <a:lnTo>
                  <a:pt x="3305175" y="0"/>
                </a:lnTo>
                <a:lnTo>
                  <a:pt x="3305175" y="6350"/>
                </a:lnTo>
                <a:lnTo>
                  <a:pt x="0" y="6350"/>
                </a:lnTo>
                <a:lnTo>
                  <a:pt x="0" y="0"/>
                </a:lnTo>
                <a:close/>
              </a:path>
            </a:pathLst>
          </a:custGeom>
          <a:solidFill>
            <a:srgbClr val="5E7A91">
              <a:alpha val="20000"/>
            </a:srgbClr>
          </a:solidFill>
          <a:ln/>
        </p:spPr>
      </p:sp>
      <p:sp>
        <p:nvSpPr>
          <p:cNvPr id="62" name="Shape 60"/>
          <p:cNvSpPr/>
          <p:nvPr/>
        </p:nvSpPr>
        <p:spPr>
          <a:xfrm>
            <a:off x="8328025" y="5848350"/>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C5A56A"/>
          </a:solidFill>
          <a:ln/>
        </p:spPr>
      </p:sp>
      <p:sp>
        <p:nvSpPr>
          <p:cNvPr id="63" name="Text 61"/>
          <p:cNvSpPr/>
          <p:nvPr/>
        </p:nvSpPr>
        <p:spPr>
          <a:xfrm>
            <a:off x="8585200" y="5829300"/>
            <a:ext cx="495300" cy="190500"/>
          </a:xfrm>
          <a:prstGeom prst="rect">
            <a:avLst/>
          </a:prstGeom>
          <a:noFill/>
          <a:ln/>
        </p:spPr>
        <p:txBody>
          <a:bodyPr wrap="square" lIns="0" tIns="0" rIns="0" bIns="0" rtlCol="0" anchor="ctr"/>
          <a:lstStyle/>
          <a:p>
            <a:pPr>
              <a:lnSpc>
                <a:spcPct val="120000"/>
              </a:lnSpc>
            </a:pPr>
            <a:r>
              <a:rPr lang="en-US" sz="1050" b="1" dirty="0">
                <a:solidFill>
                  <a:srgbClr val="5E7A91"/>
                </a:solidFill>
                <a:latin typeface="Liter" pitchFamily="34" charset="0"/>
                <a:ea typeface="Liter" pitchFamily="34" charset="-122"/>
                <a:cs typeface="Liter" pitchFamily="34" charset="-120"/>
              </a:rPr>
              <a:t>Priority</a:t>
            </a:r>
            <a:endParaRPr lang="en-US" sz="1600" dirty="0"/>
          </a:p>
        </p:txBody>
      </p:sp>
      <p:sp>
        <p:nvSpPr>
          <p:cNvPr id="64" name="Text 62"/>
          <p:cNvSpPr/>
          <p:nvPr/>
        </p:nvSpPr>
        <p:spPr>
          <a:xfrm>
            <a:off x="8318500" y="6057900"/>
            <a:ext cx="3371850" cy="190500"/>
          </a:xfrm>
          <a:prstGeom prst="rect">
            <a:avLst/>
          </a:prstGeom>
          <a:noFill/>
          <a:ln/>
        </p:spPr>
        <p:txBody>
          <a:bodyPr wrap="square" lIns="0" tIns="0" rIns="0" bIns="0" rtlCol="0" anchor="ctr"/>
          <a:lstStyle/>
          <a:p>
            <a:pPr>
              <a:lnSpc>
                <a:spcPct val="120000"/>
              </a:lnSpc>
            </a:pPr>
            <a:r>
              <a:rPr lang="en-US" sz="1050" dirty="0">
                <a:solidFill>
                  <a:srgbClr val="5E7A91"/>
                </a:solidFill>
                <a:latin typeface="Liter" pitchFamily="34" charset="0"/>
                <a:ea typeface="Liter" pitchFamily="34" charset="-122"/>
                <a:cs typeface="Liter" pitchFamily="34" charset="-120"/>
              </a:rPr>
              <a:t>Growth and compensation are top concerns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57275" y="357275"/>
            <a:ext cx="11548905" cy="214365"/>
          </a:xfrm>
          <a:prstGeom prst="rect">
            <a:avLst/>
          </a:prstGeom>
          <a:noFill/>
          <a:ln/>
        </p:spPr>
        <p:txBody>
          <a:bodyPr wrap="square" lIns="0" tIns="0" rIns="0" bIns="0" rtlCol="0" anchor="ctr"/>
          <a:lstStyle/>
          <a:p>
            <a:pPr>
              <a:lnSpc>
                <a:spcPct val="120000"/>
              </a:lnSpc>
            </a:pPr>
            <a:r>
              <a:rPr lang="en-US" sz="1125" b="1" kern="0" spc="113" dirty="0">
                <a:solidFill>
                  <a:srgbClr val="C5A56A"/>
                </a:solidFill>
                <a:latin typeface="Liter" pitchFamily="34" charset="0"/>
                <a:ea typeface="Liter" pitchFamily="34" charset="-122"/>
                <a:cs typeface="Liter" pitchFamily="34" charset="-120"/>
              </a:rPr>
              <a:t>Define Phase</a:t>
            </a:r>
            <a:endParaRPr lang="en-US" sz="1600" dirty="0"/>
          </a:p>
        </p:txBody>
      </p:sp>
      <p:sp>
        <p:nvSpPr>
          <p:cNvPr id="3" name="Text 1"/>
          <p:cNvSpPr/>
          <p:nvPr/>
        </p:nvSpPr>
        <p:spPr>
          <a:xfrm>
            <a:off x="357275" y="643095"/>
            <a:ext cx="11691815" cy="428730"/>
          </a:xfrm>
          <a:prstGeom prst="rect">
            <a:avLst/>
          </a:prstGeom>
          <a:noFill/>
          <a:ln/>
        </p:spPr>
        <p:txBody>
          <a:bodyPr wrap="square" lIns="0" tIns="0" rIns="0" bIns="0" rtlCol="0" anchor="ctr"/>
          <a:lstStyle/>
          <a:p>
            <a:pPr>
              <a:lnSpc>
                <a:spcPct val="80000"/>
              </a:lnSpc>
            </a:pPr>
            <a:r>
              <a:rPr lang="en-US" sz="3376" b="1" dirty="0">
                <a:solidFill>
                  <a:srgbClr val="1A3A52"/>
                </a:solidFill>
                <a:latin typeface="Liter" pitchFamily="34" charset="0"/>
                <a:ea typeface="Liter" pitchFamily="34" charset="-122"/>
                <a:cs typeface="Liter" pitchFamily="34" charset="-120"/>
              </a:rPr>
              <a:t>CTQ Tree</a:t>
            </a:r>
            <a:endParaRPr lang="en-US" sz="1600" dirty="0"/>
          </a:p>
        </p:txBody>
      </p:sp>
      <p:sp>
        <p:nvSpPr>
          <p:cNvPr id="4" name="Text 2"/>
          <p:cNvSpPr/>
          <p:nvPr/>
        </p:nvSpPr>
        <p:spPr>
          <a:xfrm>
            <a:off x="357275" y="1143279"/>
            <a:ext cx="11566769" cy="250092"/>
          </a:xfrm>
          <a:prstGeom prst="rect">
            <a:avLst/>
          </a:prstGeom>
          <a:noFill/>
          <a:ln/>
        </p:spPr>
        <p:txBody>
          <a:bodyPr wrap="square" lIns="0" tIns="0" rIns="0" bIns="0" rtlCol="0" anchor="ctr"/>
          <a:lstStyle/>
          <a:p>
            <a:pPr>
              <a:lnSpc>
                <a:spcPct val="120000"/>
              </a:lnSpc>
            </a:pPr>
            <a:r>
              <a:rPr lang="en-US" sz="1407" dirty="0">
                <a:solidFill>
                  <a:srgbClr val="5E7A91"/>
                </a:solidFill>
                <a:latin typeface="Liter" pitchFamily="34" charset="0"/>
                <a:ea typeface="Liter" pitchFamily="34" charset="-122"/>
                <a:cs typeface="Liter" pitchFamily="34" charset="-120"/>
              </a:rPr>
              <a:t>Critical-to-Quality Breakdown</a:t>
            </a:r>
            <a:endParaRPr lang="en-US" sz="1600" dirty="0"/>
          </a:p>
        </p:txBody>
      </p:sp>
      <p:sp>
        <p:nvSpPr>
          <p:cNvPr id="5" name="Shape 3"/>
          <p:cNvSpPr/>
          <p:nvPr/>
        </p:nvSpPr>
        <p:spPr>
          <a:xfrm>
            <a:off x="357275" y="1500554"/>
            <a:ext cx="857459" cy="35727"/>
          </a:xfrm>
          <a:custGeom>
            <a:avLst/>
            <a:gdLst/>
            <a:ahLst/>
            <a:cxnLst/>
            <a:rect l="l" t="t" r="r" b="b"/>
            <a:pathLst>
              <a:path w="857459" h="35727">
                <a:moveTo>
                  <a:pt x="0" y="0"/>
                </a:moveTo>
                <a:lnTo>
                  <a:pt x="857459" y="0"/>
                </a:lnTo>
                <a:lnTo>
                  <a:pt x="857459" y="35727"/>
                </a:lnTo>
                <a:lnTo>
                  <a:pt x="0" y="35727"/>
                </a:lnTo>
                <a:lnTo>
                  <a:pt x="0" y="0"/>
                </a:lnTo>
                <a:close/>
              </a:path>
            </a:pathLst>
          </a:custGeom>
          <a:solidFill>
            <a:srgbClr val="C5A56A"/>
          </a:solidFill>
          <a:ln/>
        </p:spPr>
      </p:sp>
      <p:sp>
        <p:nvSpPr>
          <p:cNvPr id="6" name="Shape 4"/>
          <p:cNvSpPr/>
          <p:nvPr/>
        </p:nvSpPr>
        <p:spPr>
          <a:xfrm>
            <a:off x="2618526" y="2998131"/>
            <a:ext cx="2000738" cy="2188308"/>
          </a:xfrm>
          <a:custGeom>
            <a:avLst/>
            <a:gdLst/>
            <a:ahLst/>
            <a:cxnLst/>
            <a:rect l="l" t="t" r="r" b="b"/>
            <a:pathLst>
              <a:path w="2000738" h="2188308">
                <a:moveTo>
                  <a:pt x="71446" y="0"/>
                </a:moveTo>
                <a:lnTo>
                  <a:pt x="1929292" y="0"/>
                </a:lnTo>
                <a:cubicBezTo>
                  <a:pt x="1968751" y="0"/>
                  <a:pt x="2000738" y="31988"/>
                  <a:pt x="2000738" y="71446"/>
                </a:cubicBezTo>
                <a:lnTo>
                  <a:pt x="2000738" y="2116861"/>
                </a:lnTo>
                <a:cubicBezTo>
                  <a:pt x="2000738" y="2156320"/>
                  <a:pt x="1968751" y="2188308"/>
                  <a:pt x="1929292" y="2188308"/>
                </a:cubicBezTo>
                <a:lnTo>
                  <a:pt x="71446" y="2188308"/>
                </a:lnTo>
                <a:cubicBezTo>
                  <a:pt x="31988" y="2188308"/>
                  <a:pt x="0" y="2156320"/>
                  <a:pt x="0" y="2116861"/>
                </a:cubicBezTo>
                <a:lnTo>
                  <a:pt x="0" y="71446"/>
                </a:lnTo>
                <a:cubicBezTo>
                  <a:pt x="0" y="32014"/>
                  <a:pt x="32014" y="0"/>
                  <a:pt x="71446" y="0"/>
                </a:cubicBezTo>
                <a:close/>
              </a:path>
            </a:pathLst>
          </a:custGeom>
          <a:solidFill>
            <a:srgbClr val="1A3A52"/>
          </a:solidFill>
          <a:ln/>
          <a:effectLst>
            <a:outerShdw blurRad="223297" dist="178637" dir="5400000" algn="bl" rotWithShape="0">
              <a:srgbClr val="000000">
                <a:alpha val="10196"/>
              </a:srgbClr>
            </a:outerShdw>
          </a:effectLst>
        </p:spPr>
      </p:sp>
      <p:sp>
        <p:nvSpPr>
          <p:cNvPr id="7" name="Shape 5"/>
          <p:cNvSpPr/>
          <p:nvPr/>
        </p:nvSpPr>
        <p:spPr>
          <a:xfrm>
            <a:off x="3458122" y="3176768"/>
            <a:ext cx="321547" cy="321547"/>
          </a:xfrm>
          <a:custGeom>
            <a:avLst/>
            <a:gdLst/>
            <a:ahLst/>
            <a:cxnLst/>
            <a:rect l="l" t="t" r="r" b="b"/>
            <a:pathLst>
              <a:path w="321547" h="321547">
                <a:moveTo>
                  <a:pt x="281354" y="160774"/>
                </a:moveTo>
                <a:cubicBezTo>
                  <a:pt x="281354" y="94224"/>
                  <a:pt x="227324" y="40193"/>
                  <a:pt x="160774" y="40193"/>
                </a:cubicBezTo>
                <a:cubicBezTo>
                  <a:pt x="94224" y="40193"/>
                  <a:pt x="40193" y="94224"/>
                  <a:pt x="40193" y="160774"/>
                </a:cubicBezTo>
                <a:cubicBezTo>
                  <a:pt x="40193" y="227324"/>
                  <a:pt x="94224" y="281354"/>
                  <a:pt x="160774" y="281354"/>
                </a:cubicBezTo>
                <a:cubicBezTo>
                  <a:pt x="227324" y="281354"/>
                  <a:pt x="281354" y="227324"/>
                  <a:pt x="281354" y="160774"/>
                </a:cubicBezTo>
                <a:close/>
                <a:moveTo>
                  <a:pt x="0" y="160774"/>
                </a:moveTo>
                <a:cubicBezTo>
                  <a:pt x="0" y="72040"/>
                  <a:pt x="72040" y="0"/>
                  <a:pt x="160774" y="0"/>
                </a:cubicBezTo>
                <a:cubicBezTo>
                  <a:pt x="249507" y="0"/>
                  <a:pt x="321547" y="72040"/>
                  <a:pt x="321547" y="160774"/>
                </a:cubicBezTo>
                <a:cubicBezTo>
                  <a:pt x="321547" y="249507"/>
                  <a:pt x="249507" y="321547"/>
                  <a:pt x="160774" y="321547"/>
                </a:cubicBezTo>
                <a:cubicBezTo>
                  <a:pt x="72040" y="321547"/>
                  <a:pt x="0" y="249507"/>
                  <a:pt x="0" y="160774"/>
                </a:cubicBezTo>
                <a:close/>
                <a:moveTo>
                  <a:pt x="160774" y="211015"/>
                </a:moveTo>
                <a:cubicBezTo>
                  <a:pt x="188503" y="211015"/>
                  <a:pt x="211015" y="188503"/>
                  <a:pt x="211015" y="160774"/>
                </a:cubicBezTo>
                <a:cubicBezTo>
                  <a:pt x="211015" y="133044"/>
                  <a:pt x="188503" y="110532"/>
                  <a:pt x="160774" y="110532"/>
                </a:cubicBezTo>
                <a:cubicBezTo>
                  <a:pt x="133044" y="110532"/>
                  <a:pt x="110532" y="133044"/>
                  <a:pt x="110532" y="160774"/>
                </a:cubicBezTo>
                <a:cubicBezTo>
                  <a:pt x="110532" y="188503"/>
                  <a:pt x="133044" y="211015"/>
                  <a:pt x="160774" y="211015"/>
                </a:cubicBezTo>
                <a:close/>
                <a:moveTo>
                  <a:pt x="160774" y="70338"/>
                </a:moveTo>
                <a:cubicBezTo>
                  <a:pt x="210686" y="70338"/>
                  <a:pt x="251209" y="110861"/>
                  <a:pt x="251209" y="160774"/>
                </a:cubicBezTo>
                <a:cubicBezTo>
                  <a:pt x="251209" y="210686"/>
                  <a:pt x="210686" y="251209"/>
                  <a:pt x="160774" y="251209"/>
                </a:cubicBezTo>
                <a:cubicBezTo>
                  <a:pt x="110861" y="251209"/>
                  <a:pt x="70338" y="210686"/>
                  <a:pt x="70338" y="160774"/>
                </a:cubicBezTo>
                <a:cubicBezTo>
                  <a:pt x="70338" y="110861"/>
                  <a:pt x="110861" y="70338"/>
                  <a:pt x="160774" y="70338"/>
                </a:cubicBezTo>
                <a:close/>
                <a:moveTo>
                  <a:pt x="140677" y="160774"/>
                </a:moveTo>
                <a:cubicBezTo>
                  <a:pt x="140677" y="149682"/>
                  <a:pt x="149682" y="140677"/>
                  <a:pt x="160774" y="140677"/>
                </a:cubicBezTo>
                <a:cubicBezTo>
                  <a:pt x="171865" y="140677"/>
                  <a:pt x="180870" y="149682"/>
                  <a:pt x="180870" y="160774"/>
                </a:cubicBezTo>
                <a:cubicBezTo>
                  <a:pt x="180870" y="171865"/>
                  <a:pt x="171865" y="180870"/>
                  <a:pt x="160774" y="180870"/>
                </a:cubicBezTo>
                <a:cubicBezTo>
                  <a:pt x="149682" y="180870"/>
                  <a:pt x="140677" y="171865"/>
                  <a:pt x="140677" y="160774"/>
                </a:cubicBezTo>
                <a:close/>
              </a:path>
            </a:pathLst>
          </a:custGeom>
          <a:solidFill>
            <a:srgbClr val="C5A56A"/>
          </a:solidFill>
          <a:ln/>
        </p:spPr>
      </p:sp>
      <p:sp>
        <p:nvSpPr>
          <p:cNvPr id="8" name="Text 6"/>
          <p:cNvSpPr/>
          <p:nvPr/>
        </p:nvSpPr>
        <p:spPr>
          <a:xfrm>
            <a:off x="2752504" y="3569771"/>
            <a:ext cx="1732782" cy="250092"/>
          </a:xfrm>
          <a:prstGeom prst="rect">
            <a:avLst/>
          </a:prstGeom>
          <a:noFill/>
          <a:ln/>
        </p:spPr>
        <p:txBody>
          <a:bodyPr wrap="square" lIns="0" tIns="0" rIns="0" bIns="0" rtlCol="0" anchor="ctr"/>
          <a:lstStyle/>
          <a:p>
            <a:pPr algn="ctr">
              <a:lnSpc>
                <a:spcPct val="120000"/>
              </a:lnSpc>
            </a:pPr>
            <a:r>
              <a:rPr lang="en-US" sz="1407" b="1" dirty="0">
                <a:solidFill>
                  <a:srgbClr val="FFFFFF"/>
                </a:solidFill>
                <a:latin typeface="Liter" pitchFamily="34" charset="0"/>
                <a:ea typeface="Liter" pitchFamily="34" charset="-122"/>
                <a:cs typeface="Liter" pitchFamily="34" charset="-120"/>
              </a:rPr>
              <a:t>NEED</a:t>
            </a:r>
            <a:endParaRPr lang="en-US" sz="1600" dirty="0"/>
          </a:p>
        </p:txBody>
      </p:sp>
      <p:sp>
        <p:nvSpPr>
          <p:cNvPr id="9" name="Text 7"/>
          <p:cNvSpPr/>
          <p:nvPr/>
        </p:nvSpPr>
        <p:spPr>
          <a:xfrm>
            <a:off x="2761436" y="3927045"/>
            <a:ext cx="1714919" cy="464457"/>
          </a:xfrm>
          <a:prstGeom prst="rect">
            <a:avLst/>
          </a:prstGeom>
          <a:noFill/>
          <a:ln/>
        </p:spPr>
        <p:txBody>
          <a:bodyPr wrap="square" lIns="0" tIns="0" rIns="0" bIns="0" rtlCol="0" anchor="ctr"/>
          <a:lstStyle/>
          <a:p>
            <a:pPr algn="ctr">
              <a:lnSpc>
                <a:spcPct val="140000"/>
              </a:lnSpc>
            </a:pPr>
            <a:r>
              <a:rPr lang="en-US" sz="1125" dirty="0">
                <a:solidFill>
                  <a:srgbClr val="FFFFFF"/>
                </a:solidFill>
                <a:latin typeface="Liter" pitchFamily="34" charset="0"/>
                <a:ea typeface="Liter" pitchFamily="34" charset="-122"/>
                <a:cs typeface="Liter" pitchFamily="34" charset="-120"/>
              </a:rPr>
              <a:t>Reduce attrition for </a:t>
            </a:r>
            <a:r>
              <a:rPr lang="en-US" sz="1125" b="1" dirty="0">
                <a:solidFill>
                  <a:srgbClr val="FFFFFF"/>
                </a:solidFill>
                <a:latin typeface="Liter" pitchFamily="34" charset="0"/>
                <a:ea typeface="Liter" pitchFamily="34" charset="-122"/>
                <a:cs typeface="Liter" pitchFamily="34" charset="-120"/>
              </a:rPr>
              <a:t>stability</a:t>
            </a:r>
            <a:r>
              <a:rPr lang="en-US" sz="1125" dirty="0">
                <a:solidFill>
                  <a:srgbClr val="FFFFFF"/>
                </a:solidFill>
                <a:latin typeface="Liter" pitchFamily="34" charset="0"/>
                <a:ea typeface="Liter" pitchFamily="34" charset="-122"/>
                <a:cs typeface="Liter" pitchFamily="34" charset="-120"/>
              </a:rPr>
              <a:t> &amp; </a:t>
            </a:r>
            <a:r>
              <a:rPr lang="en-US" sz="1125" b="1" dirty="0">
                <a:solidFill>
                  <a:srgbClr val="FFFFFF"/>
                </a:solidFill>
                <a:latin typeface="Liter" pitchFamily="34" charset="0"/>
                <a:ea typeface="Liter" pitchFamily="34" charset="-122"/>
                <a:cs typeface="Liter" pitchFamily="34" charset="-120"/>
              </a:rPr>
              <a:t>cost savings</a:t>
            </a:r>
            <a:endParaRPr lang="en-US" sz="1600" dirty="0"/>
          </a:p>
        </p:txBody>
      </p:sp>
      <p:sp>
        <p:nvSpPr>
          <p:cNvPr id="10" name="Shape 8"/>
          <p:cNvSpPr/>
          <p:nvPr/>
        </p:nvSpPr>
        <p:spPr>
          <a:xfrm>
            <a:off x="2797164" y="4537390"/>
            <a:ext cx="1643464" cy="5955"/>
          </a:xfrm>
          <a:custGeom>
            <a:avLst/>
            <a:gdLst/>
            <a:ahLst/>
            <a:cxnLst/>
            <a:rect l="l" t="t" r="r" b="b"/>
            <a:pathLst>
              <a:path w="1643464" h="5955">
                <a:moveTo>
                  <a:pt x="0" y="0"/>
                </a:moveTo>
                <a:lnTo>
                  <a:pt x="1643464" y="0"/>
                </a:lnTo>
                <a:lnTo>
                  <a:pt x="1643464" y="5955"/>
                </a:lnTo>
                <a:lnTo>
                  <a:pt x="0" y="5955"/>
                </a:lnTo>
                <a:lnTo>
                  <a:pt x="0" y="0"/>
                </a:lnTo>
                <a:close/>
              </a:path>
            </a:pathLst>
          </a:custGeom>
          <a:solidFill>
            <a:srgbClr val="FFFFFF">
              <a:alpha val="20000"/>
            </a:srgbClr>
          </a:solidFill>
          <a:ln/>
        </p:spPr>
      </p:sp>
      <p:sp>
        <p:nvSpPr>
          <p:cNvPr id="11" name="Text 9"/>
          <p:cNvSpPr/>
          <p:nvPr/>
        </p:nvSpPr>
        <p:spPr>
          <a:xfrm>
            <a:off x="2765902" y="4647550"/>
            <a:ext cx="1705987" cy="178637"/>
          </a:xfrm>
          <a:prstGeom prst="rect">
            <a:avLst/>
          </a:prstGeom>
          <a:noFill/>
          <a:ln/>
        </p:spPr>
        <p:txBody>
          <a:bodyPr wrap="square" lIns="0" tIns="0" rIns="0" bIns="0" rtlCol="0" anchor="ctr"/>
          <a:lstStyle/>
          <a:p>
            <a:pPr algn="ctr">
              <a:lnSpc>
                <a:spcPct val="120000"/>
              </a:lnSpc>
            </a:pPr>
            <a:r>
              <a:rPr lang="en-US" sz="985" dirty="0">
                <a:solidFill>
                  <a:srgbClr val="C5A56A"/>
                </a:solidFill>
                <a:latin typeface="Liter" pitchFamily="34" charset="0"/>
                <a:ea typeface="Liter" pitchFamily="34" charset="-122"/>
                <a:cs typeface="Liter" pitchFamily="34" charset="-120"/>
              </a:rPr>
              <a:t>Current: 3.43%</a:t>
            </a:r>
            <a:endParaRPr lang="en-US" sz="1600" dirty="0"/>
          </a:p>
        </p:txBody>
      </p:sp>
      <p:sp>
        <p:nvSpPr>
          <p:cNvPr id="12" name="Text 10"/>
          <p:cNvSpPr/>
          <p:nvPr/>
        </p:nvSpPr>
        <p:spPr>
          <a:xfrm>
            <a:off x="2765902" y="4826188"/>
            <a:ext cx="1705987" cy="178637"/>
          </a:xfrm>
          <a:prstGeom prst="rect">
            <a:avLst/>
          </a:prstGeom>
          <a:noFill/>
          <a:ln/>
        </p:spPr>
        <p:txBody>
          <a:bodyPr wrap="square" lIns="0" tIns="0" rIns="0" bIns="0" rtlCol="0" anchor="ctr"/>
          <a:lstStyle/>
          <a:p>
            <a:pPr algn="ctr">
              <a:lnSpc>
                <a:spcPct val="120000"/>
              </a:lnSpc>
            </a:pPr>
            <a:r>
              <a:rPr lang="en-US" sz="985" dirty="0">
                <a:solidFill>
                  <a:srgbClr val="C5A56A"/>
                </a:solidFill>
                <a:latin typeface="Liter" pitchFamily="34" charset="0"/>
                <a:ea typeface="Liter" pitchFamily="34" charset="-122"/>
                <a:cs typeface="Liter" pitchFamily="34" charset="-120"/>
              </a:rPr>
              <a:t>Target: ≤ 1%</a:t>
            </a:r>
            <a:endParaRPr lang="en-US" sz="1600" dirty="0"/>
          </a:p>
        </p:txBody>
      </p:sp>
      <p:sp>
        <p:nvSpPr>
          <p:cNvPr id="13" name="Shape 11"/>
          <p:cNvSpPr/>
          <p:nvPr/>
        </p:nvSpPr>
        <p:spPr>
          <a:xfrm>
            <a:off x="4797902" y="3956818"/>
            <a:ext cx="267956" cy="267956"/>
          </a:xfrm>
          <a:custGeom>
            <a:avLst/>
            <a:gdLst/>
            <a:ahLst/>
            <a:cxnLst/>
            <a:rect l="l" t="t" r="r" b="b"/>
            <a:pathLst>
              <a:path w="267956" h="267956">
                <a:moveTo>
                  <a:pt x="263037" y="145806"/>
                </a:moveTo>
                <a:cubicBezTo>
                  <a:pt x="269578" y="139264"/>
                  <a:pt x="269578" y="128640"/>
                  <a:pt x="263037" y="122098"/>
                </a:cubicBezTo>
                <a:lnTo>
                  <a:pt x="179300" y="38362"/>
                </a:lnTo>
                <a:cubicBezTo>
                  <a:pt x="172758" y="31820"/>
                  <a:pt x="162134" y="31820"/>
                  <a:pt x="155592" y="38362"/>
                </a:cubicBezTo>
                <a:cubicBezTo>
                  <a:pt x="149051" y="44904"/>
                  <a:pt x="149051" y="55528"/>
                  <a:pt x="155592" y="62070"/>
                </a:cubicBezTo>
                <a:lnTo>
                  <a:pt x="210754" y="117231"/>
                </a:lnTo>
                <a:lnTo>
                  <a:pt x="16747" y="117231"/>
                </a:lnTo>
                <a:cubicBezTo>
                  <a:pt x="7484" y="117231"/>
                  <a:pt x="0" y="124715"/>
                  <a:pt x="0" y="133978"/>
                </a:cubicBezTo>
                <a:cubicBezTo>
                  <a:pt x="0" y="143241"/>
                  <a:pt x="7484" y="150725"/>
                  <a:pt x="16747" y="150725"/>
                </a:cubicBezTo>
                <a:lnTo>
                  <a:pt x="210754" y="150725"/>
                </a:lnTo>
                <a:lnTo>
                  <a:pt x="155592" y="205887"/>
                </a:lnTo>
                <a:cubicBezTo>
                  <a:pt x="149051" y="212428"/>
                  <a:pt x="149051" y="223052"/>
                  <a:pt x="155592" y="229594"/>
                </a:cubicBezTo>
                <a:cubicBezTo>
                  <a:pt x="162134" y="236136"/>
                  <a:pt x="172758" y="236136"/>
                  <a:pt x="179300" y="229594"/>
                </a:cubicBezTo>
                <a:lnTo>
                  <a:pt x="263037" y="145858"/>
                </a:lnTo>
                <a:close/>
              </a:path>
            </a:pathLst>
          </a:custGeom>
          <a:solidFill>
            <a:srgbClr val="C5A56A"/>
          </a:solidFill>
          <a:ln/>
        </p:spPr>
      </p:sp>
      <p:sp>
        <p:nvSpPr>
          <p:cNvPr id="14" name="Shape 12"/>
          <p:cNvSpPr/>
          <p:nvPr/>
        </p:nvSpPr>
        <p:spPr>
          <a:xfrm>
            <a:off x="5240029" y="2250831"/>
            <a:ext cx="1714919" cy="750277"/>
          </a:xfrm>
          <a:custGeom>
            <a:avLst/>
            <a:gdLst/>
            <a:ahLst/>
            <a:cxnLst/>
            <a:rect l="l" t="t" r="r" b="b"/>
            <a:pathLst>
              <a:path w="1714919" h="750277">
                <a:moveTo>
                  <a:pt x="71456" y="0"/>
                </a:moveTo>
                <a:lnTo>
                  <a:pt x="1643462" y="0"/>
                </a:lnTo>
                <a:cubicBezTo>
                  <a:pt x="1682927" y="0"/>
                  <a:pt x="1714919" y="31992"/>
                  <a:pt x="1714919" y="71456"/>
                </a:cubicBezTo>
                <a:lnTo>
                  <a:pt x="1714919" y="678821"/>
                </a:lnTo>
                <a:cubicBezTo>
                  <a:pt x="1714919" y="718285"/>
                  <a:pt x="1682927" y="750277"/>
                  <a:pt x="1643462" y="750277"/>
                </a:cubicBezTo>
                <a:lnTo>
                  <a:pt x="71456" y="750277"/>
                </a:lnTo>
                <a:cubicBezTo>
                  <a:pt x="32019" y="750277"/>
                  <a:pt x="0" y="718258"/>
                  <a:pt x="0" y="678821"/>
                </a:cubicBezTo>
                <a:lnTo>
                  <a:pt x="0" y="71456"/>
                </a:lnTo>
                <a:cubicBezTo>
                  <a:pt x="0" y="31992"/>
                  <a:pt x="31992" y="0"/>
                  <a:pt x="71456" y="0"/>
                </a:cubicBezTo>
                <a:close/>
              </a:path>
            </a:pathLst>
          </a:custGeom>
          <a:solidFill>
            <a:srgbClr val="5E7A91"/>
          </a:solidFill>
          <a:ln/>
          <a:effectLst>
            <a:outerShdw blurRad="133978" dist="89319" dir="5400000" algn="bl" rotWithShape="0">
              <a:srgbClr val="000000">
                <a:alpha val="10196"/>
              </a:srgbClr>
            </a:outerShdw>
          </a:effectLst>
        </p:spPr>
      </p:sp>
      <p:sp>
        <p:nvSpPr>
          <p:cNvPr id="15" name="Shape 13"/>
          <p:cNvSpPr/>
          <p:nvPr/>
        </p:nvSpPr>
        <p:spPr>
          <a:xfrm>
            <a:off x="5382939" y="2429468"/>
            <a:ext cx="178637" cy="142910"/>
          </a:xfrm>
          <a:custGeom>
            <a:avLst/>
            <a:gdLst/>
            <a:ahLst/>
            <a:cxnLst/>
            <a:rect l="l" t="t" r="r" b="b"/>
            <a:pathLst>
              <a:path w="178637" h="142910">
                <a:moveTo>
                  <a:pt x="37960" y="35727"/>
                </a:moveTo>
                <a:cubicBezTo>
                  <a:pt x="37960" y="17241"/>
                  <a:pt x="52969" y="2233"/>
                  <a:pt x="71455" y="2233"/>
                </a:cubicBezTo>
                <a:cubicBezTo>
                  <a:pt x="89941" y="2233"/>
                  <a:pt x="104949" y="17241"/>
                  <a:pt x="104949" y="35727"/>
                </a:cubicBezTo>
                <a:cubicBezTo>
                  <a:pt x="104949" y="54214"/>
                  <a:pt x="89941" y="69222"/>
                  <a:pt x="71455" y="69222"/>
                </a:cubicBezTo>
                <a:cubicBezTo>
                  <a:pt x="52969" y="69222"/>
                  <a:pt x="37960" y="54214"/>
                  <a:pt x="37960" y="35727"/>
                </a:cubicBezTo>
                <a:close/>
                <a:moveTo>
                  <a:pt x="13398" y="134620"/>
                </a:moveTo>
                <a:cubicBezTo>
                  <a:pt x="13398" y="107127"/>
                  <a:pt x="35672" y="84853"/>
                  <a:pt x="63165" y="84853"/>
                </a:cubicBezTo>
                <a:lnTo>
                  <a:pt x="79745" y="84853"/>
                </a:lnTo>
                <a:cubicBezTo>
                  <a:pt x="107238" y="84853"/>
                  <a:pt x="129512" y="107127"/>
                  <a:pt x="129512" y="134620"/>
                </a:cubicBezTo>
                <a:cubicBezTo>
                  <a:pt x="129512" y="139198"/>
                  <a:pt x="125800" y="142910"/>
                  <a:pt x="121222" y="142910"/>
                </a:cubicBezTo>
                <a:lnTo>
                  <a:pt x="21688" y="142910"/>
                </a:lnTo>
                <a:cubicBezTo>
                  <a:pt x="17110" y="142910"/>
                  <a:pt x="13398" y="139198"/>
                  <a:pt x="13398" y="134620"/>
                </a:cubicBezTo>
                <a:close/>
                <a:moveTo>
                  <a:pt x="170934" y="37039"/>
                </a:moveTo>
                <a:lnTo>
                  <a:pt x="148604" y="72767"/>
                </a:lnTo>
                <a:cubicBezTo>
                  <a:pt x="147432" y="74637"/>
                  <a:pt x="145422" y="75809"/>
                  <a:pt x="143217" y="75921"/>
                </a:cubicBezTo>
                <a:cubicBezTo>
                  <a:pt x="141012" y="76033"/>
                  <a:pt x="138891" y="75028"/>
                  <a:pt x="137579" y="73241"/>
                </a:cubicBezTo>
                <a:lnTo>
                  <a:pt x="124181" y="55378"/>
                </a:lnTo>
                <a:cubicBezTo>
                  <a:pt x="121948" y="52419"/>
                  <a:pt x="122562" y="48232"/>
                  <a:pt x="125521" y="45999"/>
                </a:cubicBezTo>
                <a:cubicBezTo>
                  <a:pt x="128479" y="43766"/>
                  <a:pt x="132666" y="44380"/>
                  <a:pt x="134899" y="47339"/>
                </a:cubicBezTo>
                <a:lnTo>
                  <a:pt x="142435" y="57387"/>
                </a:lnTo>
                <a:lnTo>
                  <a:pt x="159573" y="29950"/>
                </a:lnTo>
                <a:cubicBezTo>
                  <a:pt x="161527" y="26824"/>
                  <a:pt x="165658" y="25847"/>
                  <a:pt x="168812" y="27828"/>
                </a:cubicBezTo>
                <a:cubicBezTo>
                  <a:pt x="171966" y="29810"/>
                  <a:pt x="172915" y="33913"/>
                  <a:pt x="170934" y="37067"/>
                </a:cubicBezTo>
                <a:close/>
              </a:path>
            </a:pathLst>
          </a:custGeom>
          <a:solidFill>
            <a:srgbClr val="C5A56A"/>
          </a:solidFill>
          <a:ln/>
        </p:spPr>
      </p:sp>
      <p:sp>
        <p:nvSpPr>
          <p:cNvPr id="16" name="Text 14"/>
          <p:cNvSpPr/>
          <p:nvPr/>
        </p:nvSpPr>
        <p:spPr>
          <a:xfrm>
            <a:off x="5633032" y="2393741"/>
            <a:ext cx="678822"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Retention</a:t>
            </a:r>
            <a:endParaRPr lang="en-US" sz="1600" dirty="0"/>
          </a:p>
        </p:txBody>
      </p:sp>
      <p:sp>
        <p:nvSpPr>
          <p:cNvPr id="17" name="Text 15"/>
          <p:cNvSpPr/>
          <p:nvPr/>
        </p:nvSpPr>
        <p:spPr>
          <a:xfrm>
            <a:off x="5382939" y="2679560"/>
            <a:ext cx="1491622"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Liter" pitchFamily="34" charset="0"/>
                <a:ea typeface="Liter" pitchFamily="34" charset="-122"/>
                <a:cs typeface="Liter" pitchFamily="34" charset="-120"/>
              </a:rPr>
              <a:t>Keep skilled employees</a:t>
            </a:r>
            <a:endParaRPr lang="en-US" sz="1600" dirty="0"/>
          </a:p>
        </p:txBody>
      </p:sp>
      <p:sp>
        <p:nvSpPr>
          <p:cNvPr id="18" name="Shape 16"/>
          <p:cNvSpPr/>
          <p:nvPr/>
        </p:nvSpPr>
        <p:spPr>
          <a:xfrm>
            <a:off x="5240029" y="3108290"/>
            <a:ext cx="1714919" cy="928914"/>
          </a:xfrm>
          <a:custGeom>
            <a:avLst/>
            <a:gdLst/>
            <a:ahLst/>
            <a:cxnLst/>
            <a:rect l="l" t="t" r="r" b="b"/>
            <a:pathLst>
              <a:path w="1714919" h="928914">
                <a:moveTo>
                  <a:pt x="71452" y="0"/>
                </a:moveTo>
                <a:lnTo>
                  <a:pt x="1643467" y="0"/>
                </a:lnTo>
                <a:cubicBezTo>
                  <a:pt x="1682928" y="0"/>
                  <a:pt x="1714919" y="31990"/>
                  <a:pt x="1714919" y="71452"/>
                </a:cubicBezTo>
                <a:lnTo>
                  <a:pt x="1714919" y="857462"/>
                </a:lnTo>
                <a:cubicBezTo>
                  <a:pt x="1714919" y="896924"/>
                  <a:pt x="1682928" y="928914"/>
                  <a:pt x="1643467" y="928914"/>
                </a:cubicBezTo>
                <a:lnTo>
                  <a:pt x="71452" y="928914"/>
                </a:lnTo>
                <a:cubicBezTo>
                  <a:pt x="31990" y="928914"/>
                  <a:pt x="0" y="896924"/>
                  <a:pt x="0" y="857462"/>
                </a:cubicBezTo>
                <a:lnTo>
                  <a:pt x="0" y="71452"/>
                </a:lnTo>
                <a:cubicBezTo>
                  <a:pt x="0" y="32017"/>
                  <a:pt x="32017" y="0"/>
                  <a:pt x="71452" y="0"/>
                </a:cubicBezTo>
                <a:close/>
              </a:path>
            </a:pathLst>
          </a:custGeom>
          <a:solidFill>
            <a:srgbClr val="5E7A91"/>
          </a:solidFill>
          <a:ln/>
          <a:effectLst>
            <a:outerShdw blurRad="133978" dist="89319" dir="5400000" algn="bl" rotWithShape="0">
              <a:srgbClr val="000000">
                <a:alpha val="10196"/>
              </a:srgbClr>
            </a:outerShdw>
          </a:effectLst>
        </p:spPr>
      </p:sp>
      <p:sp>
        <p:nvSpPr>
          <p:cNvPr id="19" name="Shape 17"/>
          <p:cNvSpPr/>
          <p:nvPr/>
        </p:nvSpPr>
        <p:spPr>
          <a:xfrm>
            <a:off x="5400803" y="3286927"/>
            <a:ext cx="142910" cy="142910"/>
          </a:xfrm>
          <a:custGeom>
            <a:avLst/>
            <a:gdLst/>
            <a:ahLst/>
            <a:cxnLst/>
            <a:rect l="l" t="t" r="r" b="b"/>
            <a:pathLst>
              <a:path w="142910" h="142910">
                <a:moveTo>
                  <a:pt x="0" y="117119"/>
                </a:moveTo>
                <a:lnTo>
                  <a:pt x="0" y="30564"/>
                </a:lnTo>
                <a:cubicBezTo>
                  <a:pt x="0" y="24088"/>
                  <a:pt x="6727" y="19790"/>
                  <a:pt x="12923" y="21632"/>
                </a:cubicBezTo>
                <a:cubicBezTo>
                  <a:pt x="37402" y="28945"/>
                  <a:pt x="54708" y="23167"/>
                  <a:pt x="72125" y="17361"/>
                </a:cubicBezTo>
                <a:cubicBezTo>
                  <a:pt x="90128" y="11360"/>
                  <a:pt x="108243" y="5331"/>
                  <a:pt x="134453" y="13705"/>
                </a:cubicBezTo>
                <a:cubicBezTo>
                  <a:pt x="139616" y="15352"/>
                  <a:pt x="142910" y="20348"/>
                  <a:pt x="142910" y="25791"/>
                </a:cubicBezTo>
                <a:lnTo>
                  <a:pt x="142910" y="112346"/>
                </a:lnTo>
                <a:cubicBezTo>
                  <a:pt x="142910" y="118822"/>
                  <a:pt x="136183" y="123120"/>
                  <a:pt x="130015" y="121278"/>
                </a:cubicBezTo>
                <a:cubicBezTo>
                  <a:pt x="105536" y="113965"/>
                  <a:pt x="88202" y="119743"/>
                  <a:pt x="70813" y="125549"/>
                </a:cubicBezTo>
                <a:cubicBezTo>
                  <a:pt x="52810" y="131550"/>
                  <a:pt x="34695" y="137579"/>
                  <a:pt x="8485" y="129205"/>
                </a:cubicBezTo>
                <a:cubicBezTo>
                  <a:pt x="3322" y="127558"/>
                  <a:pt x="28" y="122562"/>
                  <a:pt x="28" y="117119"/>
                </a:cubicBezTo>
                <a:close/>
                <a:moveTo>
                  <a:pt x="93785" y="71455"/>
                </a:moveTo>
                <a:cubicBezTo>
                  <a:pt x="93785" y="56662"/>
                  <a:pt x="83792" y="44659"/>
                  <a:pt x="71455" y="44659"/>
                </a:cubicBezTo>
                <a:cubicBezTo>
                  <a:pt x="59118" y="44659"/>
                  <a:pt x="49125" y="56662"/>
                  <a:pt x="49125" y="71455"/>
                </a:cubicBezTo>
                <a:cubicBezTo>
                  <a:pt x="49125" y="86248"/>
                  <a:pt x="59118" y="98251"/>
                  <a:pt x="71455" y="98251"/>
                </a:cubicBezTo>
                <a:cubicBezTo>
                  <a:pt x="83792" y="98251"/>
                  <a:pt x="93785" y="86248"/>
                  <a:pt x="93785" y="71455"/>
                </a:cubicBezTo>
                <a:close/>
                <a:moveTo>
                  <a:pt x="33495" y="115444"/>
                </a:moveTo>
                <a:cubicBezTo>
                  <a:pt x="34723" y="115444"/>
                  <a:pt x="35700" y="114384"/>
                  <a:pt x="35504" y="113184"/>
                </a:cubicBezTo>
                <a:cubicBezTo>
                  <a:pt x="34220" y="105424"/>
                  <a:pt x="27968" y="99367"/>
                  <a:pt x="20097" y="98390"/>
                </a:cubicBezTo>
                <a:cubicBezTo>
                  <a:pt x="18869" y="98251"/>
                  <a:pt x="17864" y="99255"/>
                  <a:pt x="17864" y="100484"/>
                </a:cubicBezTo>
                <a:lnTo>
                  <a:pt x="17864" y="111620"/>
                </a:lnTo>
                <a:cubicBezTo>
                  <a:pt x="17864" y="112625"/>
                  <a:pt x="18534" y="113518"/>
                  <a:pt x="19538" y="113770"/>
                </a:cubicBezTo>
                <a:cubicBezTo>
                  <a:pt x="24535" y="114942"/>
                  <a:pt x="29112" y="115472"/>
                  <a:pt x="33495" y="115472"/>
                </a:cubicBezTo>
                <a:close/>
                <a:moveTo>
                  <a:pt x="122395" y="101181"/>
                </a:moveTo>
                <a:cubicBezTo>
                  <a:pt x="123790" y="101405"/>
                  <a:pt x="125046" y="100344"/>
                  <a:pt x="125046" y="98948"/>
                </a:cubicBezTo>
                <a:lnTo>
                  <a:pt x="125046" y="87058"/>
                </a:lnTo>
                <a:cubicBezTo>
                  <a:pt x="125046" y="85830"/>
                  <a:pt x="124041" y="84797"/>
                  <a:pt x="122813" y="84964"/>
                </a:cubicBezTo>
                <a:cubicBezTo>
                  <a:pt x="115779" y="85830"/>
                  <a:pt x="110002" y="90798"/>
                  <a:pt x="107964" y="97413"/>
                </a:cubicBezTo>
                <a:cubicBezTo>
                  <a:pt x="107573" y="98725"/>
                  <a:pt x="108606" y="99953"/>
                  <a:pt x="109974" y="99981"/>
                </a:cubicBezTo>
                <a:cubicBezTo>
                  <a:pt x="113937" y="100093"/>
                  <a:pt x="118068" y="100456"/>
                  <a:pt x="122367" y="101181"/>
                </a:cubicBezTo>
                <a:close/>
                <a:moveTo>
                  <a:pt x="125046" y="42426"/>
                </a:moveTo>
                <a:lnTo>
                  <a:pt x="125046" y="31289"/>
                </a:lnTo>
                <a:cubicBezTo>
                  <a:pt x="125046" y="30285"/>
                  <a:pt x="124348" y="29391"/>
                  <a:pt x="123371" y="29140"/>
                </a:cubicBezTo>
                <a:cubicBezTo>
                  <a:pt x="118375" y="27968"/>
                  <a:pt x="113798" y="27438"/>
                  <a:pt x="109415" y="27438"/>
                </a:cubicBezTo>
                <a:cubicBezTo>
                  <a:pt x="108187" y="27438"/>
                  <a:pt x="107210" y="28498"/>
                  <a:pt x="107406" y="29698"/>
                </a:cubicBezTo>
                <a:cubicBezTo>
                  <a:pt x="108690" y="37458"/>
                  <a:pt x="114942" y="43515"/>
                  <a:pt x="122813" y="44492"/>
                </a:cubicBezTo>
                <a:cubicBezTo>
                  <a:pt x="124041" y="44631"/>
                  <a:pt x="125046" y="43627"/>
                  <a:pt x="125046" y="42398"/>
                </a:cubicBezTo>
                <a:close/>
                <a:moveTo>
                  <a:pt x="34946" y="45469"/>
                </a:moveTo>
                <a:cubicBezTo>
                  <a:pt x="35337" y="44157"/>
                  <a:pt x="34304" y="42929"/>
                  <a:pt x="32936" y="42901"/>
                </a:cubicBezTo>
                <a:cubicBezTo>
                  <a:pt x="28973" y="42789"/>
                  <a:pt x="24842" y="42426"/>
                  <a:pt x="20543" y="41701"/>
                </a:cubicBezTo>
                <a:cubicBezTo>
                  <a:pt x="19148" y="41477"/>
                  <a:pt x="17892" y="42538"/>
                  <a:pt x="17892" y="43934"/>
                </a:cubicBezTo>
                <a:lnTo>
                  <a:pt x="17864" y="55824"/>
                </a:lnTo>
                <a:cubicBezTo>
                  <a:pt x="17864" y="57052"/>
                  <a:pt x="18869" y="58085"/>
                  <a:pt x="20097" y="57918"/>
                </a:cubicBezTo>
                <a:cubicBezTo>
                  <a:pt x="27131" y="57052"/>
                  <a:pt x="32908" y="52084"/>
                  <a:pt x="34946" y="45469"/>
                </a:cubicBezTo>
                <a:close/>
              </a:path>
            </a:pathLst>
          </a:custGeom>
          <a:solidFill>
            <a:srgbClr val="C5A56A"/>
          </a:solidFill>
          <a:ln/>
        </p:spPr>
      </p:sp>
      <p:sp>
        <p:nvSpPr>
          <p:cNvPr id="20" name="Text 18"/>
          <p:cNvSpPr/>
          <p:nvPr/>
        </p:nvSpPr>
        <p:spPr>
          <a:xfrm>
            <a:off x="5633032" y="3251200"/>
            <a:ext cx="991437"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Compensation</a:t>
            </a:r>
            <a:endParaRPr lang="en-US" sz="1600" dirty="0"/>
          </a:p>
        </p:txBody>
      </p:sp>
      <p:sp>
        <p:nvSpPr>
          <p:cNvPr id="21" name="Text 19"/>
          <p:cNvSpPr/>
          <p:nvPr/>
        </p:nvSpPr>
        <p:spPr>
          <a:xfrm>
            <a:off x="5382939" y="3537020"/>
            <a:ext cx="1491622" cy="357275"/>
          </a:xfrm>
          <a:prstGeom prst="rect">
            <a:avLst/>
          </a:prstGeom>
          <a:noFill/>
          <a:ln/>
        </p:spPr>
        <p:txBody>
          <a:bodyPr wrap="square" lIns="0" tIns="0" rIns="0" bIns="0" rtlCol="0" anchor="ctr"/>
          <a:lstStyle/>
          <a:p>
            <a:pPr>
              <a:lnSpc>
                <a:spcPct val="120000"/>
              </a:lnSpc>
            </a:pPr>
            <a:r>
              <a:rPr lang="en-US" sz="985" dirty="0">
                <a:solidFill>
                  <a:srgbClr val="FFFFFF"/>
                </a:solidFill>
                <a:latin typeface="Liter" pitchFamily="34" charset="0"/>
                <a:ea typeface="Liter" pitchFamily="34" charset="-122"/>
                <a:cs typeface="Liter" pitchFamily="34" charset="-120"/>
              </a:rPr>
              <a:t>Competitive pay structure</a:t>
            </a:r>
            <a:endParaRPr lang="en-US" sz="1600" dirty="0"/>
          </a:p>
        </p:txBody>
      </p:sp>
      <p:sp>
        <p:nvSpPr>
          <p:cNvPr id="22" name="Shape 20"/>
          <p:cNvSpPr/>
          <p:nvPr/>
        </p:nvSpPr>
        <p:spPr>
          <a:xfrm>
            <a:off x="5240029" y="4144387"/>
            <a:ext cx="1714919" cy="928914"/>
          </a:xfrm>
          <a:custGeom>
            <a:avLst/>
            <a:gdLst/>
            <a:ahLst/>
            <a:cxnLst/>
            <a:rect l="l" t="t" r="r" b="b"/>
            <a:pathLst>
              <a:path w="1714919" h="928914">
                <a:moveTo>
                  <a:pt x="71452" y="0"/>
                </a:moveTo>
                <a:lnTo>
                  <a:pt x="1643467" y="0"/>
                </a:lnTo>
                <a:cubicBezTo>
                  <a:pt x="1682928" y="0"/>
                  <a:pt x="1714919" y="31990"/>
                  <a:pt x="1714919" y="71452"/>
                </a:cubicBezTo>
                <a:lnTo>
                  <a:pt x="1714919" y="857462"/>
                </a:lnTo>
                <a:cubicBezTo>
                  <a:pt x="1714919" y="896924"/>
                  <a:pt x="1682928" y="928914"/>
                  <a:pt x="1643467" y="928914"/>
                </a:cubicBezTo>
                <a:lnTo>
                  <a:pt x="71452" y="928914"/>
                </a:lnTo>
                <a:cubicBezTo>
                  <a:pt x="31990" y="928914"/>
                  <a:pt x="0" y="896924"/>
                  <a:pt x="0" y="857462"/>
                </a:cubicBezTo>
                <a:lnTo>
                  <a:pt x="0" y="71452"/>
                </a:lnTo>
                <a:cubicBezTo>
                  <a:pt x="0" y="32017"/>
                  <a:pt x="32017" y="0"/>
                  <a:pt x="71452" y="0"/>
                </a:cubicBezTo>
                <a:close/>
              </a:path>
            </a:pathLst>
          </a:custGeom>
          <a:solidFill>
            <a:srgbClr val="5E7A91"/>
          </a:solidFill>
          <a:ln/>
          <a:effectLst>
            <a:outerShdw blurRad="133978" dist="89319" dir="5400000" algn="bl" rotWithShape="0">
              <a:srgbClr val="000000">
                <a:alpha val="10196"/>
              </a:srgbClr>
            </a:outerShdw>
          </a:effectLst>
        </p:spPr>
      </p:sp>
      <p:sp>
        <p:nvSpPr>
          <p:cNvPr id="23" name="Shape 21"/>
          <p:cNvSpPr/>
          <p:nvPr/>
        </p:nvSpPr>
        <p:spPr>
          <a:xfrm>
            <a:off x="5400803" y="4323024"/>
            <a:ext cx="142910" cy="142910"/>
          </a:xfrm>
          <a:custGeom>
            <a:avLst/>
            <a:gdLst/>
            <a:ahLst/>
            <a:cxnLst/>
            <a:rect l="l" t="t" r="r" b="b"/>
            <a:pathLst>
              <a:path w="142910" h="142910">
                <a:moveTo>
                  <a:pt x="71455" y="142910"/>
                </a:moveTo>
                <a:cubicBezTo>
                  <a:pt x="110892" y="142910"/>
                  <a:pt x="142910" y="110892"/>
                  <a:pt x="142910" y="71455"/>
                </a:cubicBezTo>
                <a:cubicBezTo>
                  <a:pt x="142910" y="32018"/>
                  <a:pt x="110892" y="0"/>
                  <a:pt x="71455" y="0"/>
                </a:cubicBezTo>
                <a:cubicBezTo>
                  <a:pt x="32018" y="0"/>
                  <a:pt x="0" y="32018"/>
                  <a:pt x="0" y="71455"/>
                </a:cubicBezTo>
                <a:cubicBezTo>
                  <a:pt x="0" y="110892"/>
                  <a:pt x="32018" y="142910"/>
                  <a:pt x="71455" y="142910"/>
                </a:cubicBezTo>
                <a:close/>
                <a:moveTo>
                  <a:pt x="46167" y="89849"/>
                </a:moveTo>
                <a:cubicBezTo>
                  <a:pt x="51861" y="97664"/>
                  <a:pt x="61072" y="102716"/>
                  <a:pt x="71455" y="102716"/>
                </a:cubicBezTo>
                <a:cubicBezTo>
                  <a:pt x="81838" y="102716"/>
                  <a:pt x="91049" y="97664"/>
                  <a:pt x="96743" y="89849"/>
                </a:cubicBezTo>
                <a:cubicBezTo>
                  <a:pt x="98920" y="86862"/>
                  <a:pt x="103107" y="86193"/>
                  <a:pt x="106094" y="88370"/>
                </a:cubicBezTo>
                <a:cubicBezTo>
                  <a:pt x="109080" y="90547"/>
                  <a:pt x="109750" y="94734"/>
                  <a:pt x="107573" y="97720"/>
                </a:cubicBezTo>
                <a:cubicBezTo>
                  <a:pt x="99451" y="108857"/>
                  <a:pt x="86304" y="116114"/>
                  <a:pt x="71455" y="116114"/>
                </a:cubicBezTo>
                <a:cubicBezTo>
                  <a:pt x="56606" y="116114"/>
                  <a:pt x="43459" y="108857"/>
                  <a:pt x="35337" y="97720"/>
                </a:cubicBezTo>
                <a:cubicBezTo>
                  <a:pt x="33160" y="94734"/>
                  <a:pt x="33829" y="90547"/>
                  <a:pt x="36816" y="88370"/>
                </a:cubicBezTo>
                <a:cubicBezTo>
                  <a:pt x="39803" y="86193"/>
                  <a:pt x="43989" y="86862"/>
                  <a:pt x="46167" y="89849"/>
                </a:cubicBezTo>
                <a:close/>
                <a:moveTo>
                  <a:pt x="40193" y="58057"/>
                </a:moveTo>
                <a:cubicBezTo>
                  <a:pt x="40193" y="53128"/>
                  <a:pt x="44196" y="49125"/>
                  <a:pt x="49125" y="49125"/>
                </a:cubicBezTo>
                <a:cubicBezTo>
                  <a:pt x="54055" y="49125"/>
                  <a:pt x="58057" y="53128"/>
                  <a:pt x="58057" y="58057"/>
                </a:cubicBezTo>
                <a:cubicBezTo>
                  <a:pt x="58057" y="62987"/>
                  <a:pt x="54055" y="66989"/>
                  <a:pt x="49125" y="66989"/>
                </a:cubicBezTo>
                <a:cubicBezTo>
                  <a:pt x="44196" y="66989"/>
                  <a:pt x="40193" y="62987"/>
                  <a:pt x="40193" y="58057"/>
                </a:cubicBezTo>
                <a:close/>
                <a:moveTo>
                  <a:pt x="93785" y="49125"/>
                </a:moveTo>
                <a:cubicBezTo>
                  <a:pt x="98714" y="49125"/>
                  <a:pt x="102716" y="53128"/>
                  <a:pt x="102716" y="58057"/>
                </a:cubicBezTo>
                <a:cubicBezTo>
                  <a:pt x="102716" y="62987"/>
                  <a:pt x="98714" y="66989"/>
                  <a:pt x="93785" y="66989"/>
                </a:cubicBezTo>
                <a:cubicBezTo>
                  <a:pt x="88855" y="66989"/>
                  <a:pt x="84853" y="62987"/>
                  <a:pt x="84853" y="58057"/>
                </a:cubicBezTo>
                <a:cubicBezTo>
                  <a:pt x="84853" y="53128"/>
                  <a:pt x="88855" y="49125"/>
                  <a:pt x="93785" y="49125"/>
                </a:cubicBezTo>
                <a:close/>
              </a:path>
            </a:pathLst>
          </a:custGeom>
          <a:solidFill>
            <a:srgbClr val="C5A56A"/>
          </a:solidFill>
          <a:ln/>
        </p:spPr>
      </p:sp>
      <p:sp>
        <p:nvSpPr>
          <p:cNvPr id="24" name="Text 22"/>
          <p:cNvSpPr/>
          <p:nvPr/>
        </p:nvSpPr>
        <p:spPr>
          <a:xfrm>
            <a:off x="5633032" y="4287297"/>
            <a:ext cx="1241530"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Work Environment</a:t>
            </a:r>
            <a:endParaRPr lang="en-US" sz="1600" dirty="0"/>
          </a:p>
        </p:txBody>
      </p:sp>
      <p:sp>
        <p:nvSpPr>
          <p:cNvPr id="25" name="Text 23"/>
          <p:cNvSpPr/>
          <p:nvPr/>
        </p:nvSpPr>
        <p:spPr>
          <a:xfrm>
            <a:off x="5382939" y="4573116"/>
            <a:ext cx="1491622" cy="357275"/>
          </a:xfrm>
          <a:prstGeom prst="rect">
            <a:avLst/>
          </a:prstGeom>
          <a:noFill/>
          <a:ln/>
        </p:spPr>
        <p:txBody>
          <a:bodyPr wrap="square" lIns="0" tIns="0" rIns="0" bIns="0" rtlCol="0" anchor="ctr"/>
          <a:lstStyle/>
          <a:p>
            <a:pPr>
              <a:lnSpc>
                <a:spcPct val="120000"/>
              </a:lnSpc>
            </a:pPr>
            <a:r>
              <a:rPr lang="en-US" sz="985" dirty="0">
                <a:solidFill>
                  <a:srgbClr val="FFFFFF"/>
                </a:solidFill>
                <a:latin typeface="Liter" pitchFamily="34" charset="0"/>
                <a:ea typeface="Liter" pitchFamily="34" charset="-122"/>
                <a:cs typeface="Liter" pitchFamily="34" charset="-120"/>
              </a:rPr>
              <a:t>Healthy workplace culture</a:t>
            </a:r>
            <a:endParaRPr lang="en-US" sz="1600" dirty="0"/>
          </a:p>
        </p:txBody>
      </p:sp>
      <p:sp>
        <p:nvSpPr>
          <p:cNvPr id="26" name="Shape 24"/>
          <p:cNvSpPr/>
          <p:nvPr/>
        </p:nvSpPr>
        <p:spPr>
          <a:xfrm>
            <a:off x="5240029" y="5180484"/>
            <a:ext cx="1714919" cy="750277"/>
          </a:xfrm>
          <a:custGeom>
            <a:avLst/>
            <a:gdLst/>
            <a:ahLst/>
            <a:cxnLst/>
            <a:rect l="l" t="t" r="r" b="b"/>
            <a:pathLst>
              <a:path w="1714919" h="750277">
                <a:moveTo>
                  <a:pt x="71456" y="0"/>
                </a:moveTo>
                <a:lnTo>
                  <a:pt x="1643462" y="0"/>
                </a:lnTo>
                <a:cubicBezTo>
                  <a:pt x="1682927" y="0"/>
                  <a:pt x="1714919" y="31992"/>
                  <a:pt x="1714919" y="71456"/>
                </a:cubicBezTo>
                <a:lnTo>
                  <a:pt x="1714919" y="678821"/>
                </a:lnTo>
                <a:cubicBezTo>
                  <a:pt x="1714919" y="718285"/>
                  <a:pt x="1682927" y="750277"/>
                  <a:pt x="1643462" y="750277"/>
                </a:cubicBezTo>
                <a:lnTo>
                  <a:pt x="71456" y="750277"/>
                </a:lnTo>
                <a:cubicBezTo>
                  <a:pt x="32019" y="750277"/>
                  <a:pt x="0" y="718258"/>
                  <a:pt x="0" y="678821"/>
                </a:cubicBezTo>
                <a:lnTo>
                  <a:pt x="0" y="71456"/>
                </a:lnTo>
                <a:cubicBezTo>
                  <a:pt x="0" y="31992"/>
                  <a:pt x="31992" y="0"/>
                  <a:pt x="71456" y="0"/>
                </a:cubicBezTo>
                <a:close/>
              </a:path>
            </a:pathLst>
          </a:custGeom>
          <a:solidFill>
            <a:srgbClr val="5E7A91"/>
          </a:solidFill>
          <a:ln/>
          <a:effectLst>
            <a:outerShdw blurRad="133978" dist="89319" dir="5400000" algn="bl" rotWithShape="0">
              <a:srgbClr val="000000">
                <a:alpha val="10196"/>
              </a:srgbClr>
            </a:outerShdw>
          </a:effectLst>
        </p:spPr>
      </p:sp>
      <p:sp>
        <p:nvSpPr>
          <p:cNvPr id="27" name="Shape 25"/>
          <p:cNvSpPr/>
          <p:nvPr/>
        </p:nvSpPr>
        <p:spPr>
          <a:xfrm>
            <a:off x="5391871" y="5359121"/>
            <a:ext cx="160774" cy="142910"/>
          </a:xfrm>
          <a:custGeom>
            <a:avLst/>
            <a:gdLst/>
            <a:ahLst/>
            <a:cxnLst/>
            <a:rect l="l" t="t" r="r" b="b"/>
            <a:pathLst>
              <a:path w="160774" h="142910">
                <a:moveTo>
                  <a:pt x="13398" y="54652"/>
                </a:moveTo>
                <a:lnTo>
                  <a:pt x="71790" y="78684"/>
                </a:lnTo>
                <a:cubicBezTo>
                  <a:pt x="74525" y="79801"/>
                  <a:pt x="77428" y="80387"/>
                  <a:pt x="80387" y="80387"/>
                </a:cubicBezTo>
                <a:cubicBezTo>
                  <a:pt x="83345" y="80387"/>
                  <a:pt x="86248" y="79801"/>
                  <a:pt x="88984" y="78684"/>
                </a:cubicBezTo>
                <a:lnTo>
                  <a:pt x="156643" y="50828"/>
                </a:lnTo>
                <a:cubicBezTo>
                  <a:pt x="159155" y="49795"/>
                  <a:pt x="160774" y="47367"/>
                  <a:pt x="160774" y="44659"/>
                </a:cubicBezTo>
                <a:cubicBezTo>
                  <a:pt x="160774" y="41952"/>
                  <a:pt x="159155" y="39524"/>
                  <a:pt x="156643" y="38491"/>
                </a:cubicBezTo>
                <a:lnTo>
                  <a:pt x="88984" y="10635"/>
                </a:lnTo>
                <a:cubicBezTo>
                  <a:pt x="86248" y="9518"/>
                  <a:pt x="83345" y="8932"/>
                  <a:pt x="80387" y="8932"/>
                </a:cubicBezTo>
                <a:cubicBezTo>
                  <a:pt x="77428" y="8932"/>
                  <a:pt x="74525" y="9518"/>
                  <a:pt x="71790" y="10635"/>
                </a:cubicBezTo>
                <a:lnTo>
                  <a:pt x="4131" y="38491"/>
                </a:lnTo>
                <a:cubicBezTo>
                  <a:pt x="1619" y="39524"/>
                  <a:pt x="0" y="41952"/>
                  <a:pt x="0" y="44659"/>
                </a:cubicBezTo>
                <a:lnTo>
                  <a:pt x="0" y="127279"/>
                </a:lnTo>
                <a:cubicBezTo>
                  <a:pt x="0" y="130991"/>
                  <a:pt x="2987" y="133978"/>
                  <a:pt x="6699" y="133978"/>
                </a:cubicBezTo>
                <a:cubicBezTo>
                  <a:pt x="10411" y="133978"/>
                  <a:pt x="13398" y="130991"/>
                  <a:pt x="13398" y="127279"/>
                </a:cubicBezTo>
                <a:lnTo>
                  <a:pt x="13398" y="54652"/>
                </a:lnTo>
                <a:close/>
                <a:moveTo>
                  <a:pt x="26796" y="74665"/>
                </a:moveTo>
                <a:lnTo>
                  <a:pt x="26796" y="107182"/>
                </a:lnTo>
                <a:cubicBezTo>
                  <a:pt x="26796" y="121976"/>
                  <a:pt x="50800" y="133978"/>
                  <a:pt x="80387" y="133978"/>
                </a:cubicBezTo>
                <a:cubicBezTo>
                  <a:pt x="109974" y="133978"/>
                  <a:pt x="133978" y="121976"/>
                  <a:pt x="133978" y="107182"/>
                </a:cubicBezTo>
                <a:lnTo>
                  <a:pt x="133978" y="74637"/>
                </a:lnTo>
                <a:lnTo>
                  <a:pt x="94092" y="91077"/>
                </a:lnTo>
                <a:cubicBezTo>
                  <a:pt x="89737" y="92864"/>
                  <a:pt x="85104" y="93785"/>
                  <a:pt x="80387" y="93785"/>
                </a:cubicBezTo>
                <a:cubicBezTo>
                  <a:pt x="75670" y="93785"/>
                  <a:pt x="71036" y="92864"/>
                  <a:pt x="66682" y="91077"/>
                </a:cubicBezTo>
                <a:lnTo>
                  <a:pt x="26796" y="74637"/>
                </a:lnTo>
                <a:close/>
              </a:path>
            </a:pathLst>
          </a:custGeom>
          <a:solidFill>
            <a:srgbClr val="C5A56A"/>
          </a:solidFill>
          <a:ln/>
        </p:spPr>
      </p:sp>
      <p:sp>
        <p:nvSpPr>
          <p:cNvPr id="28" name="Text 26"/>
          <p:cNvSpPr/>
          <p:nvPr/>
        </p:nvSpPr>
        <p:spPr>
          <a:xfrm>
            <a:off x="5633032" y="5323393"/>
            <a:ext cx="803868"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Niche Skills</a:t>
            </a:r>
            <a:endParaRPr lang="en-US" sz="1600" dirty="0"/>
          </a:p>
        </p:txBody>
      </p:sp>
      <p:sp>
        <p:nvSpPr>
          <p:cNvPr id="29" name="Text 27"/>
          <p:cNvSpPr/>
          <p:nvPr/>
        </p:nvSpPr>
        <p:spPr>
          <a:xfrm>
            <a:off x="5382939" y="5609213"/>
            <a:ext cx="1491622"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Liter" pitchFamily="34" charset="0"/>
                <a:ea typeface="Liter" pitchFamily="34" charset="-122"/>
                <a:cs typeface="Liter" pitchFamily="34" charset="-120"/>
              </a:rPr>
              <a:t>Specialized expertise</a:t>
            </a:r>
            <a:endParaRPr lang="en-US" sz="1600" dirty="0"/>
          </a:p>
        </p:txBody>
      </p:sp>
      <p:sp>
        <p:nvSpPr>
          <p:cNvPr id="30" name="Shape 28"/>
          <p:cNvSpPr/>
          <p:nvPr/>
        </p:nvSpPr>
        <p:spPr>
          <a:xfrm>
            <a:off x="7133586" y="3956818"/>
            <a:ext cx="267956" cy="267956"/>
          </a:xfrm>
          <a:custGeom>
            <a:avLst/>
            <a:gdLst/>
            <a:ahLst/>
            <a:cxnLst/>
            <a:rect l="l" t="t" r="r" b="b"/>
            <a:pathLst>
              <a:path w="267956" h="267956">
                <a:moveTo>
                  <a:pt x="263037" y="145806"/>
                </a:moveTo>
                <a:cubicBezTo>
                  <a:pt x="269578" y="139264"/>
                  <a:pt x="269578" y="128640"/>
                  <a:pt x="263037" y="122098"/>
                </a:cubicBezTo>
                <a:lnTo>
                  <a:pt x="179300" y="38362"/>
                </a:lnTo>
                <a:cubicBezTo>
                  <a:pt x="172758" y="31820"/>
                  <a:pt x="162134" y="31820"/>
                  <a:pt x="155592" y="38362"/>
                </a:cubicBezTo>
                <a:cubicBezTo>
                  <a:pt x="149051" y="44904"/>
                  <a:pt x="149051" y="55528"/>
                  <a:pt x="155592" y="62070"/>
                </a:cubicBezTo>
                <a:lnTo>
                  <a:pt x="210754" y="117231"/>
                </a:lnTo>
                <a:lnTo>
                  <a:pt x="16747" y="117231"/>
                </a:lnTo>
                <a:cubicBezTo>
                  <a:pt x="7484" y="117231"/>
                  <a:pt x="0" y="124715"/>
                  <a:pt x="0" y="133978"/>
                </a:cubicBezTo>
                <a:cubicBezTo>
                  <a:pt x="0" y="143241"/>
                  <a:pt x="7484" y="150725"/>
                  <a:pt x="16747" y="150725"/>
                </a:cubicBezTo>
                <a:lnTo>
                  <a:pt x="210754" y="150725"/>
                </a:lnTo>
                <a:lnTo>
                  <a:pt x="155592" y="205887"/>
                </a:lnTo>
                <a:cubicBezTo>
                  <a:pt x="149051" y="212428"/>
                  <a:pt x="149051" y="223052"/>
                  <a:pt x="155592" y="229594"/>
                </a:cubicBezTo>
                <a:cubicBezTo>
                  <a:pt x="162134" y="236136"/>
                  <a:pt x="172758" y="236136"/>
                  <a:pt x="179300" y="229594"/>
                </a:cubicBezTo>
                <a:lnTo>
                  <a:pt x="263037" y="145858"/>
                </a:lnTo>
                <a:close/>
              </a:path>
            </a:pathLst>
          </a:custGeom>
          <a:solidFill>
            <a:srgbClr val="C5A56A"/>
          </a:solidFill>
          <a:ln/>
        </p:spPr>
      </p:sp>
      <p:sp>
        <p:nvSpPr>
          <p:cNvPr id="31" name="Shape 29"/>
          <p:cNvSpPr/>
          <p:nvPr/>
        </p:nvSpPr>
        <p:spPr>
          <a:xfrm>
            <a:off x="7593577" y="2876062"/>
            <a:ext cx="1982875" cy="428730"/>
          </a:xfrm>
          <a:custGeom>
            <a:avLst/>
            <a:gdLst/>
            <a:ahLst/>
            <a:cxnLst/>
            <a:rect l="l" t="t" r="r" b="b"/>
            <a:pathLst>
              <a:path w="1982875" h="428730">
                <a:moveTo>
                  <a:pt x="35727" y="0"/>
                </a:moveTo>
                <a:lnTo>
                  <a:pt x="1911418" y="0"/>
                </a:lnTo>
                <a:cubicBezTo>
                  <a:pt x="1950883" y="0"/>
                  <a:pt x="1982875" y="31992"/>
                  <a:pt x="1982875" y="71456"/>
                </a:cubicBezTo>
                <a:lnTo>
                  <a:pt x="1982875" y="357273"/>
                </a:lnTo>
                <a:cubicBezTo>
                  <a:pt x="1982875" y="396738"/>
                  <a:pt x="1950883" y="428730"/>
                  <a:pt x="1911418" y="428730"/>
                </a:cubicBezTo>
                <a:lnTo>
                  <a:pt x="35727" y="428730"/>
                </a:lnTo>
                <a:cubicBezTo>
                  <a:pt x="15996" y="428730"/>
                  <a:pt x="0" y="412734"/>
                  <a:pt x="0" y="393002"/>
                </a:cubicBezTo>
                <a:lnTo>
                  <a:pt x="0" y="35727"/>
                </a:lnTo>
                <a:cubicBezTo>
                  <a:pt x="0" y="16009"/>
                  <a:pt x="16009" y="0"/>
                  <a:pt x="35727" y="0"/>
                </a:cubicBezTo>
                <a:close/>
              </a:path>
            </a:pathLst>
          </a:custGeom>
          <a:solidFill>
            <a:srgbClr val="FFFFFF"/>
          </a:solidFill>
          <a:ln/>
          <a:effectLst>
            <a:outerShdw blurRad="133978" dist="89319" dir="5400000" algn="bl" rotWithShape="0">
              <a:srgbClr val="000000">
                <a:alpha val="10196"/>
              </a:srgbClr>
            </a:outerShdw>
          </a:effectLst>
        </p:spPr>
      </p:sp>
      <p:sp>
        <p:nvSpPr>
          <p:cNvPr id="32" name="Shape 30"/>
          <p:cNvSpPr/>
          <p:nvPr/>
        </p:nvSpPr>
        <p:spPr>
          <a:xfrm>
            <a:off x="7593577" y="2876062"/>
            <a:ext cx="35727" cy="428730"/>
          </a:xfrm>
          <a:custGeom>
            <a:avLst/>
            <a:gdLst/>
            <a:ahLst/>
            <a:cxnLst/>
            <a:rect l="l" t="t" r="r" b="b"/>
            <a:pathLst>
              <a:path w="35727" h="428730">
                <a:moveTo>
                  <a:pt x="35727" y="0"/>
                </a:moveTo>
                <a:lnTo>
                  <a:pt x="35727" y="0"/>
                </a:lnTo>
                <a:lnTo>
                  <a:pt x="35727" y="428730"/>
                </a:lnTo>
                <a:lnTo>
                  <a:pt x="35727" y="428730"/>
                </a:lnTo>
                <a:cubicBezTo>
                  <a:pt x="15996" y="428730"/>
                  <a:pt x="0" y="412734"/>
                  <a:pt x="0" y="393002"/>
                </a:cubicBezTo>
                <a:lnTo>
                  <a:pt x="0" y="35727"/>
                </a:lnTo>
                <a:cubicBezTo>
                  <a:pt x="0" y="15996"/>
                  <a:pt x="15996" y="0"/>
                  <a:pt x="35727" y="0"/>
                </a:cubicBezTo>
                <a:close/>
              </a:path>
            </a:pathLst>
          </a:custGeom>
          <a:solidFill>
            <a:srgbClr val="C5A56A"/>
          </a:solidFill>
          <a:ln/>
        </p:spPr>
      </p:sp>
      <p:sp>
        <p:nvSpPr>
          <p:cNvPr id="33" name="Shape 31"/>
          <p:cNvSpPr/>
          <p:nvPr/>
        </p:nvSpPr>
        <p:spPr>
          <a:xfrm>
            <a:off x="7736487" y="3018971"/>
            <a:ext cx="142910" cy="142910"/>
          </a:xfrm>
          <a:custGeom>
            <a:avLst/>
            <a:gdLst/>
            <a:ahLst/>
            <a:cxnLst/>
            <a:rect l="l" t="t" r="r" b="b"/>
            <a:pathLst>
              <a:path w="142910" h="142910">
                <a:moveTo>
                  <a:pt x="17864" y="17864"/>
                </a:moveTo>
                <a:cubicBezTo>
                  <a:pt x="17864" y="12923"/>
                  <a:pt x="13872" y="8932"/>
                  <a:pt x="8932" y="8932"/>
                </a:cubicBezTo>
                <a:cubicBezTo>
                  <a:pt x="3991" y="8932"/>
                  <a:pt x="0" y="12923"/>
                  <a:pt x="0" y="17864"/>
                </a:cubicBezTo>
                <a:lnTo>
                  <a:pt x="0" y="111648"/>
                </a:lnTo>
                <a:cubicBezTo>
                  <a:pt x="0" y="123985"/>
                  <a:pt x="9993" y="133978"/>
                  <a:pt x="22330" y="133978"/>
                </a:cubicBezTo>
                <a:lnTo>
                  <a:pt x="133978" y="133978"/>
                </a:lnTo>
                <a:cubicBezTo>
                  <a:pt x="138918" y="133978"/>
                  <a:pt x="142910" y="129987"/>
                  <a:pt x="142910" y="125046"/>
                </a:cubicBezTo>
                <a:cubicBezTo>
                  <a:pt x="142910" y="120106"/>
                  <a:pt x="138918" y="116114"/>
                  <a:pt x="133978" y="116114"/>
                </a:cubicBezTo>
                <a:lnTo>
                  <a:pt x="22330" y="116114"/>
                </a:lnTo>
                <a:cubicBezTo>
                  <a:pt x="19873" y="116114"/>
                  <a:pt x="17864" y="114105"/>
                  <a:pt x="17864" y="111648"/>
                </a:cubicBezTo>
                <a:lnTo>
                  <a:pt x="17864" y="17864"/>
                </a:lnTo>
                <a:close/>
                <a:moveTo>
                  <a:pt x="131354" y="42036"/>
                </a:moveTo>
                <a:cubicBezTo>
                  <a:pt x="134843" y="38547"/>
                  <a:pt x="134843" y="32880"/>
                  <a:pt x="131354" y="29391"/>
                </a:cubicBezTo>
                <a:cubicBezTo>
                  <a:pt x="127865" y="25902"/>
                  <a:pt x="122199" y="25902"/>
                  <a:pt x="118710" y="29391"/>
                </a:cubicBezTo>
                <a:lnTo>
                  <a:pt x="89319" y="58811"/>
                </a:lnTo>
                <a:lnTo>
                  <a:pt x="73297" y="42817"/>
                </a:lnTo>
                <a:cubicBezTo>
                  <a:pt x="69808" y="39328"/>
                  <a:pt x="64142" y="39328"/>
                  <a:pt x="60653" y="42817"/>
                </a:cubicBezTo>
                <a:lnTo>
                  <a:pt x="33857" y="69613"/>
                </a:lnTo>
                <a:cubicBezTo>
                  <a:pt x="30368" y="73102"/>
                  <a:pt x="30368" y="78768"/>
                  <a:pt x="33857" y="82257"/>
                </a:cubicBezTo>
                <a:cubicBezTo>
                  <a:pt x="37346" y="85746"/>
                  <a:pt x="43013" y="85746"/>
                  <a:pt x="46502" y="82257"/>
                </a:cubicBezTo>
                <a:lnTo>
                  <a:pt x="66989" y="61769"/>
                </a:lnTo>
                <a:lnTo>
                  <a:pt x="83011" y="77791"/>
                </a:lnTo>
                <a:cubicBezTo>
                  <a:pt x="86500" y="81280"/>
                  <a:pt x="92166" y="81280"/>
                  <a:pt x="95655" y="77791"/>
                </a:cubicBezTo>
                <a:lnTo>
                  <a:pt x="131382" y="42064"/>
                </a:lnTo>
                <a:close/>
              </a:path>
            </a:pathLst>
          </a:custGeom>
          <a:solidFill>
            <a:srgbClr val="1A3A52"/>
          </a:solidFill>
          <a:ln/>
        </p:spPr>
      </p:sp>
      <p:sp>
        <p:nvSpPr>
          <p:cNvPr id="34" name="Text 32"/>
          <p:cNvSpPr/>
          <p:nvPr/>
        </p:nvSpPr>
        <p:spPr>
          <a:xfrm>
            <a:off x="7968715" y="2983244"/>
            <a:ext cx="893187" cy="214365"/>
          </a:xfrm>
          <a:prstGeom prst="rect">
            <a:avLst/>
          </a:prstGeom>
          <a:noFill/>
          <a:ln/>
        </p:spPr>
        <p:txBody>
          <a:bodyPr wrap="square" lIns="0" tIns="0" rIns="0" bIns="0" rtlCol="0" anchor="ctr"/>
          <a:lstStyle/>
          <a:p>
            <a:pPr>
              <a:lnSpc>
                <a:spcPct val="120000"/>
              </a:lnSpc>
            </a:pPr>
            <a:r>
              <a:rPr lang="en-US" sz="1125" b="1" dirty="0">
                <a:solidFill>
                  <a:srgbClr val="1A3A52"/>
                </a:solidFill>
                <a:latin typeface="Liter" pitchFamily="34" charset="0"/>
                <a:ea typeface="Liter" pitchFamily="34" charset="-122"/>
                <a:cs typeface="Liter" pitchFamily="34" charset="-120"/>
              </a:rPr>
              <a:t>Attrition ≤ 1%</a:t>
            </a:r>
            <a:endParaRPr lang="en-US" sz="1600" dirty="0"/>
          </a:p>
        </p:txBody>
      </p:sp>
      <p:sp>
        <p:nvSpPr>
          <p:cNvPr id="35" name="Shape 33"/>
          <p:cNvSpPr/>
          <p:nvPr/>
        </p:nvSpPr>
        <p:spPr>
          <a:xfrm>
            <a:off x="7593577" y="3376246"/>
            <a:ext cx="1982875" cy="428730"/>
          </a:xfrm>
          <a:custGeom>
            <a:avLst/>
            <a:gdLst/>
            <a:ahLst/>
            <a:cxnLst/>
            <a:rect l="l" t="t" r="r" b="b"/>
            <a:pathLst>
              <a:path w="1982875" h="428730">
                <a:moveTo>
                  <a:pt x="35727" y="0"/>
                </a:moveTo>
                <a:lnTo>
                  <a:pt x="1911418" y="0"/>
                </a:lnTo>
                <a:cubicBezTo>
                  <a:pt x="1950883" y="0"/>
                  <a:pt x="1982875" y="31992"/>
                  <a:pt x="1982875" y="71456"/>
                </a:cubicBezTo>
                <a:lnTo>
                  <a:pt x="1982875" y="357273"/>
                </a:lnTo>
                <a:cubicBezTo>
                  <a:pt x="1982875" y="396738"/>
                  <a:pt x="1950883" y="428730"/>
                  <a:pt x="1911418" y="428730"/>
                </a:cubicBezTo>
                <a:lnTo>
                  <a:pt x="35727" y="428730"/>
                </a:lnTo>
                <a:cubicBezTo>
                  <a:pt x="15996" y="428730"/>
                  <a:pt x="0" y="412734"/>
                  <a:pt x="0" y="393002"/>
                </a:cubicBezTo>
                <a:lnTo>
                  <a:pt x="0" y="35727"/>
                </a:lnTo>
                <a:cubicBezTo>
                  <a:pt x="0" y="16009"/>
                  <a:pt x="16009" y="0"/>
                  <a:pt x="35727" y="0"/>
                </a:cubicBezTo>
                <a:close/>
              </a:path>
            </a:pathLst>
          </a:custGeom>
          <a:solidFill>
            <a:srgbClr val="FFFFFF"/>
          </a:solidFill>
          <a:ln/>
          <a:effectLst>
            <a:outerShdw blurRad="133978" dist="89319" dir="5400000" algn="bl" rotWithShape="0">
              <a:srgbClr val="000000">
                <a:alpha val="10196"/>
              </a:srgbClr>
            </a:outerShdw>
          </a:effectLst>
        </p:spPr>
      </p:sp>
      <p:sp>
        <p:nvSpPr>
          <p:cNvPr id="36" name="Shape 34"/>
          <p:cNvSpPr/>
          <p:nvPr/>
        </p:nvSpPr>
        <p:spPr>
          <a:xfrm>
            <a:off x="7593577" y="3376246"/>
            <a:ext cx="35727" cy="428730"/>
          </a:xfrm>
          <a:custGeom>
            <a:avLst/>
            <a:gdLst/>
            <a:ahLst/>
            <a:cxnLst/>
            <a:rect l="l" t="t" r="r" b="b"/>
            <a:pathLst>
              <a:path w="35727" h="428730">
                <a:moveTo>
                  <a:pt x="35727" y="0"/>
                </a:moveTo>
                <a:lnTo>
                  <a:pt x="35727" y="0"/>
                </a:lnTo>
                <a:lnTo>
                  <a:pt x="35727" y="428730"/>
                </a:lnTo>
                <a:lnTo>
                  <a:pt x="35727" y="428730"/>
                </a:lnTo>
                <a:cubicBezTo>
                  <a:pt x="15996" y="428730"/>
                  <a:pt x="0" y="412734"/>
                  <a:pt x="0" y="393002"/>
                </a:cubicBezTo>
                <a:lnTo>
                  <a:pt x="0" y="35727"/>
                </a:lnTo>
                <a:cubicBezTo>
                  <a:pt x="0" y="15996"/>
                  <a:pt x="15996" y="0"/>
                  <a:pt x="35727" y="0"/>
                </a:cubicBezTo>
                <a:close/>
              </a:path>
            </a:pathLst>
          </a:custGeom>
          <a:solidFill>
            <a:srgbClr val="C5A56A"/>
          </a:solidFill>
          <a:ln/>
        </p:spPr>
      </p:sp>
      <p:sp>
        <p:nvSpPr>
          <p:cNvPr id="37" name="Shape 35"/>
          <p:cNvSpPr/>
          <p:nvPr/>
        </p:nvSpPr>
        <p:spPr>
          <a:xfrm>
            <a:off x="7754350" y="3519156"/>
            <a:ext cx="107182" cy="142910"/>
          </a:xfrm>
          <a:custGeom>
            <a:avLst/>
            <a:gdLst/>
            <a:ahLst/>
            <a:cxnLst/>
            <a:rect l="l" t="t" r="r" b="b"/>
            <a:pathLst>
              <a:path w="107182" h="142910">
                <a:moveTo>
                  <a:pt x="47283" y="2624"/>
                </a:moveTo>
                <a:cubicBezTo>
                  <a:pt x="50772" y="-865"/>
                  <a:pt x="56438" y="-865"/>
                  <a:pt x="59927" y="2624"/>
                </a:cubicBezTo>
                <a:lnTo>
                  <a:pt x="95655" y="38351"/>
                </a:lnTo>
                <a:cubicBezTo>
                  <a:pt x="98223" y="40919"/>
                  <a:pt x="98976" y="44743"/>
                  <a:pt x="97581" y="48093"/>
                </a:cubicBezTo>
                <a:cubicBezTo>
                  <a:pt x="96185" y="51442"/>
                  <a:pt x="92919" y="53591"/>
                  <a:pt x="89319" y="53591"/>
                </a:cubicBezTo>
                <a:lnTo>
                  <a:pt x="71455" y="53591"/>
                </a:lnTo>
                <a:lnTo>
                  <a:pt x="71455" y="98251"/>
                </a:lnTo>
                <a:cubicBezTo>
                  <a:pt x="71455" y="122925"/>
                  <a:pt x="51470" y="142910"/>
                  <a:pt x="26796" y="142910"/>
                </a:cubicBezTo>
                <a:lnTo>
                  <a:pt x="8932" y="142910"/>
                </a:lnTo>
                <a:cubicBezTo>
                  <a:pt x="3991" y="142910"/>
                  <a:pt x="0" y="138918"/>
                  <a:pt x="0" y="133978"/>
                </a:cubicBezTo>
                <a:lnTo>
                  <a:pt x="0" y="116114"/>
                </a:lnTo>
                <a:cubicBezTo>
                  <a:pt x="0" y="111174"/>
                  <a:pt x="3991" y="107182"/>
                  <a:pt x="8932" y="107182"/>
                </a:cubicBezTo>
                <a:lnTo>
                  <a:pt x="26796" y="107182"/>
                </a:lnTo>
                <a:cubicBezTo>
                  <a:pt x="31736" y="107182"/>
                  <a:pt x="35727" y="103191"/>
                  <a:pt x="35727" y="98251"/>
                </a:cubicBezTo>
                <a:lnTo>
                  <a:pt x="35727" y="53591"/>
                </a:lnTo>
                <a:lnTo>
                  <a:pt x="17864" y="53591"/>
                </a:lnTo>
                <a:cubicBezTo>
                  <a:pt x="14263" y="53591"/>
                  <a:pt x="10997" y="51414"/>
                  <a:pt x="9602" y="48065"/>
                </a:cubicBezTo>
                <a:cubicBezTo>
                  <a:pt x="8206" y="44715"/>
                  <a:pt x="8988" y="40891"/>
                  <a:pt x="11528" y="38323"/>
                </a:cubicBezTo>
                <a:lnTo>
                  <a:pt x="47255" y="2596"/>
                </a:lnTo>
                <a:close/>
              </a:path>
            </a:pathLst>
          </a:custGeom>
          <a:solidFill>
            <a:srgbClr val="1A3A52"/>
          </a:solidFill>
          <a:ln/>
        </p:spPr>
      </p:sp>
      <p:sp>
        <p:nvSpPr>
          <p:cNvPr id="38" name="Text 36"/>
          <p:cNvSpPr/>
          <p:nvPr/>
        </p:nvSpPr>
        <p:spPr>
          <a:xfrm>
            <a:off x="7968715" y="3483429"/>
            <a:ext cx="1223666" cy="214365"/>
          </a:xfrm>
          <a:prstGeom prst="rect">
            <a:avLst/>
          </a:prstGeom>
          <a:noFill/>
          <a:ln/>
        </p:spPr>
        <p:txBody>
          <a:bodyPr wrap="square" lIns="0" tIns="0" rIns="0" bIns="0" rtlCol="0" anchor="ctr"/>
          <a:lstStyle/>
          <a:p>
            <a:pPr>
              <a:lnSpc>
                <a:spcPct val="120000"/>
              </a:lnSpc>
            </a:pPr>
            <a:r>
              <a:rPr lang="en-US" sz="1125" b="1" dirty="0">
                <a:solidFill>
                  <a:srgbClr val="1A3A52"/>
                </a:solidFill>
                <a:latin typeface="Liter" pitchFamily="34" charset="0"/>
                <a:ea typeface="Liter" pitchFamily="34" charset="-122"/>
                <a:cs typeface="Liter" pitchFamily="34" charset="-120"/>
              </a:rPr>
              <a:t>Faster Promotions</a:t>
            </a:r>
            <a:endParaRPr lang="en-US" sz="1600" dirty="0"/>
          </a:p>
        </p:txBody>
      </p:sp>
      <p:sp>
        <p:nvSpPr>
          <p:cNvPr id="39" name="Shape 37"/>
          <p:cNvSpPr/>
          <p:nvPr/>
        </p:nvSpPr>
        <p:spPr>
          <a:xfrm>
            <a:off x="7593577" y="3876431"/>
            <a:ext cx="1982875" cy="428730"/>
          </a:xfrm>
          <a:custGeom>
            <a:avLst/>
            <a:gdLst/>
            <a:ahLst/>
            <a:cxnLst/>
            <a:rect l="l" t="t" r="r" b="b"/>
            <a:pathLst>
              <a:path w="1982875" h="428730">
                <a:moveTo>
                  <a:pt x="35727" y="0"/>
                </a:moveTo>
                <a:lnTo>
                  <a:pt x="1911418" y="0"/>
                </a:lnTo>
                <a:cubicBezTo>
                  <a:pt x="1950883" y="0"/>
                  <a:pt x="1982875" y="31992"/>
                  <a:pt x="1982875" y="71456"/>
                </a:cubicBezTo>
                <a:lnTo>
                  <a:pt x="1982875" y="357273"/>
                </a:lnTo>
                <a:cubicBezTo>
                  <a:pt x="1982875" y="396738"/>
                  <a:pt x="1950883" y="428730"/>
                  <a:pt x="1911418" y="428730"/>
                </a:cubicBezTo>
                <a:lnTo>
                  <a:pt x="35727" y="428730"/>
                </a:lnTo>
                <a:cubicBezTo>
                  <a:pt x="15996" y="428730"/>
                  <a:pt x="0" y="412734"/>
                  <a:pt x="0" y="393002"/>
                </a:cubicBezTo>
                <a:lnTo>
                  <a:pt x="0" y="35727"/>
                </a:lnTo>
                <a:cubicBezTo>
                  <a:pt x="0" y="16009"/>
                  <a:pt x="16009" y="0"/>
                  <a:pt x="35727" y="0"/>
                </a:cubicBezTo>
                <a:close/>
              </a:path>
            </a:pathLst>
          </a:custGeom>
          <a:solidFill>
            <a:srgbClr val="FFFFFF"/>
          </a:solidFill>
          <a:ln/>
          <a:effectLst>
            <a:outerShdw blurRad="133978" dist="89319" dir="5400000" algn="bl" rotWithShape="0">
              <a:srgbClr val="000000">
                <a:alpha val="10196"/>
              </a:srgbClr>
            </a:outerShdw>
          </a:effectLst>
        </p:spPr>
      </p:sp>
      <p:sp>
        <p:nvSpPr>
          <p:cNvPr id="40" name="Shape 38"/>
          <p:cNvSpPr/>
          <p:nvPr/>
        </p:nvSpPr>
        <p:spPr>
          <a:xfrm>
            <a:off x="7593577" y="3876431"/>
            <a:ext cx="35727" cy="428730"/>
          </a:xfrm>
          <a:custGeom>
            <a:avLst/>
            <a:gdLst/>
            <a:ahLst/>
            <a:cxnLst/>
            <a:rect l="l" t="t" r="r" b="b"/>
            <a:pathLst>
              <a:path w="35727" h="428730">
                <a:moveTo>
                  <a:pt x="35727" y="0"/>
                </a:moveTo>
                <a:lnTo>
                  <a:pt x="35727" y="0"/>
                </a:lnTo>
                <a:lnTo>
                  <a:pt x="35727" y="428730"/>
                </a:lnTo>
                <a:lnTo>
                  <a:pt x="35727" y="428730"/>
                </a:lnTo>
                <a:cubicBezTo>
                  <a:pt x="15996" y="428730"/>
                  <a:pt x="0" y="412734"/>
                  <a:pt x="0" y="393002"/>
                </a:cubicBezTo>
                <a:lnTo>
                  <a:pt x="0" y="35727"/>
                </a:lnTo>
                <a:cubicBezTo>
                  <a:pt x="0" y="15996"/>
                  <a:pt x="15996" y="0"/>
                  <a:pt x="35727" y="0"/>
                </a:cubicBezTo>
                <a:close/>
              </a:path>
            </a:pathLst>
          </a:custGeom>
          <a:solidFill>
            <a:srgbClr val="C5A56A"/>
          </a:solidFill>
          <a:ln/>
        </p:spPr>
      </p:sp>
      <p:sp>
        <p:nvSpPr>
          <p:cNvPr id="41" name="Shape 39"/>
          <p:cNvSpPr/>
          <p:nvPr/>
        </p:nvSpPr>
        <p:spPr>
          <a:xfrm>
            <a:off x="7727555" y="4019341"/>
            <a:ext cx="160774" cy="142910"/>
          </a:xfrm>
          <a:custGeom>
            <a:avLst/>
            <a:gdLst/>
            <a:ahLst/>
            <a:cxnLst/>
            <a:rect l="l" t="t" r="r" b="b"/>
            <a:pathLst>
              <a:path w="160774" h="142910">
                <a:moveTo>
                  <a:pt x="80387" y="-4466"/>
                </a:moveTo>
                <a:cubicBezTo>
                  <a:pt x="76675" y="-4466"/>
                  <a:pt x="73688" y="-1479"/>
                  <a:pt x="73688" y="2233"/>
                </a:cubicBezTo>
                <a:lnTo>
                  <a:pt x="73688" y="5582"/>
                </a:lnTo>
                <a:lnTo>
                  <a:pt x="73185" y="5582"/>
                </a:lnTo>
                <a:cubicBezTo>
                  <a:pt x="62970" y="5582"/>
                  <a:pt x="54708" y="13872"/>
                  <a:pt x="54708" y="24060"/>
                </a:cubicBezTo>
                <a:cubicBezTo>
                  <a:pt x="54708" y="33383"/>
                  <a:pt x="61658" y="41254"/>
                  <a:pt x="70897" y="42398"/>
                </a:cubicBezTo>
                <a:lnTo>
                  <a:pt x="87923" y="44520"/>
                </a:lnTo>
                <a:cubicBezTo>
                  <a:pt x="89347" y="44687"/>
                  <a:pt x="90435" y="45915"/>
                  <a:pt x="90435" y="47367"/>
                </a:cubicBezTo>
                <a:cubicBezTo>
                  <a:pt x="90435" y="48958"/>
                  <a:pt x="89151" y="50214"/>
                  <a:pt x="87588" y="50214"/>
                </a:cubicBezTo>
                <a:lnTo>
                  <a:pt x="66989" y="50242"/>
                </a:lnTo>
                <a:cubicBezTo>
                  <a:pt x="62663" y="50242"/>
                  <a:pt x="59174" y="53731"/>
                  <a:pt x="59174" y="58057"/>
                </a:cubicBezTo>
                <a:cubicBezTo>
                  <a:pt x="59174" y="62384"/>
                  <a:pt x="62663" y="65873"/>
                  <a:pt x="66989" y="65873"/>
                </a:cubicBezTo>
                <a:lnTo>
                  <a:pt x="73688" y="65873"/>
                </a:lnTo>
                <a:lnTo>
                  <a:pt x="73688" y="69222"/>
                </a:lnTo>
                <a:cubicBezTo>
                  <a:pt x="73688" y="72934"/>
                  <a:pt x="76675" y="75921"/>
                  <a:pt x="80387" y="75921"/>
                </a:cubicBezTo>
                <a:cubicBezTo>
                  <a:pt x="84099" y="75921"/>
                  <a:pt x="87086" y="72934"/>
                  <a:pt x="87086" y="69222"/>
                </a:cubicBezTo>
                <a:lnTo>
                  <a:pt x="87086" y="65873"/>
                </a:lnTo>
                <a:lnTo>
                  <a:pt x="87588" y="65873"/>
                </a:lnTo>
                <a:cubicBezTo>
                  <a:pt x="97804" y="65873"/>
                  <a:pt x="106066" y="57583"/>
                  <a:pt x="106066" y="47395"/>
                </a:cubicBezTo>
                <a:cubicBezTo>
                  <a:pt x="106066" y="38072"/>
                  <a:pt x="99116" y="30201"/>
                  <a:pt x="89877" y="29056"/>
                </a:cubicBezTo>
                <a:lnTo>
                  <a:pt x="72851" y="26935"/>
                </a:lnTo>
                <a:cubicBezTo>
                  <a:pt x="71427" y="26768"/>
                  <a:pt x="70338" y="25540"/>
                  <a:pt x="70338" y="24088"/>
                </a:cubicBezTo>
                <a:cubicBezTo>
                  <a:pt x="70338" y="22497"/>
                  <a:pt x="71622" y="21241"/>
                  <a:pt x="73185" y="21241"/>
                </a:cubicBezTo>
                <a:lnTo>
                  <a:pt x="91552" y="21213"/>
                </a:lnTo>
                <a:cubicBezTo>
                  <a:pt x="95878" y="21213"/>
                  <a:pt x="99367" y="17724"/>
                  <a:pt x="99367" y="13398"/>
                </a:cubicBezTo>
                <a:cubicBezTo>
                  <a:pt x="99367" y="9071"/>
                  <a:pt x="95878" y="5582"/>
                  <a:pt x="91552" y="5582"/>
                </a:cubicBezTo>
                <a:lnTo>
                  <a:pt x="87086" y="5582"/>
                </a:lnTo>
                <a:lnTo>
                  <a:pt x="87086" y="2233"/>
                </a:lnTo>
                <a:cubicBezTo>
                  <a:pt x="87086" y="-1479"/>
                  <a:pt x="84099" y="-4466"/>
                  <a:pt x="80387" y="-4466"/>
                </a:cubicBezTo>
                <a:close/>
                <a:moveTo>
                  <a:pt x="30508" y="95320"/>
                </a:moveTo>
                <a:lnTo>
                  <a:pt x="18617" y="107182"/>
                </a:lnTo>
                <a:lnTo>
                  <a:pt x="8932" y="107182"/>
                </a:lnTo>
                <a:cubicBezTo>
                  <a:pt x="3991" y="107182"/>
                  <a:pt x="0" y="111174"/>
                  <a:pt x="0" y="116114"/>
                </a:cubicBezTo>
                <a:lnTo>
                  <a:pt x="0" y="133978"/>
                </a:lnTo>
                <a:cubicBezTo>
                  <a:pt x="0" y="138918"/>
                  <a:pt x="3991" y="142910"/>
                  <a:pt x="8932" y="142910"/>
                </a:cubicBezTo>
                <a:lnTo>
                  <a:pt x="98390" y="142910"/>
                </a:lnTo>
                <a:cubicBezTo>
                  <a:pt x="106485" y="142910"/>
                  <a:pt x="114384" y="140314"/>
                  <a:pt x="120915" y="135513"/>
                </a:cubicBezTo>
                <a:lnTo>
                  <a:pt x="156252" y="109471"/>
                </a:lnTo>
                <a:cubicBezTo>
                  <a:pt x="161220" y="105815"/>
                  <a:pt x="162281" y="98837"/>
                  <a:pt x="158624" y="93868"/>
                </a:cubicBezTo>
                <a:cubicBezTo>
                  <a:pt x="154968" y="88900"/>
                  <a:pt x="147990" y="87839"/>
                  <a:pt x="143022" y="91496"/>
                </a:cubicBezTo>
                <a:lnTo>
                  <a:pt x="109583" y="116114"/>
                </a:lnTo>
                <a:lnTo>
                  <a:pt x="78154" y="116114"/>
                </a:lnTo>
                <a:cubicBezTo>
                  <a:pt x="74442" y="116114"/>
                  <a:pt x="71455" y="113128"/>
                  <a:pt x="71455" y="109415"/>
                </a:cubicBezTo>
                <a:cubicBezTo>
                  <a:pt x="71455" y="105703"/>
                  <a:pt x="74442" y="102716"/>
                  <a:pt x="78154" y="102716"/>
                </a:cubicBezTo>
                <a:lnTo>
                  <a:pt x="98251" y="102716"/>
                </a:lnTo>
                <a:cubicBezTo>
                  <a:pt x="103191" y="102716"/>
                  <a:pt x="107182" y="98725"/>
                  <a:pt x="107182" y="93785"/>
                </a:cubicBezTo>
                <a:cubicBezTo>
                  <a:pt x="107182" y="88844"/>
                  <a:pt x="103191" y="84853"/>
                  <a:pt x="98251" y="84853"/>
                </a:cubicBezTo>
                <a:lnTo>
                  <a:pt x="55768" y="84853"/>
                </a:lnTo>
                <a:cubicBezTo>
                  <a:pt x="46306" y="84853"/>
                  <a:pt x="37207" y="88621"/>
                  <a:pt x="30508" y="95320"/>
                </a:cubicBezTo>
                <a:close/>
              </a:path>
            </a:pathLst>
          </a:custGeom>
          <a:solidFill>
            <a:srgbClr val="1A3A52"/>
          </a:solidFill>
          <a:ln/>
        </p:spPr>
      </p:sp>
      <p:sp>
        <p:nvSpPr>
          <p:cNvPr id="42" name="Text 40"/>
          <p:cNvSpPr/>
          <p:nvPr/>
        </p:nvSpPr>
        <p:spPr>
          <a:xfrm>
            <a:off x="7968715" y="3983613"/>
            <a:ext cx="1107552" cy="214365"/>
          </a:xfrm>
          <a:prstGeom prst="rect">
            <a:avLst/>
          </a:prstGeom>
          <a:noFill/>
          <a:ln/>
        </p:spPr>
        <p:txBody>
          <a:bodyPr wrap="square" lIns="0" tIns="0" rIns="0" bIns="0" rtlCol="0" anchor="ctr"/>
          <a:lstStyle/>
          <a:p>
            <a:pPr>
              <a:lnSpc>
                <a:spcPct val="120000"/>
              </a:lnSpc>
            </a:pPr>
            <a:r>
              <a:rPr lang="en-US" sz="1125" b="1" dirty="0">
                <a:solidFill>
                  <a:srgbClr val="1A3A52"/>
                </a:solidFill>
                <a:latin typeface="Liter" pitchFamily="34" charset="0"/>
                <a:ea typeface="Liter" pitchFamily="34" charset="-122"/>
                <a:cs typeface="Liter" pitchFamily="34" charset="-120"/>
              </a:rPr>
              <a:t>Competitive Pay</a:t>
            </a:r>
            <a:endParaRPr lang="en-US" sz="1600" dirty="0"/>
          </a:p>
        </p:txBody>
      </p:sp>
      <p:sp>
        <p:nvSpPr>
          <p:cNvPr id="43" name="Shape 41"/>
          <p:cNvSpPr/>
          <p:nvPr/>
        </p:nvSpPr>
        <p:spPr>
          <a:xfrm>
            <a:off x="7593577" y="4376615"/>
            <a:ext cx="1982875" cy="428730"/>
          </a:xfrm>
          <a:custGeom>
            <a:avLst/>
            <a:gdLst/>
            <a:ahLst/>
            <a:cxnLst/>
            <a:rect l="l" t="t" r="r" b="b"/>
            <a:pathLst>
              <a:path w="1982875" h="428730">
                <a:moveTo>
                  <a:pt x="35727" y="0"/>
                </a:moveTo>
                <a:lnTo>
                  <a:pt x="1911418" y="0"/>
                </a:lnTo>
                <a:cubicBezTo>
                  <a:pt x="1950883" y="0"/>
                  <a:pt x="1982875" y="31992"/>
                  <a:pt x="1982875" y="71456"/>
                </a:cubicBezTo>
                <a:lnTo>
                  <a:pt x="1982875" y="357273"/>
                </a:lnTo>
                <a:cubicBezTo>
                  <a:pt x="1982875" y="396738"/>
                  <a:pt x="1950883" y="428730"/>
                  <a:pt x="1911418" y="428730"/>
                </a:cubicBezTo>
                <a:lnTo>
                  <a:pt x="35727" y="428730"/>
                </a:lnTo>
                <a:cubicBezTo>
                  <a:pt x="15996" y="428730"/>
                  <a:pt x="0" y="412734"/>
                  <a:pt x="0" y="393002"/>
                </a:cubicBezTo>
                <a:lnTo>
                  <a:pt x="0" y="35727"/>
                </a:lnTo>
                <a:cubicBezTo>
                  <a:pt x="0" y="16009"/>
                  <a:pt x="16009" y="0"/>
                  <a:pt x="35727" y="0"/>
                </a:cubicBezTo>
                <a:close/>
              </a:path>
            </a:pathLst>
          </a:custGeom>
          <a:solidFill>
            <a:srgbClr val="FFFFFF"/>
          </a:solidFill>
          <a:ln/>
          <a:effectLst>
            <a:outerShdw blurRad="133978" dist="89319" dir="5400000" algn="bl" rotWithShape="0">
              <a:srgbClr val="000000">
                <a:alpha val="10196"/>
              </a:srgbClr>
            </a:outerShdw>
          </a:effectLst>
        </p:spPr>
      </p:sp>
      <p:sp>
        <p:nvSpPr>
          <p:cNvPr id="44" name="Shape 42"/>
          <p:cNvSpPr/>
          <p:nvPr/>
        </p:nvSpPr>
        <p:spPr>
          <a:xfrm>
            <a:off x="7593577" y="4376615"/>
            <a:ext cx="35727" cy="428730"/>
          </a:xfrm>
          <a:custGeom>
            <a:avLst/>
            <a:gdLst/>
            <a:ahLst/>
            <a:cxnLst/>
            <a:rect l="l" t="t" r="r" b="b"/>
            <a:pathLst>
              <a:path w="35727" h="428730">
                <a:moveTo>
                  <a:pt x="35727" y="0"/>
                </a:moveTo>
                <a:lnTo>
                  <a:pt x="35727" y="0"/>
                </a:lnTo>
                <a:lnTo>
                  <a:pt x="35727" y="428730"/>
                </a:lnTo>
                <a:lnTo>
                  <a:pt x="35727" y="428730"/>
                </a:lnTo>
                <a:cubicBezTo>
                  <a:pt x="15996" y="428730"/>
                  <a:pt x="0" y="412734"/>
                  <a:pt x="0" y="393002"/>
                </a:cubicBezTo>
                <a:lnTo>
                  <a:pt x="0" y="35727"/>
                </a:lnTo>
                <a:cubicBezTo>
                  <a:pt x="0" y="15996"/>
                  <a:pt x="15996" y="0"/>
                  <a:pt x="35727" y="0"/>
                </a:cubicBezTo>
                <a:close/>
              </a:path>
            </a:pathLst>
          </a:custGeom>
          <a:solidFill>
            <a:srgbClr val="C5A56A"/>
          </a:solidFill>
          <a:ln/>
        </p:spPr>
      </p:sp>
      <p:sp>
        <p:nvSpPr>
          <p:cNvPr id="45" name="Shape 43"/>
          <p:cNvSpPr/>
          <p:nvPr/>
        </p:nvSpPr>
        <p:spPr>
          <a:xfrm>
            <a:off x="7736487" y="4519525"/>
            <a:ext cx="142910" cy="142910"/>
          </a:xfrm>
          <a:custGeom>
            <a:avLst/>
            <a:gdLst/>
            <a:ahLst/>
            <a:cxnLst/>
            <a:rect l="l" t="t" r="r" b="b"/>
            <a:pathLst>
              <a:path w="142910" h="142910">
                <a:moveTo>
                  <a:pt x="71455" y="0"/>
                </a:moveTo>
                <a:cubicBezTo>
                  <a:pt x="110892" y="0"/>
                  <a:pt x="142910" y="32018"/>
                  <a:pt x="142910" y="71455"/>
                </a:cubicBezTo>
                <a:cubicBezTo>
                  <a:pt x="142910" y="110892"/>
                  <a:pt x="110892" y="142910"/>
                  <a:pt x="71455" y="142910"/>
                </a:cubicBezTo>
                <a:cubicBezTo>
                  <a:pt x="32018" y="142910"/>
                  <a:pt x="0" y="110892"/>
                  <a:pt x="0" y="71455"/>
                </a:cubicBezTo>
                <a:cubicBezTo>
                  <a:pt x="0" y="32018"/>
                  <a:pt x="32018" y="0"/>
                  <a:pt x="71455" y="0"/>
                </a:cubicBezTo>
                <a:close/>
                <a:moveTo>
                  <a:pt x="64756" y="33495"/>
                </a:moveTo>
                <a:lnTo>
                  <a:pt x="64756" y="71455"/>
                </a:lnTo>
                <a:cubicBezTo>
                  <a:pt x="64756" y="73688"/>
                  <a:pt x="65873" y="75781"/>
                  <a:pt x="67743" y="77037"/>
                </a:cubicBezTo>
                <a:lnTo>
                  <a:pt x="94538" y="94901"/>
                </a:lnTo>
                <a:cubicBezTo>
                  <a:pt x="97609" y="96967"/>
                  <a:pt x="101767" y="96129"/>
                  <a:pt x="103833" y="93031"/>
                </a:cubicBezTo>
                <a:cubicBezTo>
                  <a:pt x="105898" y="89933"/>
                  <a:pt x="105061" y="85802"/>
                  <a:pt x="101963" y="83736"/>
                </a:cubicBezTo>
                <a:lnTo>
                  <a:pt x="78154" y="67882"/>
                </a:lnTo>
                <a:lnTo>
                  <a:pt x="78154" y="33495"/>
                </a:lnTo>
                <a:cubicBezTo>
                  <a:pt x="78154" y="29782"/>
                  <a:pt x="75167" y="26796"/>
                  <a:pt x="71455" y="26796"/>
                </a:cubicBezTo>
                <a:cubicBezTo>
                  <a:pt x="67743" y="26796"/>
                  <a:pt x="64756" y="29782"/>
                  <a:pt x="64756" y="33495"/>
                </a:cubicBezTo>
                <a:close/>
              </a:path>
            </a:pathLst>
          </a:custGeom>
          <a:solidFill>
            <a:srgbClr val="1A3A52"/>
          </a:solidFill>
          <a:ln/>
        </p:spPr>
      </p:sp>
      <p:sp>
        <p:nvSpPr>
          <p:cNvPr id="46" name="Text 44"/>
          <p:cNvSpPr/>
          <p:nvPr/>
        </p:nvSpPr>
        <p:spPr>
          <a:xfrm>
            <a:off x="7968715" y="4483798"/>
            <a:ext cx="1125415" cy="214365"/>
          </a:xfrm>
          <a:prstGeom prst="rect">
            <a:avLst/>
          </a:prstGeom>
          <a:noFill/>
          <a:ln/>
        </p:spPr>
        <p:txBody>
          <a:bodyPr wrap="square" lIns="0" tIns="0" rIns="0" bIns="0" rtlCol="0" anchor="ctr"/>
          <a:lstStyle/>
          <a:p>
            <a:pPr>
              <a:lnSpc>
                <a:spcPct val="120000"/>
              </a:lnSpc>
            </a:pPr>
            <a:r>
              <a:rPr lang="en-US" sz="1125" b="1" dirty="0">
                <a:solidFill>
                  <a:srgbClr val="1A3A52"/>
                </a:solidFill>
                <a:latin typeface="Liter" pitchFamily="34" charset="0"/>
                <a:ea typeface="Liter" pitchFamily="34" charset="-122"/>
                <a:cs typeface="Liter" pitchFamily="34" charset="-120"/>
              </a:rPr>
              <a:t>9-Hour Workday</a:t>
            </a:r>
            <a:endParaRPr lang="en-US" sz="1600" dirty="0"/>
          </a:p>
        </p:txBody>
      </p:sp>
      <p:sp>
        <p:nvSpPr>
          <p:cNvPr id="47" name="Shape 45"/>
          <p:cNvSpPr/>
          <p:nvPr/>
        </p:nvSpPr>
        <p:spPr>
          <a:xfrm>
            <a:off x="7593577" y="4876800"/>
            <a:ext cx="1982875" cy="428730"/>
          </a:xfrm>
          <a:custGeom>
            <a:avLst/>
            <a:gdLst/>
            <a:ahLst/>
            <a:cxnLst/>
            <a:rect l="l" t="t" r="r" b="b"/>
            <a:pathLst>
              <a:path w="1982875" h="428730">
                <a:moveTo>
                  <a:pt x="35727" y="0"/>
                </a:moveTo>
                <a:lnTo>
                  <a:pt x="1911418" y="0"/>
                </a:lnTo>
                <a:cubicBezTo>
                  <a:pt x="1950883" y="0"/>
                  <a:pt x="1982875" y="31992"/>
                  <a:pt x="1982875" y="71456"/>
                </a:cubicBezTo>
                <a:lnTo>
                  <a:pt x="1982875" y="357273"/>
                </a:lnTo>
                <a:cubicBezTo>
                  <a:pt x="1982875" y="396738"/>
                  <a:pt x="1950883" y="428730"/>
                  <a:pt x="1911418" y="428730"/>
                </a:cubicBezTo>
                <a:lnTo>
                  <a:pt x="35727" y="428730"/>
                </a:lnTo>
                <a:cubicBezTo>
                  <a:pt x="15996" y="428730"/>
                  <a:pt x="0" y="412734"/>
                  <a:pt x="0" y="393002"/>
                </a:cubicBezTo>
                <a:lnTo>
                  <a:pt x="0" y="35727"/>
                </a:lnTo>
                <a:cubicBezTo>
                  <a:pt x="0" y="16009"/>
                  <a:pt x="16009" y="0"/>
                  <a:pt x="35727" y="0"/>
                </a:cubicBezTo>
                <a:close/>
              </a:path>
            </a:pathLst>
          </a:custGeom>
          <a:solidFill>
            <a:srgbClr val="FFFFFF"/>
          </a:solidFill>
          <a:ln/>
          <a:effectLst>
            <a:outerShdw blurRad="133978" dist="89319" dir="5400000" algn="bl" rotWithShape="0">
              <a:srgbClr val="000000">
                <a:alpha val="10196"/>
              </a:srgbClr>
            </a:outerShdw>
          </a:effectLst>
        </p:spPr>
      </p:sp>
      <p:sp>
        <p:nvSpPr>
          <p:cNvPr id="48" name="Shape 46"/>
          <p:cNvSpPr/>
          <p:nvPr/>
        </p:nvSpPr>
        <p:spPr>
          <a:xfrm>
            <a:off x="7593577" y="4876800"/>
            <a:ext cx="35727" cy="428730"/>
          </a:xfrm>
          <a:custGeom>
            <a:avLst/>
            <a:gdLst/>
            <a:ahLst/>
            <a:cxnLst/>
            <a:rect l="l" t="t" r="r" b="b"/>
            <a:pathLst>
              <a:path w="35727" h="428730">
                <a:moveTo>
                  <a:pt x="35727" y="0"/>
                </a:moveTo>
                <a:lnTo>
                  <a:pt x="35727" y="0"/>
                </a:lnTo>
                <a:lnTo>
                  <a:pt x="35727" y="428730"/>
                </a:lnTo>
                <a:lnTo>
                  <a:pt x="35727" y="428730"/>
                </a:lnTo>
                <a:cubicBezTo>
                  <a:pt x="15996" y="428730"/>
                  <a:pt x="0" y="412734"/>
                  <a:pt x="0" y="393002"/>
                </a:cubicBezTo>
                <a:lnTo>
                  <a:pt x="0" y="35727"/>
                </a:lnTo>
                <a:cubicBezTo>
                  <a:pt x="0" y="15996"/>
                  <a:pt x="15996" y="0"/>
                  <a:pt x="35727" y="0"/>
                </a:cubicBezTo>
                <a:close/>
              </a:path>
            </a:pathLst>
          </a:custGeom>
          <a:solidFill>
            <a:srgbClr val="C5A56A"/>
          </a:solidFill>
          <a:ln/>
        </p:spPr>
      </p:sp>
      <p:sp>
        <p:nvSpPr>
          <p:cNvPr id="49" name="Shape 47"/>
          <p:cNvSpPr/>
          <p:nvPr/>
        </p:nvSpPr>
        <p:spPr>
          <a:xfrm>
            <a:off x="7727555" y="5019710"/>
            <a:ext cx="160774" cy="142910"/>
          </a:xfrm>
          <a:custGeom>
            <a:avLst/>
            <a:gdLst/>
            <a:ahLst/>
            <a:cxnLst/>
            <a:rect l="l" t="t" r="r" b="b"/>
            <a:pathLst>
              <a:path w="160774" h="142910">
                <a:moveTo>
                  <a:pt x="62551" y="27103"/>
                </a:moveTo>
                <a:lnTo>
                  <a:pt x="62551" y="40947"/>
                </a:lnTo>
                <a:lnTo>
                  <a:pt x="62691" y="41087"/>
                </a:lnTo>
                <a:cubicBezTo>
                  <a:pt x="64505" y="18087"/>
                  <a:pt x="83736" y="0"/>
                  <a:pt x="107210" y="0"/>
                </a:cubicBezTo>
                <a:cubicBezTo>
                  <a:pt x="112821" y="0"/>
                  <a:pt x="118208" y="1033"/>
                  <a:pt x="123148" y="2931"/>
                </a:cubicBezTo>
                <a:cubicBezTo>
                  <a:pt x="125939" y="3991"/>
                  <a:pt x="126442" y="7536"/>
                  <a:pt x="124348" y="9658"/>
                </a:cubicBezTo>
                <a:lnTo>
                  <a:pt x="99590" y="34416"/>
                </a:lnTo>
                <a:cubicBezTo>
                  <a:pt x="98753" y="35253"/>
                  <a:pt x="98278" y="36397"/>
                  <a:pt x="98278" y="37570"/>
                </a:cubicBezTo>
                <a:lnTo>
                  <a:pt x="98278" y="49125"/>
                </a:lnTo>
                <a:cubicBezTo>
                  <a:pt x="98278" y="51582"/>
                  <a:pt x="100288" y="53591"/>
                  <a:pt x="102744" y="53591"/>
                </a:cubicBezTo>
                <a:lnTo>
                  <a:pt x="114300" y="53591"/>
                </a:lnTo>
                <a:cubicBezTo>
                  <a:pt x="115472" y="53591"/>
                  <a:pt x="116617" y="53117"/>
                  <a:pt x="117454" y="52279"/>
                </a:cubicBezTo>
                <a:lnTo>
                  <a:pt x="142212" y="27521"/>
                </a:lnTo>
                <a:cubicBezTo>
                  <a:pt x="144333" y="25400"/>
                  <a:pt x="147878" y="25930"/>
                  <a:pt x="148939" y="28722"/>
                </a:cubicBezTo>
                <a:cubicBezTo>
                  <a:pt x="150837" y="33662"/>
                  <a:pt x="151870" y="39049"/>
                  <a:pt x="151870" y="44659"/>
                </a:cubicBezTo>
                <a:cubicBezTo>
                  <a:pt x="151870" y="61574"/>
                  <a:pt x="142463" y="76312"/>
                  <a:pt x="128563" y="83876"/>
                </a:cubicBezTo>
                <a:lnTo>
                  <a:pt x="151311" y="106624"/>
                </a:lnTo>
                <a:cubicBezTo>
                  <a:pt x="156531" y="111844"/>
                  <a:pt x="156531" y="120329"/>
                  <a:pt x="151311" y="125576"/>
                </a:cubicBezTo>
                <a:lnTo>
                  <a:pt x="134536" y="142352"/>
                </a:lnTo>
                <a:cubicBezTo>
                  <a:pt x="129317" y="147571"/>
                  <a:pt x="120831" y="147571"/>
                  <a:pt x="115584" y="142352"/>
                </a:cubicBezTo>
                <a:lnTo>
                  <a:pt x="80415" y="107182"/>
                </a:lnTo>
                <a:cubicBezTo>
                  <a:pt x="72767" y="99535"/>
                  <a:pt x="71036" y="88230"/>
                  <a:pt x="75251" y="78907"/>
                </a:cubicBezTo>
                <a:lnTo>
                  <a:pt x="49935" y="53591"/>
                </a:lnTo>
                <a:lnTo>
                  <a:pt x="36090" y="53591"/>
                </a:lnTo>
                <a:cubicBezTo>
                  <a:pt x="33104" y="53591"/>
                  <a:pt x="30313" y="52112"/>
                  <a:pt x="28666" y="49628"/>
                </a:cubicBezTo>
                <a:lnTo>
                  <a:pt x="6531" y="16440"/>
                </a:lnTo>
                <a:cubicBezTo>
                  <a:pt x="5359" y="14682"/>
                  <a:pt x="5582" y="12309"/>
                  <a:pt x="7090" y="10802"/>
                </a:cubicBezTo>
                <a:lnTo>
                  <a:pt x="19762" y="-1870"/>
                </a:lnTo>
                <a:cubicBezTo>
                  <a:pt x="21269" y="-3377"/>
                  <a:pt x="23614" y="-3601"/>
                  <a:pt x="25400" y="-2428"/>
                </a:cubicBezTo>
                <a:lnTo>
                  <a:pt x="58587" y="19678"/>
                </a:lnTo>
                <a:cubicBezTo>
                  <a:pt x="61072" y="21325"/>
                  <a:pt x="62551" y="24116"/>
                  <a:pt x="62551" y="27103"/>
                </a:cubicBezTo>
                <a:close/>
                <a:moveTo>
                  <a:pt x="60178" y="82787"/>
                </a:moveTo>
                <a:cubicBezTo>
                  <a:pt x="58420" y="93115"/>
                  <a:pt x="60848" y="104028"/>
                  <a:pt x="67547" y="112765"/>
                </a:cubicBezTo>
                <a:lnTo>
                  <a:pt x="41031" y="139253"/>
                </a:lnTo>
                <a:cubicBezTo>
                  <a:pt x="33187" y="147097"/>
                  <a:pt x="20460" y="147097"/>
                  <a:pt x="12616" y="139253"/>
                </a:cubicBezTo>
                <a:cubicBezTo>
                  <a:pt x="4773" y="131410"/>
                  <a:pt x="4773" y="118682"/>
                  <a:pt x="12616" y="110839"/>
                </a:cubicBezTo>
                <a:lnTo>
                  <a:pt x="50409" y="73046"/>
                </a:lnTo>
                <a:lnTo>
                  <a:pt x="60178" y="82815"/>
                </a:lnTo>
                <a:close/>
              </a:path>
            </a:pathLst>
          </a:custGeom>
          <a:solidFill>
            <a:srgbClr val="1A3A52"/>
          </a:solidFill>
          <a:ln/>
        </p:spPr>
      </p:sp>
      <p:sp>
        <p:nvSpPr>
          <p:cNvPr id="50" name="Text 48"/>
          <p:cNvSpPr/>
          <p:nvPr/>
        </p:nvSpPr>
        <p:spPr>
          <a:xfrm>
            <a:off x="7968715" y="4983982"/>
            <a:ext cx="1053960" cy="214365"/>
          </a:xfrm>
          <a:prstGeom prst="rect">
            <a:avLst/>
          </a:prstGeom>
          <a:noFill/>
          <a:ln/>
        </p:spPr>
        <p:txBody>
          <a:bodyPr wrap="square" lIns="0" tIns="0" rIns="0" bIns="0" rtlCol="0" anchor="ctr"/>
          <a:lstStyle/>
          <a:p>
            <a:pPr>
              <a:lnSpc>
                <a:spcPct val="120000"/>
              </a:lnSpc>
            </a:pPr>
            <a:r>
              <a:rPr lang="en-US" sz="1125" b="1" dirty="0">
                <a:solidFill>
                  <a:srgbClr val="1A3A52"/>
                </a:solidFill>
                <a:latin typeface="Liter" pitchFamily="34" charset="0"/>
                <a:ea typeface="Liter" pitchFamily="34" charset="-122"/>
                <a:cs typeface="Liter" pitchFamily="34" charset="-120"/>
              </a:rPr>
              <a:t>Skill Availability</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642FBD-5FE7-37CD-0A41-C6C6ADE61FA8}"/>
              </a:ext>
            </a:extLst>
          </p:cNvPr>
          <p:cNvSpPr txBox="1"/>
          <p:nvPr/>
        </p:nvSpPr>
        <p:spPr>
          <a:xfrm>
            <a:off x="1042219" y="283043"/>
            <a:ext cx="10264878" cy="14773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Aptos" panose="02110004020202020204"/>
                <a:ea typeface="+mn-ea"/>
                <a:cs typeface="+mn-cs"/>
              </a:rPr>
              <a:t>CTQ Tree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Aptos" panose="02110004020202020204"/>
                <a:ea typeface="+mn-ea"/>
                <a:cs typeface="+mn-cs"/>
              </a:rPr>
              <a:t>Need:</a:t>
            </a: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rPr>
              <a:t> Reduce attrition for stability &amp; cost savings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Aptos" panose="02110004020202020204"/>
                <a:ea typeface="+mn-ea"/>
                <a:cs typeface="+mn-cs"/>
              </a:rPr>
              <a:t>Drivers:</a:t>
            </a: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rPr>
              <a:t> Retention, compensation, work environment, niche skills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Aptos" panose="02110004020202020204"/>
                <a:ea typeface="+mn-ea"/>
                <a:cs typeface="+mn-cs"/>
              </a:rPr>
              <a:t>CTQs:</a:t>
            </a: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rPr>
              <a:t> Attrition ≤ 1%, faster promotions, competitive pay, 9-hour workday, skill availability</a:t>
            </a:r>
          </a:p>
        </p:txBody>
      </p:sp>
      <p:pic>
        <p:nvPicPr>
          <p:cNvPr id="4" name="Picture 3">
            <a:extLst>
              <a:ext uri="{FF2B5EF4-FFF2-40B4-BE49-F238E27FC236}">
                <a16:creationId xmlns:a16="http://schemas.microsoft.com/office/drawing/2014/main" id="{9C327BEE-6CBD-91E3-4C8F-6D4EE613F8C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93858" y="1760371"/>
            <a:ext cx="4042452" cy="4733862"/>
          </a:xfrm>
          <a:prstGeom prst="rect">
            <a:avLst/>
          </a:prstGeom>
          <a:noFill/>
          <a:ln>
            <a:noFill/>
          </a:ln>
        </p:spPr>
      </p:pic>
    </p:spTree>
    <p:extLst>
      <p:ext uri="{BB962C8B-B14F-4D97-AF65-F5344CB8AC3E}">
        <p14:creationId xmlns:p14="http://schemas.microsoft.com/office/powerpoint/2010/main" val="4058017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72844" y="372844"/>
            <a:ext cx="11520881" cy="223706"/>
          </a:xfrm>
          <a:prstGeom prst="rect">
            <a:avLst/>
          </a:prstGeom>
          <a:noFill/>
          <a:ln/>
        </p:spPr>
        <p:txBody>
          <a:bodyPr wrap="square" lIns="0" tIns="0" rIns="0" bIns="0" rtlCol="0" anchor="ctr"/>
          <a:lstStyle/>
          <a:p>
            <a:pPr>
              <a:lnSpc>
                <a:spcPct val="130000"/>
              </a:lnSpc>
            </a:pPr>
            <a:r>
              <a:rPr lang="en-US" sz="1174" b="1" kern="0" spc="117" dirty="0">
                <a:solidFill>
                  <a:srgbClr val="C5A56A"/>
                </a:solidFill>
                <a:latin typeface="Liter" pitchFamily="34" charset="0"/>
                <a:ea typeface="Liter" pitchFamily="34" charset="-122"/>
                <a:cs typeface="Liter" pitchFamily="34" charset="-120"/>
              </a:rPr>
              <a:t>Project Foundation</a:t>
            </a:r>
            <a:endParaRPr lang="en-US" sz="1600" dirty="0"/>
          </a:p>
        </p:txBody>
      </p:sp>
      <p:sp>
        <p:nvSpPr>
          <p:cNvPr id="3" name="Text 1"/>
          <p:cNvSpPr/>
          <p:nvPr/>
        </p:nvSpPr>
        <p:spPr>
          <a:xfrm>
            <a:off x="372844" y="671119"/>
            <a:ext cx="11670018" cy="447413"/>
          </a:xfrm>
          <a:prstGeom prst="rect">
            <a:avLst/>
          </a:prstGeom>
          <a:noFill/>
          <a:ln/>
        </p:spPr>
        <p:txBody>
          <a:bodyPr wrap="square" lIns="0" tIns="0" rIns="0" bIns="0" rtlCol="0" anchor="ctr"/>
          <a:lstStyle/>
          <a:p>
            <a:pPr>
              <a:lnSpc>
                <a:spcPct val="80000"/>
              </a:lnSpc>
            </a:pPr>
            <a:r>
              <a:rPr lang="en-US" sz="3523" b="1" dirty="0">
                <a:solidFill>
                  <a:srgbClr val="1A3A52"/>
                </a:solidFill>
                <a:latin typeface="Liter" pitchFamily="34" charset="0"/>
                <a:ea typeface="Liter" pitchFamily="34" charset="-122"/>
                <a:cs typeface="Liter" pitchFamily="34" charset="-120"/>
              </a:rPr>
              <a:t>Project Charter: Attrition Reduction at RAT</a:t>
            </a:r>
            <a:endParaRPr lang="en-US" sz="1600" dirty="0"/>
          </a:p>
        </p:txBody>
      </p:sp>
      <p:sp>
        <p:nvSpPr>
          <p:cNvPr id="4" name="Shape 2"/>
          <p:cNvSpPr/>
          <p:nvPr/>
        </p:nvSpPr>
        <p:spPr>
          <a:xfrm>
            <a:off x="372844" y="1230385"/>
            <a:ext cx="894826" cy="37284"/>
          </a:xfrm>
          <a:custGeom>
            <a:avLst/>
            <a:gdLst/>
            <a:ahLst/>
            <a:cxnLst/>
            <a:rect l="l" t="t" r="r" b="b"/>
            <a:pathLst>
              <a:path w="894826" h="37284">
                <a:moveTo>
                  <a:pt x="0" y="0"/>
                </a:moveTo>
                <a:lnTo>
                  <a:pt x="894826" y="0"/>
                </a:lnTo>
                <a:lnTo>
                  <a:pt x="894826" y="37284"/>
                </a:lnTo>
                <a:lnTo>
                  <a:pt x="0" y="37284"/>
                </a:lnTo>
                <a:lnTo>
                  <a:pt x="0" y="0"/>
                </a:lnTo>
                <a:close/>
              </a:path>
            </a:pathLst>
          </a:custGeom>
          <a:solidFill>
            <a:srgbClr val="C5A56A"/>
          </a:solidFill>
          <a:ln/>
        </p:spPr>
      </p:sp>
      <p:sp>
        <p:nvSpPr>
          <p:cNvPr id="5" name="Shape 3"/>
          <p:cNvSpPr/>
          <p:nvPr/>
        </p:nvSpPr>
        <p:spPr>
          <a:xfrm>
            <a:off x="372844" y="1454092"/>
            <a:ext cx="5629945" cy="2125211"/>
          </a:xfrm>
          <a:custGeom>
            <a:avLst/>
            <a:gdLst/>
            <a:ahLst/>
            <a:cxnLst/>
            <a:rect l="l" t="t" r="r" b="b"/>
            <a:pathLst>
              <a:path w="5629945" h="2125211">
                <a:moveTo>
                  <a:pt x="74574" y="0"/>
                </a:moveTo>
                <a:lnTo>
                  <a:pt x="5555371" y="0"/>
                </a:lnTo>
                <a:cubicBezTo>
                  <a:pt x="5596557" y="0"/>
                  <a:pt x="5629945" y="33388"/>
                  <a:pt x="5629945" y="74574"/>
                </a:cubicBezTo>
                <a:lnTo>
                  <a:pt x="5629945" y="2050637"/>
                </a:lnTo>
                <a:cubicBezTo>
                  <a:pt x="5629945" y="2091823"/>
                  <a:pt x="5596557" y="2125211"/>
                  <a:pt x="5555371" y="2125211"/>
                </a:cubicBezTo>
                <a:lnTo>
                  <a:pt x="74574" y="2125211"/>
                </a:lnTo>
                <a:cubicBezTo>
                  <a:pt x="33388" y="2125211"/>
                  <a:pt x="0" y="2091823"/>
                  <a:pt x="0" y="2050637"/>
                </a:cubicBezTo>
                <a:lnTo>
                  <a:pt x="0" y="74574"/>
                </a:lnTo>
                <a:cubicBezTo>
                  <a:pt x="0" y="33388"/>
                  <a:pt x="33388" y="0"/>
                  <a:pt x="74574" y="0"/>
                </a:cubicBezTo>
                <a:close/>
              </a:path>
            </a:pathLst>
          </a:custGeom>
          <a:solidFill>
            <a:srgbClr val="FFFFFF"/>
          </a:solidFill>
          <a:ln/>
          <a:effectLst>
            <a:outerShdw blurRad="139817" dist="93211" dir="5400000" algn="bl" rotWithShape="0">
              <a:srgbClr val="000000">
                <a:alpha val="10196"/>
              </a:srgbClr>
            </a:outerShdw>
          </a:effectLst>
        </p:spPr>
      </p:sp>
      <p:sp>
        <p:nvSpPr>
          <p:cNvPr id="6" name="Shape 4"/>
          <p:cNvSpPr/>
          <p:nvPr/>
        </p:nvSpPr>
        <p:spPr>
          <a:xfrm>
            <a:off x="559266" y="1659156"/>
            <a:ext cx="279633" cy="223706"/>
          </a:xfrm>
          <a:custGeom>
            <a:avLst/>
            <a:gdLst/>
            <a:ahLst/>
            <a:cxnLst/>
            <a:rect l="l" t="t" r="r" b="b"/>
            <a:pathLst>
              <a:path w="279633" h="223706">
                <a:moveTo>
                  <a:pt x="28007" y="27963"/>
                </a:moveTo>
                <a:cubicBezTo>
                  <a:pt x="28007" y="12540"/>
                  <a:pt x="40547" y="0"/>
                  <a:pt x="55970" y="0"/>
                </a:cubicBezTo>
                <a:lnTo>
                  <a:pt x="121291" y="0"/>
                </a:lnTo>
                <a:cubicBezTo>
                  <a:pt x="128719" y="0"/>
                  <a:pt x="135840" y="2927"/>
                  <a:pt x="141084" y="8171"/>
                </a:cubicBezTo>
                <a:lnTo>
                  <a:pt x="187573" y="54747"/>
                </a:lnTo>
                <a:cubicBezTo>
                  <a:pt x="192816" y="59990"/>
                  <a:pt x="195743" y="67112"/>
                  <a:pt x="195743" y="74540"/>
                </a:cubicBezTo>
                <a:lnTo>
                  <a:pt x="195743" y="117140"/>
                </a:lnTo>
                <a:lnTo>
                  <a:pt x="138069" y="174814"/>
                </a:lnTo>
                <a:lnTo>
                  <a:pt x="119674" y="174814"/>
                </a:lnTo>
                <a:lnTo>
                  <a:pt x="112640" y="151395"/>
                </a:lnTo>
                <a:cubicBezTo>
                  <a:pt x="110586" y="144535"/>
                  <a:pt x="104294" y="139860"/>
                  <a:pt x="97129" y="139860"/>
                </a:cubicBezTo>
                <a:cubicBezTo>
                  <a:pt x="92192" y="139860"/>
                  <a:pt x="87560" y="142089"/>
                  <a:pt x="84502" y="145933"/>
                </a:cubicBezTo>
                <a:lnTo>
                  <a:pt x="58242" y="178703"/>
                </a:lnTo>
                <a:cubicBezTo>
                  <a:pt x="54616" y="183203"/>
                  <a:pt x="55359" y="189845"/>
                  <a:pt x="59859" y="193427"/>
                </a:cubicBezTo>
                <a:cubicBezTo>
                  <a:pt x="64359" y="197010"/>
                  <a:pt x="71001" y="196311"/>
                  <a:pt x="74583" y="191767"/>
                </a:cubicBezTo>
                <a:lnTo>
                  <a:pt x="95163" y="166076"/>
                </a:lnTo>
                <a:lnTo>
                  <a:pt x="101804" y="188228"/>
                </a:lnTo>
                <a:cubicBezTo>
                  <a:pt x="103115" y="192685"/>
                  <a:pt x="107222" y="195699"/>
                  <a:pt x="111853" y="195699"/>
                </a:cubicBezTo>
                <a:lnTo>
                  <a:pt x="125616" y="195699"/>
                </a:lnTo>
                <a:cubicBezTo>
                  <a:pt x="125223" y="197054"/>
                  <a:pt x="124874" y="198452"/>
                  <a:pt x="124611" y="199850"/>
                </a:cubicBezTo>
                <a:lnTo>
                  <a:pt x="119849" y="223663"/>
                </a:lnTo>
                <a:lnTo>
                  <a:pt x="55970" y="223663"/>
                </a:lnTo>
                <a:cubicBezTo>
                  <a:pt x="40547" y="223663"/>
                  <a:pt x="28007" y="211123"/>
                  <a:pt x="28007" y="195699"/>
                </a:cubicBezTo>
                <a:lnTo>
                  <a:pt x="28007" y="27920"/>
                </a:lnTo>
                <a:close/>
                <a:moveTo>
                  <a:pt x="118888" y="25560"/>
                </a:moveTo>
                <a:lnTo>
                  <a:pt x="118888" y="66413"/>
                </a:lnTo>
                <a:cubicBezTo>
                  <a:pt x="118888" y="72224"/>
                  <a:pt x="123563" y="76899"/>
                  <a:pt x="129374" y="76899"/>
                </a:cubicBezTo>
                <a:lnTo>
                  <a:pt x="170227" y="76899"/>
                </a:lnTo>
                <a:lnTo>
                  <a:pt x="118888" y="25560"/>
                </a:lnTo>
                <a:close/>
                <a:moveTo>
                  <a:pt x="145191" y="204001"/>
                </a:moveTo>
                <a:cubicBezTo>
                  <a:pt x="146283" y="198583"/>
                  <a:pt x="148948" y="193602"/>
                  <a:pt x="152837" y="189714"/>
                </a:cubicBezTo>
                <a:lnTo>
                  <a:pt x="204788" y="137763"/>
                </a:lnTo>
                <a:lnTo>
                  <a:pt x="239742" y="172717"/>
                </a:lnTo>
                <a:lnTo>
                  <a:pt x="187791" y="224668"/>
                </a:lnTo>
                <a:cubicBezTo>
                  <a:pt x="183902" y="228556"/>
                  <a:pt x="178921" y="231222"/>
                  <a:pt x="173504" y="232314"/>
                </a:cubicBezTo>
                <a:lnTo>
                  <a:pt x="147463" y="237513"/>
                </a:lnTo>
                <a:cubicBezTo>
                  <a:pt x="147069" y="237601"/>
                  <a:pt x="146633" y="237644"/>
                  <a:pt x="146196" y="237644"/>
                </a:cubicBezTo>
                <a:cubicBezTo>
                  <a:pt x="142700" y="237644"/>
                  <a:pt x="139817" y="234804"/>
                  <a:pt x="139817" y="231265"/>
                </a:cubicBezTo>
                <a:cubicBezTo>
                  <a:pt x="139817" y="230828"/>
                  <a:pt x="139860" y="230435"/>
                  <a:pt x="139948" y="229998"/>
                </a:cubicBezTo>
                <a:lnTo>
                  <a:pt x="145147" y="203957"/>
                </a:lnTo>
                <a:close/>
                <a:moveTo>
                  <a:pt x="262200" y="150259"/>
                </a:moveTo>
                <a:lnTo>
                  <a:pt x="249616" y="162843"/>
                </a:lnTo>
                <a:lnTo>
                  <a:pt x="214662" y="127888"/>
                </a:lnTo>
                <a:lnTo>
                  <a:pt x="227246" y="115305"/>
                </a:lnTo>
                <a:cubicBezTo>
                  <a:pt x="236902" y="105649"/>
                  <a:pt x="252544" y="105649"/>
                  <a:pt x="262200" y="115305"/>
                </a:cubicBezTo>
                <a:cubicBezTo>
                  <a:pt x="271856" y="124961"/>
                  <a:pt x="271856" y="140603"/>
                  <a:pt x="262200" y="150259"/>
                </a:cubicBezTo>
                <a:close/>
              </a:path>
            </a:pathLst>
          </a:custGeom>
          <a:solidFill>
            <a:srgbClr val="1A3A52"/>
          </a:solidFill>
          <a:ln/>
        </p:spPr>
      </p:sp>
      <p:sp>
        <p:nvSpPr>
          <p:cNvPr id="7" name="Text 5"/>
          <p:cNvSpPr/>
          <p:nvPr/>
        </p:nvSpPr>
        <p:spPr>
          <a:xfrm>
            <a:off x="950752" y="1640514"/>
            <a:ext cx="1482055" cy="260991"/>
          </a:xfrm>
          <a:prstGeom prst="rect">
            <a:avLst/>
          </a:prstGeom>
          <a:noFill/>
          <a:ln/>
        </p:spPr>
        <p:txBody>
          <a:bodyPr wrap="square" lIns="0" tIns="0" rIns="0" bIns="0" rtlCol="0" anchor="ctr"/>
          <a:lstStyle/>
          <a:p>
            <a:pPr>
              <a:lnSpc>
                <a:spcPct val="120000"/>
              </a:lnSpc>
            </a:pPr>
            <a:r>
              <a:rPr lang="en-US" sz="1468" b="1" dirty="0">
                <a:solidFill>
                  <a:srgbClr val="1A3A52"/>
                </a:solidFill>
                <a:latin typeface="Liter" pitchFamily="34" charset="0"/>
                <a:ea typeface="Liter" pitchFamily="34" charset="-122"/>
                <a:cs typeface="Liter" pitchFamily="34" charset="-120"/>
              </a:rPr>
              <a:t>Project Overview</a:t>
            </a:r>
            <a:endParaRPr lang="en-US" sz="1600" dirty="0"/>
          </a:p>
        </p:txBody>
      </p:sp>
      <p:sp>
        <p:nvSpPr>
          <p:cNvPr id="8" name="Text 6"/>
          <p:cNvSpPr/>
          <p:nvPr/>
        </p:nvSpPr>
        <p:spPr>
          <a:xfrm>
            <a:off x="559266" y="2013358"/>
            <a:ext cx="5322349" cy="186422"/>
          </a:xfrm>
          <a:prstGeom prst="rect">
            <a:avLst/>
          </a:prstGeom>
          <a:noFill/>
          <a:ln/>
        </p:spPr>
        <p:txBody>
          <a:bodyPr wrap="square" lIns="0" tIns="0" rIns="0" bIns="0" rtlCol="0" anchor="ctr"/>
          <a:lstStyle/>
          <a:p>
            <a:pPr>
              <a:lnSpc>
                <a:spcPct val="120000"/>
              </a:lnSpc>
            </a:pPr>
            <a:r>
              <a:rPr lang="en-US" sz="1028" b="1" dirty="0">
                <a:solidFill>
                  <a:srgbClr val="5E7A91"/>
                </a:solidFill>
                <a:latin typeface="Liter" pitchFamily="34" charset="0"/>
                <a:ea typeface="Liter" pitchFamily="34" charset="-122"/>
                <a:cs typeface="Liter" pitchFamily="34" charset="-120"/>
              </a:rPr>
              <a:t>Project Name</a:t>
            </a:r>
            <a:endParaRPr lang="en-US" sz="1600" dirty="0"/>
          </a:p>
        </p:txBody>
      </p:sp>
      <p:sp>
        <p:nvSpPr>
          <p:cNvPr id="9" name="Text 7"/>
          <p:cNvSpPr/>
          <p:nvPr/>
        </p:nvSpPr>
        <p:spPr>
          <a:xfrm>
            <a:off x="559266" y="2199780"/>
            <a:ext cx="5331670"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Employee Attrition Reduction Project</a:t>
            </a:r>
            <a:endParaRPr lang="en-US" sz="1600" dirty="0"/>
          </a:p>
        </p:txBody>
      </p:sp>
      <p:sp>
        <p:nvSpPr>
          <p:cNvPr id="10" name="Text 8"/>
          <p:cNvSpPr/>
          <p:nvPr/>
        </p:nvSpPr>
        <p:spPr>
          <a:xfrm>
            <a:off x="559266" y="2498055"/>
            <a:ext cx="5322349" cy="186422"/>
          </a:xfrm>
          <a:prstGeom prst="rect">
            <a:avLst/>
          </a:prstGeom>
          <a:noFill/>
          <a:ln/>
        </p:spPr>
        <p:txBody>
          <a:bodyPr wrap="square" lIns="0" tIns="0" rIns="0" bIns="0" rtlCol="0" anchor="ctr"/>
          <a:lstStyle/>
          <a:p>
            <a:pPr>
              <a:lnSpc>
                <a:spcPct val="120000"/>
              </a:lnSpc>
            </a:pPr>
            <a:r>
              <a:rPr lang="en-US" sz="1028" b="1" dirty="0">
                <a:solidFill>
                  <a:srgbClr val="5E7A91"/>
                </a:solidFill>
                <a:latin typeface="Liter" pitchFamily="34" charset="0"/>
                <a:ea typeface="Liter" pitchFamily="34" charset="-122"/>
                <a:cs typeface="Liter" pitchFamily="34" charset="-120"/>
              </a:rPr>
              <a:t>Organization</a:t>
            </a:r>
            <a:endParaRPr lang="en-US" sz="1600" dirty="0"/>
          </a:p>
        </p:txBody>
      </p:sp>
      <p:sp>
        <p:nvSpPr>
          <p:cNvPr id="11" name="Text 9"/>
          <p:cNvSpPr/>
          <p:nvPr/>
        </p:nvSpPr>
        <p:spPr>
          <a:xfrm>
            <a:off x="559266" y="2684477"/>
            <a:ext cx="5331670"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Red Apple Technologies (RAT)</a:t>
            </a:r>
            <a:endParaRPr lang="en-US" sz="1600" dirty="0"/>
          </a:p>
        </p:txBody>
      </p:sp>
      <p:sp>
        <p:nvSpPr>
          <p:cNvPr id="12" name="Text 10"/>
          <p:cNvSpPr/>
          <p:nvPr/>
        </p:nvSpPr>
        <p:spPr>
          <a:xfrm>
            <a:off x="559266" y="2982752"/>
            <a:ext cx="5322349" cy="186422"/>
          </a:xfrm>
          <a:prstGeom prst="rect">
            <a:avLst/>
          </a:prstGeom>
          <a:noFill/>
          <a:ln/>
        </p:spPr>
        <p:txBody>
          <a:bodyPr wrap="square" lIns="0" tIns="0" rIns="0" bIns="0" rtlCol="0" anchor="ctr"/>
          <a:lstStyle/>
          <a:p>
            <a:pPr>
              <a:lnSpc>
                <a:spcPct val="120000"/>
              </a:lnSpc>
            </a:pPr>
            <a:r>
              <a:rPr lang="en-US" sz="1028" b="1" dirty="0">
                <a:solidFill>
                  <a:srgbClr val="5E7A91"/>
                </a:solidFill>
                <a:latin typeface="Liter" pitchFamily="34" charset="0"/>
                <a:ea typeface="Liter" pitchFamily="34" charset="-122"/>
                <a:cs typeface="Liter" pitchFamily="34" charset="-120"/>
              </a:rPr>
              <a:t>Project Type</a:t>
            </a:r>
            <a:endParaRPr lang="en-US" sz="1600" dirty="0"/>
          </a:p>
        </p:txBody>
      </p:sp>
      <p:sp>
        <p:nvSpPr>
          <p:cNvPr id="13" name="Text 11"/>
          <p:cNvSpPr/>
          <p:nvPr/>
        </p:nvSpPr>
        <p:spPr>
          <a:xfrm>
            <a:off x="559266" y="3169174"/>
            <a:ext cx="5331670"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Six Sigma DMAIC Project</a:t>
            </a:r>
            <a:endParaRPr lang="en-US" sz="1600" dirty="0"/>
          </a:p>
        </p:txBody>
      </p:sp>
      <p:sp>
        <p:nvSpPr>
          <p:cNvPr id="14" name="Shape 12"/>
          <p:cNvSpPr/>
          <p:nvPr/>
        </p:nvSpPr>
        <p:spPr>
          <a:xfrm>
            <a:off x="372844" y="3728440"/>
            <a:ext cx="5629945" cy="1938789"/>
          </a:xfrm>
          <a:custGeom>
            <a:avLst/>
            <a:gdLst/>
            <a:ahLst/>
            <a:cxnLst/>
            <a:rect l="l" t="t" r="r" b="b"/>
            <a:pathLst>
              <a:path w="5629945" h="1938789">
                <a:moveTo>
                  <a:pt x="74566" y="0"/>
                </a:moveTo>
                <a:lnTo>
                  <a:pt x="5555379" y="0"/>
                </a:lnTo>
                <a:cubicBezTo>
                  <a:pt x="5596561" y="0"/>
                  <a:pt x="5629945" y="33384"/>
                  <a:pt x="5629945" y="74566"/>
                </a:cubicBezTo>
                <a:lnTo>
                  <a:pt x="5629945" y="1864223"/>
                </a:lnTo>
                <a:cubicBezTo>
                  <a:pt x="5629945" y="1905405"/>
                  <a:pt x="5596561" y="1938789"/>
                  <a:pt x="5555379" y="1938789"/>
                </a:cubicBezTo>
                <a:lnTo>
                  <a:pt x="74566" y="1938789"/>
                </a:lnTo>
                <a:cubicBezTo>
                  <a:pt x="33384" y="1938789"/>
                  <a:pt x="0" y="1905405"/>
                  <a:pt x="0" y="1864223"/>
                </a:cubicBezTo>
                <a:lnTo>
                  <a:pt x="0" y="74566"/>
                </a:lnTo>
                <a:cubicBezTo>
                  <a:pt x="0" y="33412"/>
                  <a:pt x="33412" y="0"/>
                  <a:pt x="74566" y="0"/>
                </a:cubicBezTo>
                <a:close/>
              </a:path>
            </a:pathLst>
          </a:custGeom>
          <a:solidFill>
            <a:srgbClr val="FFFFFF"/>
          </a:solidFill>
          <a:ln/>
          <a:effectLst>
            <a:outerShdw blurRad="139817" dist="93211" dir="5400000" algn="bl" rotWithShape="0">
              <a:srgbClr val="000000">
                <a:alpha val="10196"/>
              </a:srgbClr>
            </a:outerShdw>
          </a:effectLst>
        </p:spPr>
      </p:sp>
      <p:sp>
        <p:nvSpPr>
          <p:cNvPr id="15" name="Shape 13"/>
          <p:cNvSpPr/>
          <p:nvPr/>
        </p:nvSpPr>
        <p:spPr>
          <a:xfrm>
            <a:off x="587229" y="3933505"/>
            <a:ext cx="223706" cy="223706"/>
          </a:xfrm>
          <a:custGeom>
            <a:avLst/>
            <a:gdLst/>
            <a:ahLst/>
            <a:cxnLst/>
            <a:rect l="l" t="t" r="r" b="b"/>
            <a:pathLst>
              <a:path w="223706" h="223706">
                <a:moveTo>
                  <a:pt x="195743" y="111853"/>
                </a:moveTo>
                <a:cubicBezTo>
                  <a:pt x="195743" y="65553"/>
                  <a:pt x="158153" y="27963"/>
                  <a:pt x="111853" y="27963"/>
                </a:cubicBezTo>
                <a:cubicBezTo>
                  <a:pt x="65553" y="27963"/>
                  <a:pt x="27963" y="65553"/>
                  <a:pt x="27963" y="111853"/>
                </a:cubicBezTo>
                <a:cubicBezTo>
                  <a:pt x="27963" y="158153"/>
                  <a:pt x="65553" y="195743"/>
                  <a:pt x="111853" y="195743"/>
                </a:cubicBezTo>
                <a:cubicBezTo>
                  <a:pt x="158153" y="195743"/>
                  <a:pt x="195743" y="158153"/>
                  <a:pt x="195743" y="111853"/>
                </a:cubicBezTo>
                <a:close/>
                <a:moveTo>
                  <a:pt x="0" y="111853"/>
                </a:moveTo>
                <a:cubicBezTo>
                  <a:pt x="0" y="50120"/>
                  <a:pt x="50120" y="0"/>
                  <a:pt x="111853" y="0"/>
                </a:cubicBezTo>
                <a:cubicBezTo>
                  <a:pt x="173587" y="0"/>
                  <a:pt x="223706" y="50120"/>
                  <a:pt x="223706" y="111853"/>
                </a:cubicBezTo>
                <a:cubicBezTo>
                  <a:pt x="223706" y="173587"/>
                  <a:pt x="173587" y="223706"/>
                  <a:pt x="111853" y="223706"/>
                </a:cubicBezTo>
                <a:cubicBezTo>
                  <a:pt x="50120" y="223706"/>
                  <a:pt x="0" y="173587"/>
                  <a:pt x="0" y="111853"/>
                </a:cubicBezTo>
                <a:close/>
                <a:moveTo>
                  <a:pt x="111853" y="146807"/>
                </a:moveTo>
                <a:cubicBezTo>
                  <a:pt x="131145" y="146807"/>
                  <a:pt x="146807" y="131145"/>
                  <a:pt x="146807" y="111853"/>
                </a:cubicBezTo>
                <a:cubicBezTo>
                  <a:pt x="146807" y="92562"/>
                  <a:pt x="131145" y="76899"/>
                  <a:pt x="111853" y="76899"/>
                </a:cubicBezTo>
                <a:cubicBezTo>
                  <a:pt x="92562" y="76899"/>
                  <a:pt x="76899" y="92562"/>
                  <a:pt x="76899" y="111853"/>
                </a:cubicBezTo>
                <a:cubicBezTo>
                  <a:pt x="76899" y="131145"/>
                  <a:pt x="92562" y="146807"/>
                  <a:pt x="111853" y="146807"/>
                </a:cubicBezTo>
                <a:close/>
                <a:moveTo>
                  <a:pt x="111853" y="48936"/>
                </a:moveTo>
                <a:cubicBezTo>
                  <a:pt x="146578" y="48936"/>
                  <a:pt x="174771" y="77128"/>
                  <a:pt x="174771" y="111853"/>
                </a:cubicBezTo>
                <a:cubicBezTo>
                  <a:pt x="174771" y="146578"/>
                  <a:pt x="146578" y="174771"/>
                  <a:pt x="111853" y="174771"/>
                </a:cubicBezTo>
                <a:cubicBezTo>
                  <a:pt x="77128" y="174771"/>
                  <a:pt x="48936" y="146578"/>
                  <a:pt x="48936" y="111853"/>
                </a:cubicBezTo>
                <a:cubicBezTo>
                  <a:pt x="48936" y="77128"/>
                  <a:pt x="77128" y="48936"/>
                  <a:pt x="111853" y="48936"/>
                </a:cubicBezTo>
                <a:close/>
                <a:moveTo>
                  <a:pt x="97872" y="111853"/>
                </a:moveTo>
                <a:cubicBezTo>
                  <a:pt x="97872" y="104137"/>
                  <a:pt x="104137" y="97872"/>
                  <a:pt x="111853" y="97872"/>
                </a:cubicBezTo>
                <a:cubicBezTo>
                  <a:pt x="119570" y="97872"/>
                  <a:pt x="125835" y="104137"/>
                  <a:pt x="125835" y="111853"/>
                </a:cubicBezTo>
                <a:cubicBezTo>
                  <a:pt x="125835" y="119570"/>
                  <a:pt x="119570" y="125835"/>
                  <a:pt x="111853" y="125835"/>
                </a:cubicBezTo>
                <a:cubicBezTo>
                  <a:pt x="104137" y="125835"/>
                  <a:pt x="97872" y="119570"/>
                  <a:pt x="97872" y="111853"/>
                </a:cubicBezTo>
                <a:close/>
              </a:path>
            </a:pathLst>
          </a:custGeom>
          <a:solidFill>
            <a:srgbClr val="C5A56A"/>
          </a:solidFill>
          <a:ln/>
        </p:spPr>
      </p:sp>
      <p:sp>
        <p:nvSpPr>
          <p:cNvPr id="16" name="Text 14"/>
          <p:cNvSpPr/>
          <p:nvPr/>
        </p:nvSpPr>
        <p:spPr>
          <a:xfrm>
            <a:off x="950752" y="3914862"/>
            <a:ext cx="1174459" cy="260991"/>
          </a:xfrm>
          <a:prstGeom prst="rect">
            <a:avLst/>
          </a:prstGeom>
          <a:noFill/>
          <a:ln/>
        </p:spPr>
        <p:txBody>
          <a:bodyPr wrap="square" lIns="0" tIns="0" rIns="0" bIns="0" rtlCol="0" anchor="ctr"/>
          <a:lstStyle/>
          <a:p>
            <a:pPr>
              <a:lnSpc>
                <a:spcPct val="120000"/>
              </a:lnSpc>
            </a:pPr>
            <a:r>
              <a:rPr lang="en-US" sz="1468" b="1" dirty="0">
                <a:solidFill>
                  <a:srgbClr val="1A3A52"/>
                </a:solidFill>
                <a:latin typeface="Liter" pitchFamily="34" charset="0"/>
                <a:ea typeface="Liter" pitchFamily="34" charset="-122"/>
                <a:cs typeface="Liter" pitchFamily="34" charset="-120"/>
              </a:rPr>
              <a:t>Project Goals</a:t>
            </a:r>
            <a:endParaRPr lang="en-US" sz="1600" dirty="0"/>
          </a:p>
        </p:txBody>
      </p:sp>
      <p:sp>
        <p:nvSpPr>
          <p:cNvPr id="17" name="Shape 15"/>
          <p:cNvSpPr/>
          <p:nvPr/>
        </p:nvSpPr>
        <p:spPr>
          <a:xfrm>
            <a:off x="559266" y="4306349"/>
            <a:ext cx="223706" cy="223706"/>
          </a:xfrm>
          <a:custGeom>
            <a:avLst/>
            <a:gdLst/>
            <a:ahLst/>
            <a:cxnLst/>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a:srgbClr val="C5A56A"/>
          </a:solidFill>
          <a:ln/>
        </p:spPr>
      </p:sp>
      <p:sp>
        <p:nvSpPr>
          <p:cNvPr id="18" name="Text 16"/>
          <p:cNvSpPr/>
          <p:nvPr/>
        </p:nvSpPr>
        <p:spPr>
          <a:xfrm>
            <a:off x="648690" y="4343633"/>
            <a:ext cx="102532" cy="149138"/>
          </a:xfrm>
          <a:prstGeom prst="rect">
            <a:avLst/>
          </a:prstGeom>
          <a:noFill/>
          <a:ln/>
        </p:spPr>
        <p:txBody>
          <a:bodyPr wrap="square" lIns="0" tIns="0" rIns="0" bIns="0" rtlCol="0" anchor="ctr"/>
          <a:lstStyle/>
          <a:p>
            <a:pPr>
              <a:lnSpc>
                <a:spcPct val="110000"/>
              </a:lnSpc>
            </a:pPr>
            <a:r>
              <a:rPr lang="en-US" sz="881" b="1" dirty="0">
                <a:solidFill>
                  <a:srgbClr val="FFFFFF"/>
                </a:solidFill>
                <a:latin typeface="Liter" pitchFamily="34" charset="0"/>
                <a:ea typeface="Liter" pitchFamily="34" charset="-122"/>
                <a:cs typeface="Liter" pitchFamily="34" charset="-120"/>
              </a:rPr>
              <a:t>1</a:t>
            </a:r>
            <a:endParaRPr lang="en-US" sz="1600" dirty="0"/>
          </a:p>
        </p:txBody>
      </p:sp>
      <p:sp>
        <p:nvSpPr>
          <p:cNvPr id="19" name="Text 17"/>
          <p:cNvSpPr/>
          <p:nvPr/>
        </p:nvSpPr>
        <p:spPr>
          <a:xfrm>
            <a:off x="857541" y="4287706"/>
            <a:ext cx="3486092" cy="223706"/>
          </a:xfrm>
          <a:prstGeom prst="rect">
            <a:avLst/>
          </a:prstGeom>
          <a:noFill/>
          <a:ln/>
        </p:spPr>
        <p:txBody>
          <a:bodyPr wrap="square" lIns="0" tIns="0" rIns="0" bIns="0" rtlCol="0" anchor="ctr"/>
          <a:lstStyle/>
          <a:p>
            <a:pPr>
              <a:lnSpc>
                <a:spcPct val="130000"/>
              </a:lnSpc>
            </a:pPr>
            <a:r>
              <a:rPr lang="en-US" sz="1174" b="1" dirty="0">
                <a:solidFill>
                  <a:srgbClr val="212529"/>
                </a:solidFill>
                <a:latin typeface="Liter" pitchFamily="34" charset="0"/>
                <a:ea typeface="Liter" pitchFamily="34" charset="-122"/>
                <a:cs typeface="Liter" pitchFamily="34" charset="-120"/>
              </a:rPr>
              <a:t>Reduce attrition rate</a:t>
            </a:r>
            <a:r>
              <a:rPr lang="en-US" sz="1174" dirty="0">
                <a:solidFill>
                  <a:srgbClr val="212529"/>
                </a:solidFill>
                <a:latin typeface="Liter" pitchFamily="34" charset="0"/>
                <a:ea typeface="Liter" pitchFamily="34" charset="-122"/>
                <a:cs typeface="Liter" pitchFamily="34" charset="-120"/>
              </a:rPr>
              <a:t> from 3.43% to ≤ 1% by Q3 2025</a:t>
            </a:r>
            <a:endParaRPr lang="en-US" sz="1600" dirty="0"/>
          </a:p>
        </p:txBody>
      </p:sp>
      <p:sp>
        <p:nvSpPr>
          <p:cNvPr id="20" name="Shape 18"/>
          <p:cNvSpPr/>
          <p:nvPr/>
        </p:nvSpPr>
        <p:spPr>
          <a:xfrm>
            <a:off x="559266" y="4623266"/>
            <a:ext cx="223706" cy="223706"/>
          </a:xfrm>
          <a:custGeom>
            <a:avLst/>
            <a:gdLst/>
            <a:ahLst/>
            <a:cxnLst/>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a:srgbClr val="C5A56A"/>
          </a:solidFill>
          <a:ln/>
        </p:spPr>
      </p:sp>
      <p:sp>
        <p:nvSpPr>
          <p:cNvPr id="21" name="Text 19"/>
          <p:cNvSpPr/>
          <p:nvPr/>
        </p:nvSpPr>
        <p:spPr>
          <a:xfrm>
            <a:off x="638593" y="4660550"/>
            <a:ext cx="121174" cy="149138"/>
          </a:xfrm>
          <a:prstGeom prst="rect">
            <a:avLst/>
          </a:prstGeom>
          <a:noFill/>
          <a:ln/>
        </p:spPr>
        <p:txBody>
          <a:bodyPr wrap="square" lIns="0" tIns="0" rIns="0" bIns="0" rtlCol="0" anchor="ctr"/>
          <a:lstStyle/>
          <a:p>
            <a:pPr>
              <a:lnSpc>
                <a:spcPct val="110000"/>
              </a:lnSpc>
            </a:pPr>
            <a:r>
              <a:rPr lang="en-US" sz="881" b="1" dirty="0">
                <a:solidFill>
                  <a:srgbClr val="FFFFFF"/>
                </a:solidFill>
                <a:latin typeface="Liter" pitchFamily="34" charset="0"/>
                <a:ea typeface="Liter" pitchFamily="34" charset="-122"/>
                <a:cs typeface="Liter" pitchFamily="34" charset="-120"/>
              </a:rPr>
              <a:t>2</a:t>
            </a:r>
            <a:endParaRPr lang="en-US" sz="1600" dirty="0"/>
          </a:p>
        </p:txBody>
      </p:sp>
      <p:sp>
        <p:nvSpPr>
          <p:cNvPr id="22" name="Text 20"/>
          <p:cNvSpPr/>
          <p:nvPr/>
        </p:nvSpPr>
        <p:spPr>
          <a:xfrm>
            <a:off x="857541" y="4604624"/>
            <a:ext cx="3131890" cy="223706"/>
          </a:xfrm>
          <a:prstGeom prst="rect">
            <a:avLst/>
          </a:prstGeom>
          <a:noFill/>
          <a:ln/>
        </p:spPr>
        <p:txBody>
          <a:bodyPr wrap="square" lIns="0" tIns="0" rIns="0" bIns="0" rtlCol="0" anchor="ctr"/>
          <a:lstStyle/>
          <a:p>
            <a:pPr>
              <a:lnSpc>
                <a:spcPct val="130000"/>
              </a:lnSpc>
            </a:pPr>
            <a:r>
              <a:rPr lang="en-US" sz="1174" b="1" dirty="0">
                <a:solidFill>
                  <a:srgbClr val="212529"/>
                </a:solidFill>
                <a:latin typeface="Liter" pitchFamily="34" charset="0"/>
                <a:ea typeface="Liter" pitchFamily="34" charset="-122"/>
                <a:cs typeface="Liter" pitchFamily="34" charset="-120"/>
              </a:rPr>
              <a:t>Control attrition costs</a:t>
            </a:r>
            <a:r>
              <a:rPr lang="en-US" sz="1174" dirty="0">
                <a:solidFill>
                  <a:srgbClr val="212529"/>
                </a:solidFill>
                <a:latin typeface="Liter" pitchFamily="34" charset="0"/>
                <a:ea typeface="Liter" pitchFamily="34" charset="-122"/>
                <a:cs typeface="Liter" pitchFamily="34" charset="-120"/>
              </a:rPr>
              <a:t> (~$2,050 per employee)</a:t>
            </a:r>
            <a:endParaRPr lang="en-US" sz="1600" dirty="0"/>
          </a:p>
        </p:txBody>
      </p:sp>
      <p:sp>
        <p:nvSpPr>
          <p:cNvPr id="23" name="Shape 21"/>
          <p:cNvSpPr/>
          <p:nvPr/>
        </p:nvSpPr>
        <p:spPr>
          <a:xfrm>
            <a:off x="559266" y="4940183"/>
            <a:ext cx="223706" cy="223706"/>
          </a:xfrm>
          <a:custGeom>
            <a:avLst/>
            <a:gdLst/>
            <a:ahLst/>
            <a:cxnLst/>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a:srgbClr val="C5A56A"/>
          </a:solidFill>
          <a:ln/>
        </p:spPr>
      </p:sp>
      <p:sp>
        <p:nvSpPr>
          <p:cNvPr id="24" name="Text 22"/>
          <p:cNvSpPr/>
          <p:nvPr/>
        </p:nvSpPr>
        <p:spPr>
          <a:xfrm>
            <a:off x="638107" y="4977468"/>
            <a:ext cx="121174" cy="149138"/>
          </a:xfrm>
          <a:prstGeom prst="rect">
            <a:avLst/>
          </a:prstGeom>
          <a:noFill/>
          <a:ln/>
        </p:spPr>
        <p:txBody>
          <a:bodyPr wrap="square" lIns="0" tIns="0" rIns="0" bIns="0" rtlCol="0" anchor="ctr"/>
          <a:lstStyle/>
          <a:p>
            <a:pPr>
              <a:lnSpc>
                <a:spcPct val="110000"/>
              </a:lnSpc>
            </a:pPr>
            <a:r>
              <a:rPr lang="en-US" sz="881" b="1" dirty="0">
                <a:solidFill>
                  <a:srgbClr val="FFFFFF"/>
                </a:solidFill>
                <a:latin typeface="Liter" pitchFamily="34" charset="0"/>
                <a:ea typeface="Liter" pitchFamily="34" charset="-122"/>
                <a:cs typeface="Liter" pitchFamily="34" charset="-120"/>
              </a:rPr>
              <a:t>3</a:t>
            </a:r>
            <a:endParaRPr lang="en-US" sz="1600" dirty="0"/>
          </a:p>
        </p:txBody>
      </p:sp>
      <p:sp>
        <p:nvSpPr>
          <p:cNvPr id="25" name="Text 23"/>
          <p:cNvSpPr/>
          <p:nvPr/>
        </p:nvSpPr>
        <p:spPr>
          <a:xfrm>
            <a:off x="857541" y="4921541"/>
            <a:ext cx="4222459" cy="223706"/>
          </a:xfrm>
          <a:prstGeom prst="rect">
            <a:avLst/>
          </a:prstGeom>
          <a:noFill/>
          <a:ln/>
        </p:spPr>
        <p:txBody>
          <a:bodyPr wrap="square" lIns="0" tIns="0" rIns="0" bIns="0" rtlCol="0" anchor="ctr"/>
          <a:lstStyle/>
          <a:p>
            <a:pPr>
              <a:lnSpc>
                <a:spcPct val="130000"/>
              </a:lnSpc>
            </a:pPr>
            <a:r>
              <a:rPr lang="en-US" sz="1174" b="1" dirty="0">
                <a:solidFill>
                  <a:srgbClr val="212529"/>
                </a:solidFill>
                <a:latin typeface="Liter" pitchFamily="34" charset="0"/>
                <a:ea typeface="Liter" pitchFamily="34" charset="-122"/>
                <a:cs typeface="Liter" pitchFamily="34" charset="-120"/>
              </a:rPr>
              <a:t>Improve promotion timelines</a:t>
            </a:r>
            <a:r>
              <a:rPr lang="en-US" sz="1174" dirty="0">
                <a:solidFill>
                  <a:srgbClr val="212529"/>
                </a:solidFill>
                <a:latin typeface="Liter" pitchFamily="34" charset="0"/>
                <a:ea typeface="Liter" pitchFamily="34" charset="-122"/>
                <a:cs typeface="Liter" pitchFamily="34" charset="-120"/>
              </a:rPr>
              <a:t> to match competitors (1-1.5 years)</a:t>
            </a:r>
            <a:endParaRPr lang="en-US" sz="1600" dirty="0"/>
          </a:p>
        </p:txBody>
      </p:sp>
      <p:sp>
        <p:nvSpPr>
          <p:cNvPr id="26" name="Shape 24"/>
          <p:cNvSpPr/>
          <p:nvPr/>
        </p:nvSpPr>
        <p:spPr>
          <a:xfrm>
            <a:off x="559266" y="5257101"/>
            <a:ext cx="223706" cy="223706"/>
          </a:xfrm>
          <a:custGeom>
            <a:avLst/>
            <a:gdLst/>
            <a:ahLst/>
            <a:cxnLst/>
            <a:rect l="l" t="t" r="r" b="b"/>
            <a:pathLst>
              <a:path w="223706" h="223706">
                <a:moveTo>
                  <a:pt x="111853" y="0"/>
                </a:moveTo>
                <a:lnTo>
                  <a:pt x="111853" y="0"/>
                </a:lnTo>
                <a:cubicBezTo>
                  <a:pt x="173587" y="0"/>
                  <a:pt x="223706" y="50120"/>
                  <a:pt x="223706" y="111853"/>
                </a:cubicBezTo>
                <a:lnTo>
                  <a:pt x="223706" y="111853"/>
                </a:lnTo>
                <a:cubicBezTo>
                  <a:pt x="223706" y="173587"/>
                  <a:pt x="173587" y="223706"/>
                  <a:pt x="111853" y="223706"/>
                </a:cubicBezTo>
                <a:lnTo>
                  <a:pt x="111853" y="223706"/>
                </a:lnTo>
                <a:cubicBezTo>
                  <a:pt x="50120" y="223706"/>
                  <a:pt x="0" y="173587"/>
                  <a:pt x="0" y="111853"/>
                </a:cubicBezTo>
                <a:lnTo>
                  <a:pt x="0" y="111853"/>
                </a:lnTo>
                <a:cubicBezTo>
                  <a:pt x="0" y="50120"/>
                  <a:pt x="50120" y="0"/>
                  <a:pt x="111853" y="0"/>
                </a:cubicBezTo>
                <a:close/>
              </a:path>
            </a:pathLst>
          </a:custGeom>
          <a:solidFill>
            <a:srgbClr val="C5A56A"/>
          </a:solidFill>
          <a:ln/>
        </p:spPr>
      </p:sp>
      <p:sp>
        <p:nvSpPr>
          <p:cNvPr id="27" name="Text 25"/>
          <p:cNvSpPr/>
          <p:nvPr/>
        </p:nvSpPr>
        <p:spPr>
          <a:xfrm>
            <a:off x="638107" y="5294385"/>
            <a:ext cx="121174" cy="149138"/>
          </a:xfrm>
          <a:prstGeom prst="rect">
            <a:avLst/>
          </a:prstGeom>
          <a:noFill/>
          <a:ln/>
        </p:spPr>
        <p:txBody>
          <a:bodyPr wrap="square" lIns="0" tIns="0" rIns="0" bIns="0" rtlCol="0" anchor="ctr"/>
          <a:lstStyle/>
          <a:p>
            <a:pPr>
              <a:lnSpc>
                <a:spcPct val="110000"/>
              </a:lnSpc>
            </a:pPr>
            <a:r>
              <a:rPr lang="en-US" sz="881" b="1" dirty="0">
                <a:solidFill>
                  <a:srgbClr val="FFFFFF"/>
                </a:solidFill>
                <a:latin typeface="Liter" pitchFamily="34" charset="0"/>
                <a:ea typeface="Liter" pitchFamily="34" charset="-122"/>
                <a:cs typeface="Liter" pitchFamily="34" charset="-120"/>
              </a:rPr>
              <a:t>4</a:t>
            </a:r>
            <a:endParaRPr lang="en-US" sz="1600" dirty="0"/>
          </a:p>
        </p:txBody>
      </p:sp>
      <p:sp>
        <p:nvSpPr>
          <p:cNvPr id="28" name="Text 26"/>
          <p:cNvSpPr/>
          <p:nvPr/>
        </p:nvSpPr>
        <p:spPr>
          <a:xfrm>
            <a:off x="857541" y="5238459"/>
            <a:ext cx="3038679" cy="223706"/>
          </a:xfrm>
          <a:prstGeom prst="rect">
            <a:avLst/>
          </a:prstGeom>
          <a:noFill/>
          <a:ln/>
        </p:spPr>
        <p:txBody>
          <a:bodyPr wrap="square" lIns="0" tIns="0" rIns="0" bIns="0" rtlCol="0" anchor="ctr"/>
          <a:lstStyle/>
          <a:p>
            <a:pPr>
              <a:lnSpc>
                <a:spcPct val="130000"/>
              </a:lnSpc>
            </a:pPr>
            <a:r>
              <a:rPr lang="en-US" sz="1174" b="1" dirty="0">
                <a:solidFill>
                  <a:srgbClr val="212529"/>
                </a:solidFill>
                <a:latin typeface="Liter" pitchFamily="34" charset="0"/>
                <a:ea typeface="Liter" pitchFamily="34" charset="-122"/>
                <a:cs typeface="Liter" pitchFamily="34" charset="-120"/>
              </a:rPr>
              <a:t>Ensure workforce stability</a:t>
            </a:r>
            <a:r>
              <a:rPr lang="en-US" sz="1174" dirty="0">
                <a:solidFill>
                  <a:srgbClr val="212529"/>
                </a:solidFill>
                <a:latin typeface="Liter" pitchFamily="34" charset="0"/>
                <a:ea typeface="Liter" pitchFamily="34" charset="-122"/>
                <a:cs typeface="Liter" pitchFamily="34" charset="-120"/>
              </a:rPr>
              <a:t> for project delivery</a:t>
            </a:r>
            <a:endParaRPr lang="en-US" sz="1600" dirty="0"/>
          </a:p>
        </p:txBody>
      </p:sp>
      <p:sp>
        <p:nvSpPr>
          <p:cNvPr id="29" name="Shape 27"/>
          <p:cNvSpPr/>
          <p:nvPr/>
        </p:nvSpPr>
        <p:spPr>
          <a:xfrm>
            <a:off x="6191250" y="1454092"/>
            <a:ext cx="5629945" cy="2721761"/>
          </a:xfrm>
          <a:custGeom>
            <a:avLst/>
            <a:gdLst/>
            <a:ahLst/>
            <a:cxnLst/>
            <a:rect l="l" t="t" r="r" b="b"/>
            <a:pathLst>
              <a:path w="5629945" h="2721761">
                <a:moveTo>
                  <a:pt x="74576" y="0"/>
                </a:moveTo>
                <a:lnTo>
                  <a:pt x="5555369" y="0"/>
                </a:lnTo>
                <a:cubicBezTo>
                  <a:pt x="5596556" y="0"/>
                  <a:pt x="5629945" y="33389"/>
                  <a:pt x="5629945" y="74576"/>
                </a:cubicBezTo>
                <a:lnTo>
                  <a:pt x="5629945" y="2647185"/>
                </a:lnTo>
                <a:cubicBezTo>
                  <a:pt x="5629945" y="2688373"/>
                  <a:pt x="5596556" y="2721761"/>
                  <a:pt x="5555369" y="2721761"/>
                </a:cubicBezTo>
                <a:lnTo>
                  <a:pt x="74576" y="2721761"/>
                </a:lnTo>
                <a:cubicBezTo>
                  <a:pt x="33389" y="2721761"/>
                  <a:pt x="0" y="2688373"/>
                  <a:pt x="0" y="2647185"/>
                </a:cubicBezTo>
                <a:lnTo>
                  <a:pt x="0" y="74576"/>
                </a:lnTo>
                <a:cubicBezTo>
                  <a:pt x="0" y="33417"/>
                  <a:pt x="33417" y="0"/>
                  <a:pt x="74576" y="0"/>
                </a:cubicBezTo>
                <a:close/>
              </a:path>
            </a:pathLst>
          </a:custGeom>
          <a:solidFill>
            <a:srgbClr val="FFFFFF"/>
          </a:solidFill>
          <a:ln/>
          <a:effectLst>
            <a:outerShdw blurRad="139817" dist="93211" dir="5400000" algn="bl" rotWithShape="0">
              <a:srgbClr val="000000">
                <a:alpha val="10196"/>
              </a:srgbClr>
            </a:outerShdw>
          </a:effectLst>
        </p:spPr>
      </p:sp>
      <p:sp>
        <p:nvSpPr>
          <p:cNvPr id="30" name="Shape 28"/>
          <p:cNvSpPr/>
          <p:nvPr/>
        </p:nvSpPr>
        <p:spPr>
          <a:xfrm>
            <a:off x="6419617" y="1659156"/>
            <a:ext cx="195743" cy="223706"/>
          </a:xfrm>
          <a:custGeom>
            <a:avLst/>
            <a:gdLst/>
            <a:ahLst/>
            <a:cxnLst/>
            <a:rect l="l" t="t" r="r" b="b"/>
            <a:pathLst>
              <a:path w="195743" h="223706">
                <a:moveTo>
                  <a:pt x="55927" y="0"/>
                </a:moveTo>
                <a:cubicBezTo>
                  <a:pt x="63660" y="0"/>
                  <a:pt x="69908" y="6248"/>
                  <a:pt x="69908" y="13982"/>
                </a:cubicBezTo>
                <a:lnTo>
                  <a:pt x="69908" y="27963"/>
                </a:lnTo>
                <a:lnTo>
                  <a:pt x="125835" y="27963"/>
                </a:lnTo>
                <a:lnTo>
                  <a:pt x="125835" y="13982"/>
                </a:lnTo>
                <a:cubicBezTo>
                  <a:pt x="125835" y="6248"/>
                  <a:pt x="132083" y="0"/>
                  <a:pt x="139817" y="0"/>
                </a:cubicBezTo>
                <a:cubicBezTo>
                  <a:pt x="147550" y="0"/>
                  <a:pt x="153798" y="6248"/>
                  <a:pt x="153798" y="13982"/>
                </a:cubicBezTo>
                <a:lnTo>
                  <a:pt x="153798" y="27963"/>
                </a:lnTo>
                <a:lnTo>
                  <a:pt x="167780" y="27963"/>
                </a:lnTo>
                <a:cubicBezTo>
                  <a:pt x="183203" y="27963"/>
                  <a:pt x="195743" y="40503"/>
                  <a:pt x="195743" y="55927"/>
                </a:cubicBezTo>
                <a:lnTo>
                  <a:pt x="195743" y="181761"/>
                </a:lnTo>
                <a:cubicBezTo>
                  <a:pt x="195743" y="197185"/>
                  <a:pt x="183203" y="209725"/>
                  <a:pt x="167780" y="209725"/>
                </a:cubicBezTo>
                <a:lnTo>
                  <a:pt x="27963" y="209725"/>
                </a:lnTo>
                <a:cubicBezTo>
                  <a:pt x="12540" y="209725"/>
                  <a:pt x="0" y="197185"/>
                  <a:pt x="0" y="181761"/>
                </a:cubicBezTo>
                <a:lnTo>
                  <a:pt x="0" y="55927"/>
                </a:lnTo>
                <a:cubicBezTo>
                  <a:pt x="0" y="40503"/>
                  <a:pt x="12540" y="27963"/>
                  <a:pt x="27963" y="27963"/>
                </a:cubicBezTo>
                <a:lnTo>
                  <a:pt x="41945" y="27963"/>
                </a:lnTo>
                <a:lnTo>
                  <a:pt x="41945" y="13982"/>
                </a:lnTo>
                <a:cubicBezTo>
                  <a:pt x="41945" y="6248"/>
                  <a:pt x="48193" y="0"/>
                  <a:pt x="55927" y="0"/>
                </a:cubicBezTo>
                <a:close/>
                <a:moveTo>
                  <a:pt x="27963" y="104862"/>
                </a:moveTo>
                <a:lnTo>
                  <a:pt x="27963" y="118844"/>
                </a:lnTo>
                <a:cubicBezTo>
                  <a:pt x="27963" y="122689"/>
                  <a:pt x="31109" y="125835"/>
                  <a:pt x="34954" y="125835"/>
                </a:cubicBezTo>
                <a:lnTo>
                  <a:pt x="48936" y="125835"/>
                </a:lnTo>
                <a:cubicBezTo>
                  <a:pt x="52781" y="125835"/>
                  <a:pt x="55927" y="122689"/>
                  <a:pt x="55927" y="118844"/>
                </a:cubicBezTo>
                <a:lnTo>
                  <a:pt x="55927" y="104862"/>
                </a:lnTo>
                <a:cubicBezTo>
                  <a:pt x="55927" y="101017"/>
                  <a:pt x="52781" y="97872"/>
                  <a:pt x="48936" y="97872"/>
                </a:cubicBezTo>
                <a:lnTo>
                  <a:pt x="34954" y="97872"/>
                </a:lnTo>
                <a:cubicBezTo>
                  <a:pt x="31109" y="97872"/>
                  <a:pt x="27963" y="101017"/>
                  <a:pt x="27963" y="104862"/>
                </a:cubicBezTo>
                <a:close/>
                <a:moveTo>
                  <a:pt x="83890" y="104862"/>
                </a:moveTo>
                <a:lnTo>
                  <a:pt x="83890" y="118844"/>
                </a:lnTo>
                <a:cubicBezTo>
                  <a:pt x="83890" y="122689"/>
                  <a:pt x="87036" y="125835"/>
                  <a:pt x="90881" y="125835"/>
                </a:cubicBezTo>
                <a:lnTo>
                  <a:pt x="104862" y="125835"/>
                </a:lnTo>
                <a:cubicBezTo>
                  <a:pt x="108707" y="125835"/>
                  <a:pt x="111853" y="122689"/>
                  <a:pt x="111853" y="118844"/>
                </a:cubicBezTo>
                <a:lnTo>
                  <a:pt x="111853" y="104862"/>
                </a:lnTo>
                <a:cubicBezTo>
                  <a:pt x="111853" y="101017"/>
                  <a:pt x="108707" y="97872"/>
                  <a:pt x="104862" y="97872"/>
                </a:cubicBezTo>
                <a:lnTo>
                  <a:pt x="90881" y="97872"/>
                </a:lnTo>
                <a:cubicBezTo>
                  <a:pt x="87036" y="97872"/>
                  <a:pt x="83890" y="101017"/>
                  <a:pt x="83890" y="104862"/>
                </a:cubicBezTo>
                <a:close/>
                <a:moveTo>
                  <a:pt x="146807" y="97872"/>
                </a:moveTo>
                <a:cubicBezTo>
                  <a:pt x="142962" y="97872"/>
                  <a:pt x="139817" y="101017"/>
                  <a:pt x="139817" y="104862"/>
                </a:cubicBezTo>
                <a:lnTo>
                  <a:pt x="139817" y="118844"/>
                </a:lnTo>
                <a:cubicBezTo>
                  <a:pt x="139817" y="122689"/>
                  <a:pt x="142962" y="125835"/>
                  <a:pt x="146807" y="125835"/>
                </a:cubicBezTo>
                <a:lnTo>
                  <a:pt x="160789" y="125835"/>
                </a:lnTo>
                <a:cubicBezTo>
                  <a:pt x="164634" y="125835"/>
                  <a:pt x="167780" y="122689"/>
                  <a:pt x="167780" y="118844"/>
                </a:cubicBezTo>
                <a:lnTo>
                  <a:pt x="167780" y="104862"/>
                </a:lnTo>
                <a:cubicBezTo>
                  <a:pt x="167780" y="101017"/>
                  <a:pt x="164634" y="97872"/>
                  <a:pt x="160789" y="97872"/>
                </a:cubicBezTo>
                <a:lnTo>
                  <a:pt x="146807" y="97872"/>
                </a:lnTo>
                <a:close/>
                <a:moveTo>
                  <a:pt x="27963" y="160789"/>
                </a:moveTo>
                <a:lnTo>
                  <a:pt x="27963" y="174771"/>
                </a:lnTo>
                <a:cubicBezTo>
                  <a:pt x="27963" y="178616"/>
                  <a:pt x="31109" y="181761"/>
                  <a:pt x="34954" y="181761"/>
                </a:cubicBezTo>
                <a:lnTo>
                  <a:pt x="48936" y="181761"/>
                </a:lnTo>
                <a:cubicBezTo>
                  <a:pt x="52781" y="181761"/>
                  <a:pt x="55927" y="178616"/>
                  <a:pt x="55927" y="174771"/>
                </a:cubicBezTo>
                <a:lnTo>
                  <a:pt x="55927" y="160789"/>
                </a:lnTo>
                <a:cubicBezTo>
                  <a:pt x="55927" y="156944"/>
                  <a:pt x="52781" y="153798"/>
                  <a:pt x="48936" y="153798"/>
                </a:cubicBezTo>
                <a:lnTo>
                  <a:pt x="34954" y="153798"/>
                </a:lnTo>
                <a:cubicBezTo>
                  <a:pt x="31109" y="153798"/>
                  <a:pt x="27963" y="156944"/>
                  <a:pt x="27963" y="160789"/>
                </a:cubicBezTo>
                <a:close/>
                <a:moveTo>
                  <a:pt x="90881" y="153798"/>
                </a:moveTo>
                <a:cubicBezTo>
                  <a:pt x="87036" y="153798"/>
                  <a:pt x="83890" y="156944"/>
                  <a:pt x="83890" y="160789"/>
                </a:cubicBezTo>
                <a:lnTo>
                  <a:pt x="83890" y="174771"/>
                </a:lnTo>
                <a:cubicBezTo>
                  <a:pt x="83890" y="178616"/>
                  <a:pt x="87036" y="181761"/>
                  <a:pt x="90881" y="181761"/>
                </a:cubicBezTo>
                <a:lnTo>
                  <a:pt x="104862" y="181761"/>
                </a:lnTo>
                <a:cubicBezTo>
                  <a:pt x="108707" y="181761"/>
                  <a:pt x="111853" y="178616"/>
                  <a:pt x="111853" y="174771"/>
                </a:cubicBezTo>
                <a:lnTo>
                  <a:pt x="111853" y="160789"/>
                </a:lnTo>
                <a:cubicBezTo>
                  <a:pt x="111853" y="156944"/>
                  <a:pt x="108707" y="153798"/>
                  <a:pt x="104862" y="153798"/>
                </a:cubicBezTo>
                <a:lnTo>
                  <a:pt x="90881" y="153798"/>
                </a:lnTo>
                <a:close/>
                <a:moveTo>
                  <a:pt x="139817" y="160789"/>
                </a:moveTo>
                <a:lnTo>
                  <a:pt x="139817" y="174771"/>
                </a:lnTo>
                <a:cubicBezTo>
                  <a:pt x="139817" y="178616"/>
                  <a:pt x="142962" y="181761"/>
                  <a:pt x="146807" y="181761"/>
                </a:cubicBezTo>
                <a:lnTo>
                  <a:pt x="160789" y="181761"/>
                </a:lnTo>
                <a:cubicBezTo>
                  <a:pt x="164634" y="181761"/>
                  <a:pt x="167780" y="178616"/>
                  <a:pt x="167780" y="174771"/>
                </a:cubicBezTo>
                <a:lnTo>
                  <a:pt x="167780" y="160789"/>
                </a:lnTo>
                <a:cubicBezTo>
                  <a:pt x="167780" y="156944"/>
                  <a:pt x="164634" y="153798"/>
                  <a:pt x="160789" y="153798"/>
                </a:cubicBezTo>
                <a:lnTo>
                  <a:pt x="146807" y="153798"/>
                </a:lnTo>
                <a:cubicBezTo>
                  <a:pt x="142962" y="153798"/>
                  <a:pt x="139817" y="156944"/>
                  <a:pt x="139817" y="160789"/>
                </a:cubicBezTo>
                <a:close/>
              </a:path>
            </a:pathLst>
          </a:custGeom>
          <a:solidFill>
            <a:srgbClr val="5E7A91"/>
          </a:solidFill>
          <a:ln/>
        </p:spPr>
      </p:sp>
      <p:sp>
        <p:nvSpPr>
          <p:cNvPr id="31" name="Text 29"/>
          <p:cNvSpPr/>
          <p:nvPr/>
        </p:nvSpPr>
        <p:spPr>
          <a:xfrm>
            <a:off x="6769158" y="1640514"/>
            <a:ext cx="1537982" cy="260991"/>
          </a:xfrm>
          <a:prstGeom prst="rect">
            <a:avLst/>
          </a:prstGeom>
          <a:noFill/>
          <a:ln/>
        </p:spPr>
        <p:txBody>
          <a:bodyPr wrap="square" lIns="0" tIns="0" rIns="0" bIns="0" rtlCol="0" anchor="ctr"/>
          <a:lstStyle/>
          <a:p>
            <a:pPr>
              <a:lnSpc>
                <a:spcPct val="120000"/>
              </a:lnSpc>
            </a:pPr>
            <a:r>
              <a:rPr lang="en-US" sz="1468" b="1" dirty="0">
                <a:solidFill>
                  <a:srgbClr val="1A3A52"/>
                </a:solidFill>
                <a:latin typeface="Liter" pitchFamily="34" charset="0"/>
                <a:ea typeface="Liter" pitchFamily="34" charset="-122"/>
                <a:cs typeface="Liter" pitchFamily="34" charset="-120"/>
              </a:rPr>
              <a:t>Timeline &amp; Scope</a:t>
            </a:r>
            <a:endParaRPr lang="en-US" sz="1600" dirty="0"/>
          </a:p>
        </p:txBody>
      </p:sp>
      <p:sp>
        <p:nvSpPr>
          <p:cNvPr id="32" name="Text 30"/>
          <p:cNvSpPr/>
          <p:nvPr/>
        </p:nvSpPr>
        <p:spPr>
          <a:xfrm>
            <a:off x="6377672" y="2013358"/>
            <a:ext cx="5322349" cy="186422"/>
          </a:xfrm>
          <a:prstGeom prst="rect">
            <a:avLst/>
          </a:prstGeom>
          <a:noFill/>
          <a:ln/>
        </p:spPr>
        <p:txBody>
          <a:bodyPr wrap="square" lIns="0" tIns="0" rIns="0" bIns="0" rtlCol="0" anchor="ctr"/>
          <a:lstStyle/>
          <a:p>
            <a:pPr>
              <a:lnSpc>
                <a:spcPct val="120000"/>
              </a:lnSpc>
            </a:pPr>
            <a:r>
              <a:rPr lang="en-US" sz="1028" b="1" dirty="0">
                <a:solidFill>
                  <a:srgbClr val="5E7A91"/>
                </a:solidFill>
                <a:latin typeface="Liter" pitchFamily="34" charset="0"/>
                <a:ea typeface="Liter" pitchFamily="34" charset="-122"/>
                <a:cs typeface="Liter" pitchFamily="34" charset="-120"/>
              </a:rPr>
              <a:t>Project Duration</a:t>
            </a:r>
            <a:endParaRPr lang="en-US" sz="1600" dirty="0"/>
          </a:p>
        </p:txBody>
      </p:sp>
      <p:sp>
        <p:nvSpPr>
          <p:cNvPr id="33" name="Text 31"/>
          <p:cNvSpPr/>
          <p:nvPr/>
        </p:nvSpPr>
        <p:spPr>
          <a:xfrm>
            <a:off x="6377672" y="2199780"/>
            <a:ext cx="5331670"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Q1 2025 – Q3 2025 (9 months)</a:t>
            </a:r>
            <a:endParaRPr lang="en-US" sz="1600" dirty="0"/>
          </a:p>
        </p:txBody>
      </p:sp>
      <p:sp>
        <p:nvSpPr>
          <p:cNvPr id="34" name="Text 32"/>
          <p:cNvSpPr/>
          <p:nvPr/>
        </p:nvSpPr>
        <p:spPr>
          <a:xfrm>
            <a:off x="6377672" y="2535339"/>
            <a:ext cx="5322349" cy="186422"/>
          </a:xfrm>
          <a:prstGeom prst="rect">
            <a:avLst/>
          </a:prstGeom>
          <a:noFill/>
          <a:ln/>
        </p:spPr>
        <p:txBody>
          <a:bodyPr wrap="square" lIns="0" tIns="0" rIns="0" bIns="0" rtlCol="0" anchor="ctr"/>
          <a:lstStyle/>
          <a:p>
            <a:pPr>
              <a:lnSpc>
                <a:spcPct val="120000"/>
              </a:lnSpc>
            </a:pPr>
            <a:r>
              <a:rPr lang="en-US" sz="1028" b="1" dirty="0">
                <a:solidFill>
                  <a:srgbClr val="5E7A91"/>
                </a:solidFill>
                <a:latin typeface="Liter" pitchFamily="34" charset="0"/>
                <a:ea typeface="Liter" pitchFamily="34" charset="-122"/>
                <a:cs typeface="Liter" pitchFamily="34" charset="-120"/>
              </a:rPr>
              <a:t>Target Completion</a:t>
            </a:r>
            <a:endParaRPr lang="en-US" sz="1600" dirty="0"/>
          </a:p>
        </p:txBody>
      </p:sp>
      <p:sp>
        <p:nvSpPr>
          <p:cNvPr id="35" name="Text 33"/>
          <p:cNvSpPr/>
          <p:nvPr/>
        </p:nvSpPr>
        <p:spPr>
          <a:xfrm>
            <a:off x="6377672" y="2721761"/>
            <a:ext cx="5331670"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Q3 2025</a:t>
            </a:r>
            <a:endParaRPr lang="en-US" sz="1600" dirty="0"/>
          </a:p>
        </p:txBody>
      </p:sp>
      <p:sp>
        <p:nvSpPr>
          <p:cNvPr id="36" name="Text 34"/>
          <p:cNvSpPr/>
          <p:nvPr/>
        </p:nvSpPr>
        <p:spPr>
          <a:xfrm>
            <a:off x="6377672" y="3057321"/>
            <a:ext cx="5322349" cy="186422"/>
          </a:xfrm>
          <a:prstGeom prst="rect">
            <a:avLst/>
          </a:prstGeom>
          <a:noFill/>
          <a:ln/>
        </p:spPr>
        <p:txBody>
          <a:bodyPr wrap="square" lIns="0" tIns="0" rIns="0" bIns="0" rtlCol="0" anchor="ctr"/>
          <a:lstStyle/>
          <a:p>
            <a:pPr>
              <a:lnSpc>
                <a:spcPct val="120000"/>
              </a:lnSpc>
            </a:pPr>
            <a:r>
              <a:rPr lang="en-US" sz="1028" b="1" dirty="0">
                <a:solidFill>
                  <a:srgbClr val="5E7A91"/>
                </a:solidFill>
                <a:latin typeface="Liter" pitchFamily="34" charset="0"/>
                <a:ea typeface="Liter" pitchFamily="34" charset="-122"/>
                <a:cs typeface="Liter" pitchFamily="34" charset="-120"/>
              </a:rPr>
              <a:t>Scope</a:t>
            </a:r>
            <a:endParaRPr lang="en-US" sz="1600" dirty="0"/>
          </a:p>
        </p:txBody>
      </p:sp>
      <p:sp>
        <p:nvSpPr>
          <p:cNvPr id="37" name="Text 35"/>
          <p:cNvSpPr/>
          <p:nvPr/>
        </p:nvSpPr>
        <p:spPr>
          <a:xfrm>
            <a:off x="6377672" y="3243743"/>
            <a:ext cx="5331670"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All employees (L1-L4 levels)</a:t>
            </a:r>
            <a:endParaRPr lang="en-US" sz="1600" dirty="0"/>
          </a:p>
        </p:txBody>
      </p:sp>
      <p:sp>
        <p:nvSpPr>
          <p:cNvPr id="38" name="Text 36"/>
          <p:cNvSpPr/>
          <p:nvPr/>
        </p:nvSpPr>
        <p:spPr>
          <a:xfrm>
            <a:off x="6377672" y="3579303"/>
            <a:ext cx="5322349" cy="186422"/>
          </a:xfrm>
          <a:prstGeom prst="rect">
            <a:avLst/>
          </a:prstGeom>
          <a:noFill/>
          <a:ln/>
        </p:spPr>
        <p:txBody>
          <a:bodyPr wrap="square" lIns="0" tIns="0" rIns="0" bIns="0" rtlCol="0" anchor="ctr"/>
          <a:lstStyle/>
          <a:p>
            <a:pPr>
              <a:lnSpc>
                <a:spcPct val="120000"/>
              </a:lnSpc>
            </a:pPr>
            <a:r>
              <a:rPr lang="en-US" sz="1028" b="1" dirty="0">
                <a:solidFill>
                  <a:srgbClr val="5E7A91"/>
                </a:solidFill>
                <a:latin typeface="Liter" pitchFamily="34" charset="0"/>
                <a:ea typeface="Liter" pitchFamily="34" charset="-122"/>
                <a:cs typeface="Liter" pitchFamily="34" charset="-120"/>
              </a:rPr>
              <a:t>Focus Areas</a:t>
            </a:r>
            <a:endParaRPr lang="en-US" sz="1600" dirty="0"/>
          </a:p>
        </p:txBody>
      </p:sp>
      <p:sp>
        <p:nvSpPr>
          <p:cNvPr id="39" name="Text 37"/>
          <p:cNvSpPr/>
          <p:nvPr/>
        </p:nvSpPr>
        <p:spPr>
          <a:xfrm>
            <a:off x="6377672" y="3765725"/>
            <a:ext cx="5331670"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Career growth, compensation, work environment, governance</a:t>
            </a:r>
            <a:endParaRPr lang="en-US" sz="1600" dirty="0"/>
          </a:p>
        </p:txBody>
      </p:sp>
      <p:sp>
        <p:nvSpPr>
          <p:cNvPr id="40" name="Shape 38"/>
          <p:cNvSpPr/>
          <p:nvPr/>
        </p:nvSpPr>
        <p:spPr>
          <a:xfrm>
            <a:off x="6191250" y="4324991"/>
            <a:ext cx="5629945" cy="2125211"/>
          </a:xfrm>
          <a:custGeom>
            <a:avLst/>
            <a:gdLst/>
            <a:ahLst/>
            <a:cxnLst/>
            <a:rect l="l" t="t" r="r" b="b"/>
            <a:pathLst>
              <a:path w="5629945" h="2125211">
                <a:moveTo>
                  <a:pt x="74574" y="0"/>
                </a:moveTo>
                <a:lnTo>
                  <a:pt x="5555371" y="0"/>
                </a:lnTo>
                <a:cubicBezTo>
                  <a:pt x="5596557" y="0"/>
                  <a:pt x="5629945" y="33388"/>
                  <a:pt x="5629945" y="74574"/>
                </a:cubicBezTo>
                <a:lnTo>
                  <a:pt x="5629945" y="2050637"/>
                </a:lnTo>
                <a:cubicBezTo>
                  <a:pt x="5629945" y="2091823"/>
                  <a:pt x="5596557" y="2125211"/>
                  <a:pt x="5555371" y="2125211"/>
                </a:cubicBezTo>
                <a:lnTo>
                  <a:pt x="74574" y="2125211"/>
                </a:lnTo>
                <a:cubicBezTo>
                  <a:pt x="33388" y="2125211"/>
                  <a:pt x="0" y="2091823"/>
                  <a:pt x="0" y="2050637"/>
                </a:cubicBezTo>
                <a:lnTo>
                  <a:pt x="0" y="74574"/>
                </a:lnTo>
                <a:cubicBezTo>
                  <a:pt x="0" y="33388"/>
                  <a:pt x="33388" y="0"/>
                  <a:pt x="74574" y="0"/>
                </a:cubicBezTo>
                <a:close/>
              </a:path>
            </a:pathLst>
          </a:custGeom>
          <a:solidFill>
            <a:srgbClr val="FFFFFF"/>
          </a:solidFill>
          <a:ln/>
          <a:effectLst>
            <a:outerShdw blurRad="139817" dist="93211" dir="5400000" algn="bl" rotWithShape="0">
              <a:srgbClr val="000000">
                <a:alpha val="10196"/>
              </a:srgbClr>
            </a:outerShdw>
          </a:effectLst>
        </p:spPr>
      </p:sp>
      <p:sp>
        <p:nvSpPr>
          <p:cNvPr id="41" name="Shape 39"/>
          <p:cNvSpPr/>
          <p:nvPr/>
        </p:nvSpPr>
        <p:spPr>
          <a:xfrm>
            <a:off x="6377672" y="4530055"/>
            <a:ext cx="279633" cy="223706"/>
          </a:xfrm>
          <a:custGeom>
            <a:avLst/>
            <a:gdLst/>
            <a:ahLst/>
            <a:cxnLst/>
            <a:rect l="l" t="t" r="r" b="b"/>
            <a:pathLst>
              <a:path w="279633" h="223706">
                <a:moveTo>
                  <a:pt x="139817" y="97872"/>
                </a:moveTo>
                <a:cubicBezTo>
                  <a:pt x="164896" y="97872"/>
                  <a:pt x="185257" y="77510"/>
                  <a:pt x="185257" y="52431"/>
                </a:cubicBezTo>
                <a:cubicBezTo>
                  <a:pt x="185257" y="27352"/>
                  <a:pt x="164896" y="6991"/>
                  <a:pt x="139817" y="6991"/>
                </a:cubicBezTo>
                <a:cubicBezTo>
                  <a:pt x="114737" y="6991"/>
                  <a:pt x="94376" y="27352"/>
                  <a:pt x="94376" y="52431"/>
                </a:cubicBezTo>
                <a:cubicBezTo>
                  <a:pt x="94376" y="77510"/>
                  <a:pt x="114737" y="97872"/>
                  <a:pt x="139817" y="97872"/>
                </a:cubicBezTo>
                <a:close/>
                <a:moveTo>
                  <a:pt x="41945" y="101367"/>
                </a:moveTo>
                <a:cubicBezTo>
                  <a:pt x="59307" y="101367"/>
                  <a:pt x="73404" y="87271"/>
                  <a:pt x="73404" y="69908"/>
                </a:cubicBezTo>
                <a:cubicBezTo>
                  <a:pt x="73404" y="52546"/>
                  <a:pt x="59307" y="38450"/>
                  <a:pt x="41945" y="38450"/>
                </a:cubicBezTo>
                <a:cubicBezTo>
                  <a:pt x="24582" y="38450"/>
                  <a:pt x="10486" y="52546"/>
                  <a:pt x="10486" y="69908"/>
                </a:cubicBezTo>
                <a:cubicBezTo>
                  <a:pt x="10486" y="87271"/>
                  <a:pt x="24582" y="101367"/>
                  <a:pt x="41945" y="101367"/>
                </a:cubicBezTo>
                <a:close/>
                <a:moveTo>
                  <a:pt x="0" y="181761"/>
                </a:moveTo>
                <a:lnTo>
                  <a:pt x="0" y="195743"/>
                </a:lnTo>
                <a:cubicBezTo>
                  <a:pt x="0" y="203477"/>
                  <a:pt x="6248" y="209725"/>
                  <a:pt x="13982" y="209725"/>
                </a:cubicBezTo>
                <a:lnTo>
                  <a:pt x="51863" y="209725"/>
                </a:lnTo>
                <a:cubicBezTo>
                  <a:pt x="49984" y="205443"/>
                  <a:pt x="48936" y="200724"/>
                  <a:pt x="48936" y="195743"/>
                </a:cubicBezTo>
                <a:lnTo>
                  <a:pt x="48936" y="188752"/>
                </a:lnTo>
                <a:cubicBezTo>
                  <a:pt x="48936" y="165508"/>
                  <a:pt x="57674" y="144273"/>
                  <a:pt x="72049" y="128194"/>
                </a:cubicBezTo>
                <a:cubicBezTo>
                  <a:pt x="66937" y="126665"/>
                  <a:pt x="61519" y="125835"/>
                  <a:pt x="55927" y="125835"/>
                </a:cubicBezTo>
                <a:cubicBezTo>
                  <a:pt x="25036" y="125835"/>
                  <a:pt x="0" y="150871"/>
                  <a:pt x="0" y="181761"/>
                </a:cubicBezTo>
                <a:close/>
                <a:moveTo>
                  <a:pt x="269147" y="69908"/>
                </a:moveTo>
                <a:cubicBezTo>
                  <a:pt x="269147" y="52546"/>
                  <a:pt x="255051" y="38450"/>
                  <a:pt x="237688" y="38450"/>
                </a:cubicBezTo>
                <a:cubicBezTo>
                  <a:pt x="220326" y="38450"/>
                  <a:pt x="206229" y="52546"/>
                  <a:pt x="206229" y="69908"/>
                </a:cubicBezTo>
                <a:cubicBezTo>
                  <a:pt x="206229" y="87271"/>
                  <a:pt x="220326" y="101367"/>
                  <a:pt x="237688" y="101367"/>
                </a:cubicBezTo>
                <a:cubicBezTo>
                  <a:pt x="255051" y="101367"/>
                  <a:pt x="269147" y="87271"/>
                  <a:pt x="269147" y="69908"/>
                </a:cubicBezTo>
                <a:close/>
                <a:moveTo>
                  <a:pt x="69908" y="188752"/>
                </a:moveTo>
                <a:lnTo>
                  <a:pt x="69908" y="195743"/>
                </a:lnTo>
                <a:cubicBezTo>
                  <a:pt x="69908" y="203477"/>
                  <a:pt x="76156" y="209725"/>
                  <a:pt x="83890" y="209725"/>
                </a:cubicBezTo>
                <a:lnTo>
                  <a:pt x="152400" y="209725"/>
                </a:lnTo>
                <a:cubicBezTo>
                  <a:pt x="149298" y="200287"/>
                  <a:pt x="149647" y="190325"/>
                  <a:pt x="157075" y="181761"/>
                </a:cubicBezTo>
                <a:cubicBezTo>
                  <a:pt x="150958" y="174683"/>
                  <a:pt x="148118" y="164415"/>
                  <a:pt x="152094" y="154104"/>
                </a:cubicBezTo>
                <a:cubicBezTo>
                  <a:pt x="154978" y="146633"/>
                  <a:pt x="159041" y="139642"/>
                  <a:pt x="164066" y="133437"/>
                </a:cubicBezTo>
                <a:cubicBezTo>
                  <a:pt x="166425" y="130554"/>
                  <a:pt x="169134" y="128325"/>
                  <a:pt x="172062" y="126709"/>
                </a:cubicBezTo>
                <a:cubicBezTo>
                  <a:pt x="162406" y="121684"/>
                  <a:pt x="151439" y="118844"/>
                  <a:pt x="139817" y="118844"/>
                </a:cubicBezTo>
                <a:cubicBezTo>
                  <a:pt x="101192" y="118844"/>
                  <a:pt x="69908" y="150128"/>
                  <a:pt x="69908" y="188752"/>
                </a:cubicBezTo>
                <a:close/>
                <a:moveTo>
                  <a:pt x="272904" y="169484"/>
                </a:moveTo>
                <a:cubicBezTo>
                  <a:pt x="275657" y="167911"/>
                  <a:pt x="277055" y="164634"/>
                  <a:pt x="275875" y="161619"/>
                </a:cubicBezTo>
                <a:cubicBezTo>
                  <a:pt x="273778" y="156201"/>
                  <a:pt x="270851" y="151089"/>
                  <a:pt x="267181" y="146589"/>
                </a:cubicBezTo>
                <a:cubicBezTo>
                  <a:pt x="265171" y="144098"/>
                  <a:pt x="261632" y="143661"/>
                  <a:pt x="258879" y="145278"/>
                </a:cubicBezTo>
                <a:cubicBezTo>
                  <a:pt x="249354" y="150783"/>
                  <a:pt x="237644" y="144055"/>
                  <a:pt x="237644" y="133000"/>
                </a:cubicBezTo>
                <a:cubicBezTo>
                  <a:pt x="237644" y="129811"/>
                  <a:pt x="235503" y="126971"/>
                  <a:pt x="232358" y="126490"/>
                </a:cubicBezTo>
                <a:cubicBezTo>
                  <a:pt x="226721" y="125616"/>
                  <a:pt x="220648" y="125616"/>
                  <a:pt x="215012" y="126490"/>
                </a:cubicBezTo>
                <a:cubicBezTo>
                  <a:pt x="211866" y="126971"/>
                  <a:pt x="209725" y="129811"/>
                  <a:pt x="209725" y="133000"/>
                </a:cubicBezTo>
                <a:cubicBezTo>
                  <a:pt x="209725" y="144011"/>
                  <a:pt x="198015" y="150783"/>
                  <a:pt x="188490" y="145278"/>
                </a:cubicBezTo>
                <a:cubicBezTo>
                  <a:pt x="185737" y="143705"/>
                  <a:pt x="182198" y="144142"/>
                  <a:pt x="180189" y="146589"/>
                </a:cubicBezTo>
                <a:cubicBezTo>
                  <a:pt x="176518" y="151089"/>
                  <a:pt x="173591" y="156201"/>
                  <a:pt x="171494" y="161619"/>
                </a:cubicBezTo>
                <a:cubicBezTo>
                  <a:pt x="170358" y="164590"/>
                  <a:pt x="171712" y="167867"/>
                  <a:pt x="174465" y="169440"/>
                </a:cubicBezTo>
                <a:cubicBezTo>
                  <a:pt x="184033" y="174945"/>
                  <a:pt x="184033" y="188446"/>
                  <a:pt x="174465" y="193995"/>
                </a:cubicBezTo>
                <a:cubicBezTo>
                  <a:pt x="171712" y="195568"/>
                  <a:pt x="170314" y="198845"/>
                  <a:pt x="171494" y="201816"/>
                </a:cubicBezTo>
                <a:cubicBezTo>
                  <a:pt x="173591" y="207234"/>
                  <a:pt x="176518" y="212346"/>
                  <a:pt x="180189" y="216847"/>
                </a:cubicBezTo>
                <a:cubicBezTo>
                  <a:pt x="182198" y="219337"/>
                  <a:pt x="185737" y="219774"/>
                  <a:pt x="188490" y="218157"/>
                </a:cubicBezTo>
                <a:cubicBezTo>
                  <a:pt x="198015" y="212652"/>
                  <a:pt x="209725" y="219425"/>
                  <a:pt x="209725" y="230435"/>
                </a:cubicBezTo>
                <a:cubicBezTo>
                  <a:pt x="209725" y="233625"/>
                  <a:pt x="211866" y="236465"/>
                  <a:pt x="215012" y="236945"/>
                </a:cubicBezTo>
                <a:cubicBezTo>
                  <a:pt x="220648" y="237819"/>
                  <a:pt x="226721" y="237819"/>
                  <a:pt x="232358" y="236945"/>
                </a:cubicBezTo>
                <a:cubicBezTo>
                  <a:pt x="235503" y="236465"/>
                  <a:pt x="237644" y="233625"/>
                  <a:pt x="237644" y="230435"/>
                </a:cubicBezTo>
                <a:cubicBezTo>
                  <a:pt x="237644" y="219425"/>
                  <a:pt x="249354" y="212652"/>
                  <a:pt x="258879" y="218157"/>
                </a:cubicBezTo>
                <a:cubicBezTo>
                  <a:pt x="261632" y="219730"/>
                  <a:pt x="265171" y="219293"/>
                  <a:pt x="267181" y="216847"/>
                </a:cubicBezTo>
                <a:cubicBezTo>
                  <a:pt x="270851" y="212346"/>
                  <a:pt x="273778" y="207234"/>
                  <a:pt x="275875" y="201816"/>
                </a:cubicBezTo>
                <a:cubicBezTo>
                  <a:pt x="277011" y="198845"/>
                  <a:pt x="275657" y="195568"/>
                  <a:pt x="272904" y="193995"/>
                </a:cubicBezTo>
                <a:cubicBezTo>
                  <a:pt x="263336" y="188490"/>
                  <a:pt x="263336" y="174989"/>
                  <a:pt x="272904" y="169440"/>
                </a:cubicBezTo>
                <a:close/>
                <a:moveTo>
                  <a:pt x="206229" y="181761"/>
                </a:moveTo>
                <a:cubicBezTo>
                  <a:pt x="206229" y="172116"/>
                  <a:pt x="214061" y="164284"/>
                  <a:pt x="223706" y="164284"/>
                </a:cubicBezTo>
                <a:cubicBezTo>
                  <a:pt x="233352" y="164284"/>
                  <a:pt x="241183" y="172116"/>
                  <a:pt x="241183" y="181761"/>
                </a:cubicBezTo>
                <a:cubicBezTo>
                  <a:pt x="241183" y="191407"/>
                  <a:pt x="233352" y="199239"/>
                  <a:pt x="223706" y="199239"/>
                </a:cubicBezTo>
                <a:cubicBezTo>
                  <a:pt x="214061" y="199239"/>
                  <a:pt x="206229" y="191407"/>
                  <a:pt x="206229" y="181761"/>
                </a:cubicBezTo>
                <a:close/>
              </a:path>
            </a:pathLst>
          </a:custGeom>
          <a:solidFill>
            <a:srgbClr val="1A3A52"/>
          </a:solidFill>
          <a:ln/>
        </p:spPr>
      </p:sp>
      <p:sp>
        <p:nvSpPr>
          <p:cNvPr id="42" name="Text 40"/>
          <p:cNvSpPr/>
          <p:nvPr/>
        </p:nvSpPr>
        <p:spPr>
          <a:xfrm>
            <a:off x="6769158" y="4511413"/>
            <a:ext cx="1519339" cy="260991"/>
          </a:xfrm>
          <a:prstGeom prst="rect">
            <a:avLst/>
          </a:prstGeom>
          <a:noFill/>
          <a:ln/>
        </p:spPr>
        <p:txBody>
          <a:bodyPr wrap="square" lIns="0" tIns="0" rIns="0" bIns="0" rtlCol="0" anchor="ctr"/>
          <a:lstStyle/>
          <a:p>
            <a:pPr>
              <a:lnSpc>
                <a:spcPct val="120000"/>
              </a:lnSpc>
            </a:pPr>
            <a:r>
              <a:rPr lang="en-US" sz="1468" b="1" dirty="0">
                <a:solidFill>
                  <a:srgbClr val="1A3A52"/>
                </a:solidFill>
                <a:latin typeface="Liter" pitchFamily="34" charset="0"/>
                <a:ea typeface="Liter" pitchFamily="34" charset="-122"/>
                <a:cs typeface="Liter" pitchFamily="34" charset="-120"/>
              </a:rPr>
              <a:t>Key Stakeholders</a:t>
            </a:r>
            <a:endParaRPr lang="en-US" sz="1600" dirty="0"/>
          </a:p>
        </p:txBody>
      </p:sp>
      <p:sp>
        <p:nvSpPr>
          <p:cNvPr id="43" name="Shape 41"/>
          <p:cNvSpPr/>
          <p:nvPr/>
        </p:nvSpPr>
        <p:spPr>
          <a:xfrm>
            <a:off x="6377672" y="4884257"/>
            <a:ext cx="2572624" cy="633835"/>
          </a:xfrm>
          <a:custGeom>
            <a:avLst/>
            <a:gdLst/>
            <a:ahLst/>
            <a:cxnLst/>
            <a:rect l="l" t="t" r="r" b="b"/>
            <a:pathLst>
              <a:path w="2572624" h="633835">
                <a:moveTo>
                  <a:pt x="37282" y="0"/>
                </a:moveTo>
                <a:lnTo>
                  <a:pt x="2535342" y="0"/>
                </a:lnTo>
                <a:cubicBezTo>
                  <a:pt x="2555918" y="0"/>
                  <a:pt x="2572624" y="16706"/>
                  <a:pt x="2572624" y="37282"/>
                </a:cubicBezTo>
                <a:lnTo>
                  <a:pt x="2572624" y="596553"/>
                </a:lnTo>
                <a:cubicBezTo>
                  <a:pt x="2572624" y="617129"/>
                  <a:pt x="2555918" y="633835"/>
                  <a:pt x="2535342" y="633835"/>
                </a:cubicBezTo>
                <a:lnTo>
                  <a:pt x="37282" y="633835"/>
                </a:lnTo>
                <a:cubicBezTo>
                  <a:pt x="16706" y="633835"/>
                  <a:pt x="0" y="617129"/>
                  <a:pt x="0" y="596553"/>
                </a:cubicBezTo>
                <a:lnTo>
                  <a:pt x="0" y="37282"/>
                </a:lnTo>
                <a:cubicBezTo>
                  <a:pt x="0" y="16706"/>
                  <a:pt x="16706" y="0"/>
                  <a:pt x="37282" y="0"/>
                </a:cubicBezTo>
                <a:close/>
              </a:path>
            </a:pathLst>
          </a:custGeom>
          <a:solidFill>
            <a:srgbClr val="1A3A52">
              <a:alpha val="5098"/>
            </a:srgbClr>
          </a:solidFill>
          <a:ln/>
        </p:spPr>
      </p:sp>
      <p:sp>
        <p:nvSpPr>
          <p:cNvPr id="44" name="Text 42"/>
          <p:cNvSpPr/>
          <p:nvPr/>
        </p:nvSpPr>
        <p:spPr>
          <a:xfrm>
            <a:off x="6489525" y="4996110"/>
            <a:ext cx="2414165" cy="186422"/>
          </a:xfrm>
          <a:prstGeom prst="rect">
            <a:avLst/>
          </a:prstGeom>
          <a:noFill/>
          <a:ln/>
        </p:spPr>
        <p:txBody>
          <a:bodyPr wrap="square" lIns="0" tIns="0" rIns="0" bIns="0" rtlCol="0" anchor="ctr"/>
          <a:lstStyle/>
          <a:p>
            <a:pPr>
              <a:lnSpc>
                <a:spcPct val="120000"/>
              </a:lnSpc>
            </a:pPr>
            <a:r>
              <a:rPr lang="en-US" sz="1028" b="1" dirty="0">
                <a:solidFill>
                  <a:srgbClr val="1A3A52"/>
                </a:solidFill>
                <a:latin typeface="Liter" pitchFamily="34" charset="0"/>
                <a:ea typeface="Liter" pitchFamily="34" charset="-122"/>
                <a:cs typeface="Liter" pitchFamily="34" charset="-120"/>
              </a:rPr>
              <a:t>Sponsor</a:t>
            </a:r>
            <a:endParaRPr lang="en-US" sz="1600" dirty="0"/>
          </a:p>
        </p:txBody>
      </p:sp>
      <p:sp>
        <p:nvSpPr>
          <p:cNvPr id="45" name="Text 43"/>
          <p:cNvSpPr/>
          <p:nvPr/>
        </p:nvSpPr>
        <p:spPr>
          <a:xfrm>
            <a:off x="6489525" y="5182532"/>
            <a:ext cx="2423486"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Senior Management</a:t>
            </a:r>
            <a:endParaRPr lang="en-US" sz="1600" dirty="0"/>
          </a:p>
        </p:txBody>
      </p:sp>
      <p:sp>
        <p:nvSpPr>
          <p:cNvPr id="46" name="Shape 44"/>
          <p:cNvSpPr/>
          <p:nvPr/>
        </p:nvSpPr>
        <p:spPr>
          <a:xfrm>
            <a:off x="9063120" y="4884257"/>
            <a:ext cx="2572624" cy="633835"/>
          </a:xfrm>
          <a:custGeom>
            <a:avLst/>
            <a:gdLst/>
            <a:ahLst/>
            <a:cxnLst/>
            <a:rect l="l" t="t" r="r" b="b"/>
            <a:pathLst>
              <a:path w="2572624" h="633835">
                <a:moveTo>
                  <a:pt x="37282" y="0"/>
                </a:moveTo>
                <a:lnTo>
                  <a:pt x="2535342" y="0"/>
                </a:lnTo>
                <a:cubicBezTo>
                  <a:pt x="2555918" y="0"/>
                  <a:pt x="2572624" y="16706"/>
                  <a:pt x="2572624" y="37282"/>
                </a:cubicBezTo>
                <a:lnTo>
                  <a:pt x="2572624" y="596553"/>
                </a:lnTo>
                <a:cubicBezTo>
                  <a:pt x="2572624" y="617129"/>
                  <a:pt x="2555918" y="633835"/>
                  <a:pt x="2535342" y="633835"/>
                </a:cubicBezTo>
                <a:lnTo>
                  <a:pt x="37282" y="633835"/>
                </a:lnTo>
                <a:cubicBezTo>
                  <a:pt x="16706" y="633835"/>
                  <a:pt x="0" y="617129"/>
                  <a:pt x="0" y="596553"/>
                </a:cubicBezTo>
                <a:lnTo>
                  <a:pt x="0" y="37282"/>
                </a:lnTo>
                <a:cubicBezTo>
                  <a:pt x="0" y="16706"/>
                  <a:pt x="16706" y="0"/>
                  <a:pt x="37282" y="0"/>
                </a:cubicBezTo>
                <a:close/>
              </a:path>
            </a:pathLst>
          </a:custGeom>
          <a:solidFill>
            <a:srgbClr val="1A3A52">
              <a:alpha val="5098"/>
            </a:srgbClr>
          </a:solidFill>
          <a:ln/>
        </p:spPr>
      </p:sp>
      <p:sp>
        <p:nvSpPr>
          <p:cNvPr id="47" name="Text 45"/>
          <p:cNvSpPr/>
          <p:nvPr/>
        </p:nvSpPr>
        <p:spPr>
          <a:xfrm>
            <a:off x="9174973" y="4996110"/>
            <a:ext cx="2414165" cy="186422"/>
          </a:xfrm>
          <a:prstGeom prst="rect">
            <a:avLst/>
          </a:prstGeom>
          <a:noFill/>
          <a:ln/>
        </p:spPr>
        <p:txBody>
          <a:bodyPr wrap="square" lIns="0" tIns="0" rIns="0" bIns="0" rtlCol="0" anchor="ctr"/>
          <a:lstStyle/>
          <a:p>
            <a:pPr>
              <a:lnSpc>
                <a:spcPct val="120000"/>
              </a:lnSpc>
            </a:pPr>
            <a:r>
              <a:rPr lang="en-US" sz="1028" b="1" dirty="0">
                <a:solidFill>
                  <a:srgbClr val="1A3A52"/>
                </a:solidFill>
                <a:latin typeface="Liter" pitchFamily="34" charset="0"/>
                <a:ea typeface="Liter" pitchFamily="34" charset="-122"/>
                <a:cs typeface="Liter" pitchFamily="34" charset="-120"/>
              </a:rPr>
              <a:t>Champion</a:t>
            </a:r>
            <a:endParaRPr lang="en-US" sz="1600" dirty="0"/>
          </a:p>
        </p:txBody>
      </p:sp>
      <p:sp>
        <p:nvSpPr>
          <p:cNvPr id="48" name="Text 46"/>
          <p:cNvSpPr/>
          <p:nvPr/>
        </p:nvSpPr>
        <p:spPr>
          <a:xfrm>
            <a:off x="9174973" y="5182532"/>
            <a:ext cx="2423486"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HR Head</a:t>
            </a:r>
            <a:endParaRPr lang="en-US" sz="1600" dirty="0"/>
          </a:p>
        </p:txBody>
      </p:sp>
      <p:sp>
        <p:nvSpPr>
          <p:cNvPr id="49" name="Shape 47"/>
          <p:cNvSpPr/>
          <p:nvPr/>
        </p:nvSpPr>
        <p:spPr>
          <a:xfrm>
            <a:off x="6377672" y="5629945"/>
            <a:ext cx="2572624" cy="633835"/>
          </a:xfrm>
          <a:custGeom>
            <a:avLst/>
            <a:gdLst/>
            <a:ahLst/>
            <a:cxnLst/>
            <a:rect l="l" t="t" r="r" b="b"/>
            <a:pathLst>
              <a:path w="2572624" h="633835">
                <a:moveTo>
                  <a:pt x="37282" y="0"/>
                </a:moveTo>
                <a:lnTo>
                  <a:pt x="2535342" y="0"/>
                </a:lnTo>
                <a:cubicBezTo>
                  <a:pt x="2555918" y="0"/>
                  <a:pt x="2572624" y="16706"/>
                  <a:pt x="2572624" y="37282"/>
                </a:cubicBezTo>
                <a:lnTo>
                  <a:pt x="2572624" y="596553"/>
                </a:lnTo>
                <a:cubicBezTo>
                  <a:pt x="2572624" y="617129"/>
                  <a:pt x="2555918" y="633835"/>
                  <a:pt x="2535342" y="633835"/>
                </a:cubicBezTo>
                <a:lnTo>
                  <a:pt x="37282" y="633835"/>
                </a:lnTo>
                <a:cubicBezTo>
                  <a:pt x="16706" y="633835"/>
                  <a:pt x="0" y="617129"/>
                  <a:pt x="0" y="596553"/>
                </a:cubicBezTo>
                <a:lnTo>
                  <a:pt x="0" y="37282"/>
                </a:lnTo>
                <a:cubicBezTo>
                  <a:pt x="0" y="16706"/>
                  <a:pt x="16706" y="0"/>
                  <a:pt x="37282" y="0"/>
                </a:cubicBezTo>
                <a:close/>
              </a:path>
            </a:pathLst>
          </a:custGeom>
          <a:solidFill>
            <a:srgbClr val="1A3A52">
              <a:alpha val="5098"/>
            </a:srgbClr>
          </a:solidFill>
          <a:ln/>
        </p:spPr>
      </p:sp>
      <p:sp>
        <p:nvSpPr>
          <p:cNvPr id="50" name="Text 48"/>
          <p:cNvSpPr/>
          <p:nvPr/>
        </p:nvSpPr>
        <p:spPr>
          <a:xfrm>
            <a:off x="6489525" y="5741798"/>
            <a:ext cx="2414165" cy="186422"/>
          </a:xfrm>
          <a:prstGeom prst="rect">
            <a:avLst/>
          </a:prstGeom>
          <a:noFill/>
          <a:ln/>
        </p:spPr>
        <p:txBody>
          <a:bodyPr wrap="square" lIns="0" tIns="0" rIns="0" bIns="0" rtlCol="0" anchor="ctr"/>
          <a:lstStyle/>
          <a:p>
            <a:pPr>
              <a:lnSpc>
                <a:spcPct val="120000"/>
              </a:lnSpc>
            </a:pPr>
            <a:r>
              <a:rPr lang="en-US" sz="1028" b="1" dirty="0">
                <a:solidFill>
                  <a:srgbClr val="1A3A52"/>
                </a:solidFill>
                <a:latin typeface="Liter" pitchFamily="34" charset="0"/>
                <a:ea typeface="Liter" pitchFamily="34" charset="-122"/>
                <a:cs typeface="Liter" pitchFamily="34" charset="-120"/>
              </a:rPr>
              <a:t>Team Lead</a:t>
            </a:r>
            <a:endParaRPr lang="en-US" sz="1600" dirty="0"/>
          </a:p>
        </p:txBody>
      </p:sp>
      <p:sp>
        <p:nvSpPr>
          <p:cNvPr id="51" name="Text 49"/>
          <p:cNvSpPr/>
          <p:nvPr/>
        </p:nvSpPr>
        <p:spPr>
          <a:xfrm>
            <a:off x="6489525" y="5928220"/>
            <a:ext cx="2423486"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Project Manager</a:t>
            </a:r>
            <a:endParaRPr lang="en-US" sz="1600" dirty="0"/>
          </a:p>
        </p:txBody>
      </p:sp>
      <p:sp>
        <p:nvSpPr>
          <p:cNvPr id="52" name="Shape 50"/>
          <p:cNvSpPr/>
          <p:nvPr/>
        </p:nvSpPr>
        <p:spPr>
          <a:xfrm>
            <a:off x="9063120" y="5629945"/>
            <a:ext cx="2572624" cy="633835"/>
          </a:xfrm>
          <a:custGeom>
            <a:avLst/>
            <a:gdLst/>
            <a:ahLst/>
            <a:cxnLst/>
            <a:rect l="l" t="t" r="r" b="b"/>
            <a:pathLst>
              <a:path w="2572624" h="633835">
                <a:moveTo>
                  <a:pt x="37282" y="0"/>
                </a:moveTo>
                <a:lnTo>
                  <a:pt x="2535342" y="0"/>
                </a:lnTo>
                <a:cubicBezTo>
                  <a:pt x="2555918" y="0"/>
                  <a:pt x="2572624" y="16706"/>
                  <a:pt x="2572624" y="37282"/>
                </a:cubicBezTo>
                <a:lnTo>
                  <a:pt x="2572624" y="596553"/>
                </a:lnTo>
                <a:cubicBezTo>
                  <a:pt x="2572624" y="617129"/>
                  <a:pt x="2555918" y="633835"/>
                  <a:pt x="2535342" y="633835"/>
                </a:cubicBezTo>
                <a:lnTo>
                  <a:pt x="37282" y="633835"/>
                </a:lnTo>
                <a:cubicBezTo>
                  <a:pt x="16706" y="633835"/>
                  <a:pt x="0" y="617129"/>
                  <a:pt x="0" y="596553"/>
                </a:cubicBezTo>
                <a:lnTo>
                  <a:pt x="0" y="37282"/>
                </a:lnTo>
                <a:cubicBezTo>
                  <a:pt x="0" y="16706"/>
                  <a:pt x="16706" y="0"/>
                  <a:pt x="37282" y="0"/>
                </a:cubicBezTo>
                <a:close/>
              </a:path>
            </a:pathLst>
          </a:custGeom>
          <a:solidFill>
            <a:srgbClr val="1A3A52">
              <a:alpha val="5098"/>
            </a:srgbClr>
          </a:solidFill>
          <a:ln/>
        </p:spPr>
      </p:sp>
      <p:sp>
        <p:nvSpPr>
          <p:cNvPr id="53" name="Text 51"/>
          <p:cNvSpPr/>
          <p:nvPr/>
        </p:nvSpPr>
        <p:spPr>
          <a:xfrm>
            <a:off x="9174973" y="5741798"/>
            <a:ext cx="2414165" cy="186422"/>
          </a:xfrm>
          <a:prstGeom prst="rect">
            <a:avLst/>
          </a:prstGeom>
          <a:noFill/>
          <a:ln/>
        </p:spPr>
        <p:txBody>
          <a:bodyPr wrap="square" lIns="0" tIns="0" rIns="0" bIns="0" rtlCol="0" anchor="ctr"/>
          <a:lstStyle/>
          <a:p>
            <a:pPr>
              <a:lnSpc>
                <a:spcPct val="120000"/>
              </a:lnSpc>
            </a:pPr>
            <a:r>
              <a:rPr lang="en-US" sz="1028" b="1" dirty="0">
                <a:solidFill>
                  <a:srgbClr val="1A3A52"/>
                </a:solidFill>
                <a:latin typeface="Liter" pitchFamily="34" charset="0"/>
                <a:ea typeface="Liter" pitchFamily="34" charset="-122"/>
                <a:cs typeface="Liter" pitchFamily="34" charset="-120"/>
              </a:rPr>
              <a:t>Team Members</a:t>
            </a:r>
            <a:endParaRPr lang="en-US" sz="1600" dirty="0"/>
          </a:p>
        </p:txBody>
      </p:sp>
      <p:sp>
        <p:nvSpPr>
          <p:cNvPr id="54" name="Text 52"/>
          <p:cNvSpPr/>
          <p:nvPr/>
        </p:nvSpPr>
        <p:spPr>
          <a:xfrm>
            <a:off x="9174973" y="5928220"/>
            <a:ext cx="2423486" cy="223706"/>
          </a:xfrm>
          <a:prstGeom prst="rect">
            <a:avLst/>
          </a:prstGeom>
          <a:noFill/>
          <a:ln/>
        </p:spPr>
        <p:txBody>
          <a:bodyPr wrap="square" lIns="0" tIns="0" rIns="0" bIns="0" rtlCol="0" anchor="ctr"/>
          <a:lstStyle/>
          <a:p>
            <a:pPr>
              <a:lnSpc>
                <a:spcPct val="130000"/>
              </a:lnSpc>
            </a:pPr>
            <a:r>
              <a:rPr lang="en-US" sz="1174" dirty="0">
                <a:solidFill>
                  <a:srgbClr val="212529"/>
                </a:solidFill>
                <a:latin typeface="Liter" pitchFamily="34" charset="0"/>
                <a:ea typeface="Liter" pitchFamily="34" charset="-122"/>
                <a:cs typeface="Liter" pitchFamily="34" charset="-120"/>
              </a:rPr>
              <a:t>HR, PMs, Training</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B8D914E-3B12-149C-ADEC-0CAE35CA8294}"/>
              </a:ext>
            </a:extLst>
          </p:cNvPr>
          <p:cNvGraphicFramePr>
            <a:graphicFrameLocks noGrp="1"/>
          </p:cNvGraphicFramePr>
          <p:nvPr>
            <p:extLst>
              <p:ext uri="{D42A27DB-BD31-4B8C-83A1-F6EECF244321}">
                <p14:modId xmlns:p14="http://schemas.microsoft.com/office/powerpoint/2010/main" val="1860523247"/>
              </p:ext>
            </p:extLst>
          </p:nvPr>
        </p:nvGraphicFramePr>
        <p:xfrm>
          <a:off x="182880" y="121920"/>
          <a:ext cx="11717955" cy="6457676"/>
        </p:xfrm>
        <a:graphic>
          <a:graphicData uri="http://schemas.openxmlformats.org/drawingml/2006/table">
            <a:tbl>
              <a:tblPr/>
              <a:tblGrid>
                <a:gridCol w="678892">
                  <a:extLst>
                    <a:ext uri="{9D8B030D-6E8A-4147-A177-3AD203B41FA5}">
                      <a16:colId xmlns:a16="http://schemas.microsoft.com/office/drawing/2014/main" val="1201421682"/>
                    </a:ext>
                  </a:extLst>
                </a:gridCol>
                <a:gridCol w="452594">
                  <a:extLst>
                    <a:ext uri="{9D8B030D-6E8A-4147-A177-3AD203B41FA5}">
                      <a16:colId xmlns:a16="http://schemas.microsoft.com/office/drawing/2014/main" val="4046558195"/>
                    </a:ext>
                  </a:extLst>
                </a:gridCol>
                <a:gridCol w="678892">
                  <a:extLst>
                    <a:ext uri="{9D8B030D-6E8A-4147-A177-3AD203B41FA5}">
                      <a16:colId xmlns:a16="http://schemas.microsoft.com/office/drawing/2014/main" val="715458770"/>
                    </a:ext>
                  </a:extLst>
                </a:gridCol>
                <a:gridCol w="678892">
                  <a:extLst>
                    <a:ext uri="{9D8B030D-6E8A-4147-A177-3AD203B41FA5}">
                      <a16:colId xmlns:a16="http://schemas.microsoft.com/office/drawing/2014/main" val="1256457463"/>
                    </a:ext>
                  </a:extLst>
                </a:gridCol>
                <a:gridCol w="905188">
                  <a:extLst>
                    <a:ext uri="{9D8B030D-6E8A-4147-A177-3AD203B41FA5}">
                      <a16:colId xmlns:a16="http://schemas.microsoft.com/office/drawing/2014/main" val="601641092"/>
                    </a:ext>
                  </a:extLst>
                </a:gridCol>
                <a:gridCol w="678892">
                  <a:extLst>
                    <a:ext uri="{9D8B030D-6E8A-4147-A177-3AD203B41FA5}">
                      <a16:colId xmlns:a16="http://schemas.microsoft.com/office/drawing/2014/main" val="1100007019"/>
                    </a:ext>
                  </a:extLst>
                </a:gridCol>
                <a:gridCol w="678892">
                  <a:extLst>
                    <a:ext uri="{9D8B030D-6E8A-4147-A177-3AD203B41FA5}">
                      <a16:colId xmlns:a16="http://schemas.microsoft.com/office/drawing/2014/main" val="3383810300"/>
                    </a:ext>
                  </a:extLst>
                </a:gridCol>
                <a:gridCol w="452594">
                  <a:extLst>
                    <a:ext uri="{9D8B030D-6E8A-4147-A177-3AD203B41FA5}">
                      <a16:colId xmlns:a16="http://schemas.microsoft.com/office/drawing/2014/main" val="265403434"/>
                    </a:ext>
                  </a:extLst>
                </a:gridCol>
                <a:gridCol w="452594">
                  <a:extLst>
                    <a:ext uri="{9D8B030D-6E8A-4147-A177-3AD203B41FA5}">
                      <a16:colId xmlns:a16="http://schemas.microsoft.com/office/drawing/2014/main" val="526605303"/>
                    </a:ext>
                  </a:extLst>
                </a:gridCol>
                <a:gridCol w="678892">
                  <a:extLst>
                    <a:ext uri="{9D8B030D-6E8A-4147-A177-3AD203B41FA5}">
                      <a16:colId xmlns:a16="http://schemas.microsoft.com/office/drawing/2014/main" val="4190220509"/>
                    </a:ext>
                  </a:extLst>
                </a:gridCol>
                <a:gridCol w="678892">
                  <a:extLst>
                    <a:ext uri="{9D8B030D-6E8A-4147-A177-3AD203B41FA5}">
                      <a16:colId xmlns:a16="http://schemas.microsoft.com/office/drawing/2014/main" val="750670988"/>
                    </a:ext>
                  </a:extLst>
                </a:gridCol>
                <a:gridCol w="2574131">
                  <a:extLst>
                    <a:ext uri="{9D8B030D-6E8A-4147-A177-3AD203B41FA5}">
                      <a16:colId xmlns:a16="http://schemas.microsoft.com/office/drawing/2014/main" val="3510947066"/>
                    </a:ext>
                  </a:extLst>
                </a:gridCol>
                <a:gridCol w="1449718">
                  <a:extLst>
                    <a:ext uri="{9D8B030D-6E8A-4147-A177-3AD203B41FA5}">
                      <a16:colId xmlns:a16="http://schemas.microsoft.com/office/drawing/2014/main" val="1016935034"/>
                    </a:ext>
                  </a:extLst>
                </a:gridCol>
                <a:gridCol w="678892">
                  <a:extLst>
                    <a:ext uri="{9D8B030D-6E8A-4147-A177-3AD203B41FA5}">
                      <a16:colId xmlns:a16="http://schemas.microsoft.com/office/drawing/2014/main" val="1967918846"/>
                    </a:ext>
                  </a:extLst>
                </a:gridCol>
              </a:tblGrid>
              <a:tr h="262329">
                <a:tc gridSpan="14">
                  <a:txBody>
                    <a:bodyPr/>
                    <a:lstStyle/>
                    <a:p>
                      <a:pPr algn="l" fontAlgn="ctr">
                        <a:buNone/>
                      </a:pPr>
                      <a:r>
                        <a:rPr lang="en-IN" sz="800" b="1" i="0" u="none" strike="noStrike" dirty="0">
                          <a:solidFill>
                            <a:srgbClr val="FFFFFF"/>
                          </a:solidFill>
                          <a:effectLst/>
                          <a:latin typeface="+mn-lt"/>
                        </a:rPr>
                        <a:t>Project Charter</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073763"/>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937799389"/>
                  </a:ext>
                </a:extLst>
              </a:tr>
              <a:tr h="135687">
                <a:tc gridSpan="2">
                  <a:txBody>
                    <a:bodyPr/>
                    <a:lstStyle/>
                    <a:p>
                      <a:pPr algn="ctr" fontAlgn="ctr">
                        <a:buNone/>
                      </a:pPr>
                      <a:r>
                        <a:rPr lang="en-IN" sz="800" b="1" i="0" u="none" strike="noStrike" dirty="0">
                          <a:solidFill>
                            <a:srgbClr val="000000"/>
                          </a:solidFill>
                          <a:effectLst/>
                          <a:latin typeface="+mn-lt"/>
                        </a:rPr>
                        <a:t>Name: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gridSpan="6">
                  <a:txBody>
                    <a:bodyPr/>
                    <a:lstStyle/>
                    <a:p>
                      <a:pPr algn="l" fontAlgn="ctr">
                        <a:buNone/>
                      </a:pPr>
                      <a:r>
                        <a:rPr lang="en-IN" sz="800" b="0" i="0" u="none" strike="noStrike">
                          <a:solidFill>
                            <a:srgbClr val="000000"/>
                          </a:solidFill>
                          <a:effectLst/>
                          <a:latin typeface="+mn-lt"/>
                        </a:rPr>
                        <a:t>Pravin, Fazila, Murali, Bala</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1" i="0" u="none" strike="noStrike">
                          <a:solidFill>
                            <a:srgbClr val="000000"/>
                          </a:solidFill>
                          <a:effectLst/>
                          <a:latin typeface="+mn-lt"/>
                        </a:rPr>
                        <a:t>Batch:</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gridSpan="4">
                  <a:txBody>
                    <a:bodyPr/>
                    <a:lstStyle/>
                    <a:p>
                      <a:pPr algn="l" fontAlgn="ctr">
                        <a:buNone/>
                      </a:pPr>
                      <a:r>
                        <a:rPr lang="en-IN" sz="800" b="0" i="0" u="none" strike="noStrike">
                          <a:solidFill>
                            <a:srgbClr val="000000"/>
                          </a:solidFill>
                          <a:effectLst/>
                          <a:latin typeface="+mn-lt"/>
                        </a:rPr>
                        <a:t>LSS 81</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807564562"/>
                  </a:ext>
                </a:extLst>
              </a:tr>
              <a:tr h="135687">
                <a:tc gridSpan="2">
                  <a:txBody>
                    <a:bodyPr/>
                    <a:lstStyle/>
                    <a:p>
                      <a:pPr algn="ctr" fontAlgn="ctr">
                        <a:buNone/>
                      </a:pPr>
                      <a:r>
                        <a:rPr lang="en-IN" sz="800" b="1" i="0" u="none" strike="noStrike" dirty="0">
                          <a:solidFill>
                            <a:srgbClr val="000000"/>
                          </a:solidFill>
                          <a:effectLst/>
                          <a:latin typeface="+mn-lt"/>
                        </a:rPr>
                        <a:t>Project Title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gridSpan="12">
                  <a:txBody>
                    <a:bodyPr/>
                    <a:lstStyle/>
                    <a:p>
                      <a:pPr algn="l" fontAlgn="ctr">
                        <a:buNone/>
                      </a:pPr>
                      <a:r>
                        <a:rPr lang="en-IN" sz="800" b="0" i="0" u="none" strike="noStrike">
                          <a:solidFill>
                            <a:srgbClr val="000000"/>
                          </a:solidFill>
                          <a:effectLst/>
                          <a:latin typeface="+mn-lt"/>
                        </a:rPr>
                        <a:t>Employee Attrition Reduction</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958238375"/>
                  </a:ext>
                </a:extLst>
              </a:tr>
              <a:tr h="135687">
                <a:tc gridSpan="2">
                  <a:txBody>
                    <a:bodyPr/>
                    <a:lstStyle/>
                    <a:p>
                      <a:pPr algn="ctr" fontAlgn="ctr">
                        <a:buNone/>
                      </a:pPr>
                      <a:r>
                        <a:rPr lang="en-IN" sz="800" b="1" i="0" u="none" strike="noStrike" dirty="0">
                          <a:solidFill>
                            <a:srgbClr val="000000"/>
                          </a:solidFill>
                          <a:effectLst/>
                          <a:latin typeface="+mn-lt"/>
                        </a:rPr>
                        <a:t>Company Name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gridSpan="12">
                  <a:txBody>
                    <a:bodyPr/>
                    <a:lstStyle/>
                    <a:p>
                      <a:pPr algn="l" fontAlgn="ctr">
                        <a:buNone/>
                      </a:pPr>
                      <a:r>
                        <a:rPr lang="en-IN" sz="800" b="0" i="0" u="none" strike="noStrike">
                          <a:solidFill>
                            <a:srgbClr val="000000"/>
                          </a:solidFill>
                          <a:effectLst/>
                          <a:latin typeface="+mn-lt"/>
                        </a:rPr>
                        <a:t>Red Apple Technologies</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37893784"/>
                  </a:ext>
                </a:extLst>
              </a:tr>
              <a:tr h="135687">
                <a:tc gridSpan="7">
                  <a:txBody>
                    <a:bodyPr/>
                    <a:lstStyle/>
                    <a:p>
                      <a:pPr algn="l" fontAlgn="ctr">
                        <a:buNone/>
                      </a:pPr>
                      <a:r>
                        <a:rPr lang="en-IN" sz="800" b="1" i="0" u="none" strike="noStrike" dirty="0">
                          <a:solidFill>
                            <a:srgbClr val="000000"/>
                          </a:solidFill>
                          <a:effectLst/>
                          <a:latin typeface="+mn-lt"/>
                        </a:rPr>
                        <a:t>Business Case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7">
                  <a:txBody>
                    <a:bodyPr/>
                    <a:lstStyle/>
                    <a:p>
                      <a:pPr algn="l" fontAlgn="ctr">
                        <a:buNone/>
                      </a:pPr>
                      <a:r>
                        <a:rPr lang="en-IN" sz="800" b="1" i="0" u="none" strike="noStrike">
                          <a:solidFill>
                            <a:srgbClr val="000000"/>
                          </a:solidFill>
                          <a:effectLst/>
                          <a:latin typeface="+mn-lt"/>
                        </a:rPr>
                        <a:t>Problem / Opportunity Statement</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051917029"/>
                  </a:ext>
                </a:extLst>
              </a:tr>
              <a:tr h="648645">
                <a:tc gridSpan="7">
                  <a:txBody>
                    <a:bodyPr/>
                    <a:lstStyle/>
                    <a:p>
                      <a:pPr algn="l" fontAlgn="ctr">
                        <a:buNone/>
                      </a:pPr>
                      <a:r>
                        <a:rPr lang="en-US" sz="800" b="0" i="0" u="none" strike="noStrike" dirty="0">
                          <a:solidFill>
                            <a:srgbClr val="000000"/>
                          </a:solidFill>
                          <a:effectLst/>
                          <a:latin typeface="+mn-lt"/>
                        </a:rPr>
                        <a:t>Red Apple Technologies has experienced a surge in employee attrition, reaching 3.43% monthly, especially at L1 and L2 levels. This impacts project delivery, increases hiring and training costs, and threatens execution of new contracts requiring niche technology skills (VAGNETTE, INTERBASE, LITEWARE). The company aims to reduce attrition to 1% by Q3 2025.</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7">
                  <a:txBody>
                    <a:bodyPr/>
                    <a:lstStyle/>
                    <a:p>
                      <a:r>
                        <a:rPr lang="en-US" sz="800" i="0" dirty="0">
                          <a:latin typeface="+mn-lt"/>
                        </a:rPr>
                        <a:t>Red Apple Technologies has experienced a rising employee attrition rate of </a:t>
                      </a:r>
                      <a:r>
                        <a:rPr lang="en-US" sz="800" b="1" i="0" dirty="0">
                          <a:latin typeface="+mn-lt"/>
                        </a:rPr>
                        <a:t>X% over the past 12 months</a:t>
                      </a:r>
                      <a:r>
                        <a:rPr lang="en-US" sz="800" i="0" dirty="0">
                          <a:latin typeface="+mn-lt"/>
                        </a:rPr>
                        <a:t>, which is significantly higher than the industry benchmark of </a:t>
                      </a:r>
                      <a:r>
                        <a:rPr lang="en-US" sz="800" b="1" i="0" dirty="0">
                          <a:latin typeface="+mn-lt"/>
                        </a:rPr>
                        <a:t>Y%</a:t>
                      </a:r>
                      <a:r>
                        <a:rPr lang="en-US" sz="800" i="0" dirty="0">
                          <a:latin typeface="+mn-lt"/>
                        </a:rPr>
                        <a:t>. Attrition is most pronounced among employees with less than two years of tenure, particularly in the customer support and technical teams. This trend has led to increased recruitment costs, loss of organizational knowledge, reduced team morale, and delays in project delivery. The root causes of attrition are not clearly understood, and current retention strategies have not yielded measurable improvements. Without intervention, attrition threatens to impact productivity, client satisfaction, and long-term organizational growth.</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590182625"/>
                  </a:ext>
                </a:extLst>
              </a:tr>
              <a:tr h="135687">
                <a:tc gridSpan="7">
                  <a:txBody>
                    <a:bodyPr/>
                    <a:lstStyle/>
                    <a:p>
                      <a:pPr algn="l" fontAlgn="ctr">
                        <a:buNone/>
                      </a:pPr>
                      <a:r>
                        <a:rPr lang="en-IN" sz="800" b="1" i="0" u="none" strike="noStrike" dirty="0">
                          <a:solidFill>
                            <a:srgbClr val="000000"/>
                          </a:solidFill>
                          <a:effectLst/>
                          <a:latin typeface="+mn-lt"/>
                        </a:rPr>
                        <a:t>Goal Statement</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7">
                  <a:txBody>
                    <a:bodyPr/>
                    <a:lstStyle/>
                    <a:p>
                      <a:pPr algn="l" fontAlgn="ctr">
                        <a:buNone/>
                      </a:pPr>
                      <a:r>
                        <a:rPr lang="en-IN" sz="800" b="1" i="0" u="none" strike="noStrike">
                          <a:solidFill>
                            <a:srgbClr val="000000"/>
                          </a:solidFill>
                          <a:effectLst/>
                          <a:latin typeface="+mn-lt"/>
                        </a:rPr>
                        <a:t>Scope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93880428"/>
                  </a:ext>
                </a:extLst>
              </a:tr>
              <a:tr h="648645">
                <a:tc gridSpan="7">
                  <a:txBody>
                    <a:bodyPr/>
                    <a:lstStyle/>
                    <a:p>
                      <a:pPr algn="l" fontAlgn="ctr">
                        <a:buNone/>
                      </a:pPr>
                      <a:r>
                        <a:rPr lang="en-US" sz="800" b="0" i="0" u="none" strike="noStrike" dirty="0">
                          <a:solidFill>
                            <a:srgbClr val="000000"/>
                          </a:solidFill>
                          <a:effectLst/>
                          <a:latin typeface="+mn-lt"/>
                        </a:rPr>
                        <a:t>• Reduce monthly attrition rate to ≤ 1% </a:t>
                      </a:r>
                      <a:br>
                        <a:rPr lang="en-US" sz="800" b="0" i="0" u="none" strike="noStrike" dirty="0">
                          <a:solidFill>
                            <a:srgbClr val="000000"/>
                          </a:solidFill>
                          <a:effectLst/>
                          <a:latin typeface="+mn-lt"/>
                        </a:rPr>
                      </a:br>
                      <a:r>
                        <a:rPr lang="en-US" sz="800" b="0" i="0" u="none" strike="noStrike" dirty="0">
                          <a:solidFill>
                            <a:srgbClr val="000000"/>
                          </a:solidFill>
                          <a:effectLst/>
                          <a:latin typeface="+mn-lt"/>
                        </a:rPr>
                        <a:t>• Improve employee retention through career growth, compensation, and work environment </a:t>
                      </a:r>
                      <a:br>
                        <a:rPr lang="en-US" sz="800" b="0" i="0" u="none" strike="noStrike" dirty="0">
                          <a:solidFill>
                            <a:srgbClr val="000000"/>
                          </a:solidFill>
                          <a:effectLst/>
                          <a:latin typeface="+mn-lt"/>
                        </a:rPr>
                      </a:br>
                      <a:r>
                        <a:rPr lang="en-US" sz="800" b="0" i="0" u="none" strike="noStrike" dirty="0">
                          <a:solidFill>
                            <a:srgbClr val="000000"/>
                          </a:solidFill>
                          <a:effectLst/>
                          <a:latin typeface="+mn-lt"/>
                        </a:rPr>
                        <a:t>• Ensure full staffing for niche technology projects </a:t>
                      </a:r>
                      <a:br>
                        <a:rPr lang="en-US" sz="800" b="0" i="0" u="none" strike="noStrike" dirty="0">
                          <a:solidFill>
                            <a:srgbClr val="000000"/>
                          </a:solidFill>
                          <a:effectLst/>
                          <a:latin typeface="+mn-lt"/>
                        </a:rPr>
                      </a:br>
                      <a:endParaRPr lang="en-US" sz="800" b="0" i="0" u="none" strike="noStrike" dirty="0">
                        <a:solidFill>
                          <a:srgbClr val="000000"/>
                        </a:solidFill>
                        <a:effectLst/>
                        <a:latin typeface="+mn-lt"/>
                      </a:endParaRP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7">
                  <a:txBody>
                    <a:bodyPr/>
                    <a:lstStyle/>
                    <a:p>
                      <a:pPr algn="l" fontAlgn="ctr">
                        <a:buNone/>
                      </a:pPr>
                      <a:r>
                        <a:rPr lang="en-US" sz="800" b="0" i="0" u="none" strike="noStrike" dirty="0">
                          <a:solidFill>
                            <a:srgbClr val="000000"/>
                          </a:solidFill>
                          <a:effectLst/>
                          <a:latin typeface="+mn-lt"/>
                        </a:rPr>
                        <a:t>In Scope: Full-time and contract employees across L1–L4; voluntary attrition causes; retention strategies; niche skill acquisition </a:t>
                      </a:r>
                      <a:br>
                        <a:rPr lang="en-US" sz="800" b="0" i="0" u="none" strike="noStrike" dirty="0">
                          <a:solidFill>
                            <a:srgbClr val="000000"/>
                          </a:solidFill>
                          <a:effectLst/>
                          <a:latin typeface="+mn-lt"/>
                        </a:rPr>
                      </a:br>
                      <a:r>
                        <a:rPr lang="en-US" sz="800" b="0" i="0" u="none" strike="noStrike" dirty="0">
                          <a:solidFill>
                            <a:srgbClr val="000000"/>
                          </a:solidFill>
                          <a:effectLst/>
                          <a:latin typeface="+mn-lt"/>
                        </a:rPr>
                        <a:t>Out of Scope: Retirements, internal transfers, layoffs unrelated to performance or integrity</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025400957"/>
                  </a:ext>
                </a:extLst>
              </a:tr>
              <a:tr h="135687">
                <a:tc gridSpan="14">
                  <a:txBody>
                    <a:bodyPr/>
                    <a:lstStyle/>
                    <a:p>
                      <a:pPr algn="l" fontAlgn="ctr">
                        <a:buNone/>
                      </a:pPr>
                      <a:r>
                        <a:rPr lang="en-IN" sz="800" b="1" i="0" u="none" strike="noStrike" dirty="0">
                          <a:solidFill>
                            <a:srgbClr val="000000"/>
                          </a:solidFill>
                          <a:effectLst/>
                          <a:latin typeface="+mn-lt"/>
                        </a:rPr>
                        <a:t>Key Performance Indicators (KPI)</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48618577"/>
                  </a:ext>
                </a:extLst>
              </a:tr>
              <a:tr h="135687">
                <a:tc rowSpan="2">
                  <a:txBody>
                    <a:bodyPr/>
                    <a:lstStyle/>
                    <a:p>
                      <a:pPr algn="ctr" fontAlgn="ctr">
                        <a:buNone/>
                      </a:pPr>
                      <a:r>
                        <a:rPr lang="en-IN" sz="800" b="1" i="0" u="none" strike="noStrike" dirty="0" err="1">
                          <a:solidFill>
                            <a:srgbClr val="000000"/>
                          </a:solidFill>
                          <a:effectLst/>
                          <a:latin typeface="+mn-lt"/>
                        </a:rPr>
                        <a:t>S.No</a:t>
                      </a:r>
                      <a:endParaRPr lang="en-IN" sz="800" b="1" i="0" u="none" strike="noStrike" dirty="0">
                        <a:solidFill>
                          <a:srgbClr val="000000"/>
                        </a:solidFill>
                        <a:effectLst/>
                        <a:latin typeface="+mn-lt"/>
                      </a:endParaRP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rowSpan="2" gridSpan="4">
                  <a:txBody>
                    <a:bodyPr/>
                    <a:lstStyle/>
                    <a:p>
                      <a:pPr algn="ctr" fontAlgn="ctr">
                        <a:buNone/>
                      </a:pPr>
                      <a:r>
                        <a:rPr lang="en-IN" sz="800" b="1" i="0" u="none" strike="noStrike">
                          <a:solidFill>
                            <a:srgbClr val="000000"/>
                          </a:solidFill>
                          <a:effectLst/>
                          <a:latin typeface="+mn-lt"/>
                        </a:rPr>
                        <a:t>KPI</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rowSpan="2" hMerge="1">
                  <a:txBody>
                    <a:bodyPr/>
                    <a:lstStyle/>
                    <a:p>
                      <a:endParaRPr lang="en-IN"/>
                    </a:p>
                  </a:txBody>
                  <a:tcPr/>
                </a:tc>
                <a:tc rowSpan="2" hMerge="1">
                  <a:txBody>
                    <a:bodyPr/>
                    <a:lstStyle/>
                    <a:p>
                      <a:endParaRPr lang="en-IN"/>
                    </a:p>
                  </a:txBody>
                  <a:tcPr/>
                </a:tc>
                <a:tc rowSpan="2" hMerge="1">
                  <a:txBody>
                    <a:bodyPr/>
                    <a:lstStyle/>
                    <a:p>
                      <a:endParaRPr lang="en-IN"/>
                    </a:p>
                  </a:txBody>
                  <a:tcPr/>
                </a:tc>
                <a:tc rowSpan="2" gridSpan="3">
                  <a:txBody>
                    <a:bodyPr/>
                    <a:lstStyle/>
                    <a:p>
                      <a:pPr algn="ctr" fontAlgn="ctr">
                        <a:buNone/>
                      </a:pPr>
                      <a:r>
                        <a:rPr lang="en-IN" sz="800" b="1" i="0" u="none" strike="noStrike">
                          <a:solidFill>
                            <a:srgbClr val="000000"/>
                          </a:solidFill>
                          <a:effectLst/>
                          <a:latin typeface="+mn-lt"/>
                        </a:rPr>
                        <a:t>Project Target Period</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rowSpan="2" hMerge="1">
                  <a:txBody>
                    <a:bodyPr/>
                    <a:lstStyle/>
                    <a:p>
                      <a:endParaRPr lang="en-IN"/>
                    </a:p>
                  </a:txBody>
                  <a:tcPr/>
                </a:tc>
                <a:tc rowSpan="2" hMerge="1">
                  <a:txBody>
                    <a:bodyPr/>
                    <a:lstStyle/>
                    <a:p>
                      <a:endParaRPr lang="en-IN"/>
                    </a:p>
                  </a:txBody>
                  <a:tcPr/>
                </a:tc>
                <a:tc rowSpan="2" gridSpan="2">
                  <a:txBody>
                    <a:bodyPr/>
                    <a:lstStyle/>
                    <a:p>
                      <a:pPr algn="ctr" fontAlgn="ctr">
                        <a:buNone/>
                      </a:pPr>
                      <a:r>
                        <a:rPr lang="en-IN" sz="800" b="1" i="0" u="none" strike="noStrike">
                          <a:solidFill>
                            <a:srgbClr val="000000"/>
                          </a:solidFill>
                          <a:effectLst/>
                          <a:latin typeface="+mn-lt"/>
                        </a:rPr>
                        <a:t>Unit</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rowSpan="2" hMerge="1">
                  <a:txBody>
                    <a:bodyPr/>
                    <a:lstStyle/>
                    <a:p>
                      <a:endParaRPr lang="en-IN"/>
                    </a:p>
                  </a:txBody>
                  <a:tcPr/>
                </a:tc>
                <a:tc gridSpan="4">
                  <a:txBody>
                    <a:bodyPr/>
                    <a:lstStyle/>
                    <a:p>
                      <a:pPr algn="ctr" fontAlgn="ctr">
                        <a:buNone/>
                      </a:pPr>
                      <a:r>
                        <a:rPr lang="en-IN" sz="800" b="1" i="0" u="none" strike="noStrike">
                          <a:solidFill>
                            <a:srgbClr val="000000"/>
                          </a:solidFill>
                          <a:effectLst/>
                          <a:latin typeface="+mn-lt"/>
                        </a:rPr>
                        <a:t>Performance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767508520"/>
                  </a:ext>
                </a:extLst>
              </a:tr>
              <a:tr h="312308">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3"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a:txBody>
                    <a:bodyPr/>
                    <a:lstStyle/>
                    <a:p>
                      <a:pPr algn="ctr" fontAlgn="ctr">
                        <a:buNone/>
                      </a:pPr>
                      <a:r>
                        <a:rPr lang="en-IN" sz="800" b="1" i="0" u="none" strike="noStrike">
                          <a:solidFill>
                            <a:srgbClr val="000000"/>
                          </a:solidFill>
                          <a:effectLst/>
                          <a:latin typeface="+mn-lt"/>
                        </a:rPr>
                        <a:t>Baseline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gridSpan="2">
                  <a:txBody>
                    <a:bodyPr/>
                    <a:lstStyle/>
                    <a:p>
                      <a:pPr algn="ctr" fontAlgn="ctr">
                        <a:buNone/>
                      </a:pPr>
                      <a:r>
                        <a:rPr lang="en-IN" sz="800" b="1" i="0" u="none" strike="noStrike" dirty="0">
                          <a:solidFill>
                            <a:srgbClr val="000000"/>
                          </a:solidFill>
                          <a:effectLst/>
                          <a:latin typeface="+mn-lt"/>
                        </a:rPr>
                        <a:t>Target</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extLst>
                  <a:ext uri="{0D108BD9-81ED-4DB2-BD59-A6C34878D82A}">
                    <a16:rowId xmlns:a16="http://schemas.microsoft.com/office/drawing/2014/main" val="1933034604"/>
                  </a:ext>
                </a:extLst>
              </a:tr>
              <a:tr h="135687">
                <a:tc>
                  <a:txBody>
                    <a:bodyPr/>
                    <a:lstStyle/>
                    <a:p>
                      <a:pPr algn="ctr" fontAlgn="ctr">
                        <a:buNone/>
                      </a:pPr>
                      <a:r>
                        <a:rPr lang="en-IN" sz="800" b="0" i="0" u="none" strike="noStrike" dirty="0">
                          <a:solidFill>
                            <a:srgbClr val="000000"/>
                          </a:solidFill>
                          <a:effectLst/>
                          <a:latin typeface="+mn-lt"/>
                        </a:rPr>
                        <a:t>1</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gridSpan="4">
                  <a:txBody>
                    <a:bodyPr/>
                    <a:lstStyle/>
                    <a:p>
                      <a:pPr algn="ctr" fontAlgn="ctr">
                        <a:buNone/>
                      </a:pPr>
                      <a:r>
                        <a:rPr lang="en-IN" sz="800" b="0" i="0" u="none" strike="noStrike">
                          <a:solidFill>
                            <a:srgbClr val="000000"/>
                          </a:solidFill>
                          <a:effectLst/>
                          <a:latin typeface="+mn-lt"/>
                        </a:rPr>
                        <a:t>Attrition Rate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By Q3 2025</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3%</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 1%</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181138470"/>
                  </a:ext>
                </a:extLst>
              </a:tr>
              <a:tr h="135687">
                <a:tc>
                  <a:txBody>
                    <a:bodyPr/>
                    <a:lstStyle/>
                    <a:p>
                      <a:pPr algn="ctr" fontAlgn="ctr">
                        <a:buNone/>
                      </a:pPr>
                      <a:r>
                        <a:rPr lang="en-IN" sz="800" b="0" i="0" u="none" strike="noStrike" dirty="0">
                          <a:solidFill>
                            <a:srgbClr val="000000"/>
                          </a:solidFill>
                          <a:effectLst/>
                          <a:latin typeface="+mn-lt"/>
                        </a:rPr>
                        <a:t>2</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gridSpan="4">
                  <a:txBody>
                    <a:bodyPr/>
                    <a:lstStyle/>
                    <a:p>
                      <a:pPr algn="ctr" fontAlgn="ctr">
                        <a:buNone/>
                      </a:pPr>
                      <a:r>
                        <a:rPr lang="en-IN" sz="800" b="0" i="0" u="none" strike="noStrike">
                          <a:solidFill>
                            <a:srgbClr val="000000"/>
                          </a:solidFill>
                          <a:effectLst/>
                          <a:latin typeface="+mn-lt"/>
                        </a:rPr>
                        <a:t>Compensation Benchmarking</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Bi-annual review</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 difference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10% gap vs competitors</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US" sz="800" b="0" i="0" u="none" strike="noStrike">
                          <a:solidFill>
                            <a:srgbClr val="000000"/>
                          </a:solidFill>
                          <a:effectLst/>
                          <a:latin typeface="+mn-lt"/>
                        </a:rPr>
                        <a:t>Within ±5% of competitor average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382031118"/>
                  </a:ext>
                </a:extLst>
              </a:tr>
              <a:tr h="135687">
                <a:tc>
                  <a:txBody>
                    <a:bodyPr/>
                    <a:lstStyle/>
                    <a:p>
                      <a:pPr algn="ctr" fontAlgn="ctr">
                        <a:buNone/>
                      </a:pPr>
                      <a:r>
                        <a:rPr lang="en-IN" sz="800" b="0" i="0" u="none" strike="noStrike" dirty="0">
                          <a:solidFill>
                            <a:srgbClr val="000000"/>
                          </a:solidFill>
                          <a:effectLst/>
                          <a:latin typeface="+mn-lt"/>
                        </a:rPr>
                        <a:t>3</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gridSpan="4">
                  <a:txBody>
                    <a:bodyPr/>
                    <a:lstStyle/>
                    <a:p>
                      <a:pPr algn="ctr" fontAlgn="ctr">
                        <a:buNone/>
                      </a:pPr>
                      <a:r>
                        <a:rPr lang="en-IN" sz="800" b="0" i="0" u="none" strike="noStrike">
                          <a:solidFill>
                            <a:srgbClr val="000000"/>
                          </a:solidFill>
                          <a:effectLst/>
                          <a:latin typeface="+mn-lt"/>
                        </a:rPr>
                        <a:t>Average Work Hours</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Monthly</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Hours/day</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10–11 hrs/day</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 9 hrs/day</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1270886590"/>
                  </a:ext>
                </a:extLst>
              </a:tr>
              <a:tr h="135687">
                <a:tc>
                  <a:txBody>
                    <a:bodyPr/>
                    <a:lstStyle/>
                    <a:p>
                      <a:pPr algn="ctr" fontAlgn="ctr">
                        <a:buNone/>
                      </a:pPr>
                      <a:r>
                        <a:rPr lang="en-IN" sz="800" b="0" i="0" u="none" strike="noStrike" dirty="0">
                          <a:solidFill>
                            <a:srgbClr val="000000"/>
                          </a:solidFill>
                          <a:effectLst/>
                          <a:latin typeface="+mn-lt"/>
                        </a:rPr>
                        <a:t>4</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gridSpan="4">
                  <a:txBody>
                    <a:bodyPr/>
                    <a:lstStyle/>
                    <a:p>
                      <a:pPr algn="ctr" fontAlgn="ctr">
                        <a:buNone/>
                      </a:pPr>
                      <a:r>
                        <a:rPr lang="en-IN" sz="800" b="0" i="0" u="none" strike="noStrike">
                          <a:solidFill>
                            <a:srgbClr val="000000"/>
                          </a:solidFill>
                          <a:effectLst/>
                          <a:latin typeface="+mn-lt"/>
                        </a:rPr>
                        <a:t>Employee Satisfaction Score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Quarterly</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65%</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 80%</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3105896335"/>
                  </a:ext>
                </a:extLst>
              </a:tr>
              <a:tr h="262171">
                <a:tc>
                  <a:txBody>
                    <a:bodyPr/>
                    <a:lstStyle/>
                    <a:p>
                      <a:pPr algn="ctr" fontAlgn="ctr">
                        <a:buNone/>
                      </a:pPr>
                      <a:r>
                        <a:rPr lang="en-IN" sz="800" b="0" i="0" u="none" strike="noStrike" dirty="0">
                          <a:solidFill>
                            <a:srgbClr val="000000"/>
                          </a:solidFill>
                          <a:effectLst/>
                          <a:latin typeface="+mn-lt"/>
                        </a:rPr>
                        <a:t>5</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gridSpan="4">
                  <a:txBody>
                    <a:bodyPr/>
                    <a:lstStyle/>
                    <a:p>
                      <a:pPr algn="ctr" fontAlgn="ctr">
                        <a:buNone/>
                      </a:pPr>
                      <a:r>
                        <a:rPr lang="en-IN" sz="800" b="0" i="0" u="none" strike="noStrike">
                          <a:solidFill>
                            <a:srgbClr val="000000"/>
                          </a:solidFill>
                          <a:effectLst/>
                          <a:latin typeface="+mn-lt"/>
                        </a:rPr>
                        <a:t>Cost per Attrition</a:t>
                      </a:r>
                    </a:p>
                  </a:txBody>
                  <a:tcPr marL="3210" marR="3210" marT="3210" marB="0" anchor="ctr">
                    <a:lnL w="1270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Monthly</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USD</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US" sz="800" b="0" i="0" u="none" strike="noStrike">
                          <a:solidFill>
                            <a:srgbClr val="000000"/>
                          </a:solidFill>
                          <a:effectLst/>
                          <a:latin typeface="+mn-lt"/>
                        </a:rPr>
                        <a:t>$2050/person (Hiring $700 + Training $1000 + Productivity loss $350)</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US" sz="800" b="0" i="0" u="none" strike="noStrike">
                          <a:solidFill>
                            <a:srgbClr val="000000"/>
                          </a:solidFill>
                          <a:effectLst/>
                          <a:latin typeface="+mn-lt"/>
                        </a:rPr>
                        <a:t>Reduce by ≥ 30% ($1435/person)</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1088415584"/>
                  </a:ext>
                </a:extLst>
              </a:tr>
              <a:tr h="262171">
                <a:tc>
                  <a:txBody>
                    <a:bodyPr/>
                    <a:lstStyle/>
                    <a:p>
                      <a:pPr algn="ctr" fontAlgn="ctr">
                        <a:buNone/>
                      </a:pPr>
                      <a:r>
                        <a:rPr lang="en-IN" sz="800" b="0" i="0" u="none" strike="noStrike" dirty="0">
                          <a:solidFill>
                            <a:srgbClr val="000000"/>
                          </a:solidFill>
                          <a:effectLst/>
                          <a:latin typeface="+mn-lt"/>
                        </a:rPr>
                        <a:t>6</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FFF"/>
                    </a:solidFill>
                  </a:tcPr>
                </a:tc>
                <a:tc gridSpan="4">
                  <a:txBody>
                    <a:bodyPr/>
                    <a:lstStyle/>
                    <a:p>
                      <a:pPr algn="ctr" fontAlgn="ctr">
                        <a:buNone/>
                      </a:pPr>
                      <a:r>
                        <a:rPr lang="en-IN" sz="800" b="0" i="0" u="none" strike="noStrike">
                          <a:solidFill>
                            <a:srgbClr val="000000"/>
                          </a:solidFill>
                          <a:effectLst/>
                          <a:latin typeface="+mn-lt"/>
                        </a:rPr>
                        <a:t>Skill Coverage (VAGNETTE, INTERBASE, LITEWARE)</a:t>
                      </a:r>
                    </a:p>
                  </a:txBody>
                  <a:tcPr marL="3210" marR="3210" marT="3210" marB="0" anchor="ctr">
                    <a:lnL w="1270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Monthly</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 workforce</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40% coverage</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100% coverage</a:t>
                      </a:r>
                    </a:p>
                  </a:txBody>
                  <a:tcPr marL="3210" marR="3210" marT="32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1849691453"/>
                  </a:ext>
                </a:extLst>
              </a:tr>
              <a:tr h="135687">
                <a:tc gridSpan="5">
                  <a:txBody>
                    <a:bodyPr/>
                    <a:lstStyle/>
                    <a:p>
                      <a:pPr algn="l" fontAlgn="ctr">
                        <a:buNone/>
                      </a:pPr>
                      <a:r>
                        <a:rPr lang="en-IN" sz="800" b="1" i="0" u="none" strike="noStrike" dirty="0">
                          <a:solidFill>
                            <a:srgbClr val="000000"/>
                          </a:solidFill>
                          <a:effectLst/>
                          <a:latin typeface="+mn-lt"/>
                        </a:rPr>
                        <a:t>Project Team</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9">
                  <a:txBody>
                    <a:bodyPr/>
                    <a:lstStyle/>
                    <a:p>
                      <a:pPr algn="l" fontAlgn="ctr">
                        <a:buNone/>
                      </a:pPr>
                      <a:r>
                        <a:rPr lang="en-IN" sz="800" b="1" i="0" u="none" strike="noStrike">
                          <a:solidFill>
                            <a:srgbClr val="000000"/>
                          </a:solidFill>
                          <a:effectLst/>
                          <a:latin typeface="+mn-lt"/>
                        </a:rPr>
                        <a:t>Project Plan</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00110328"/>
                  </a:ext>
                </a:extLst>
              </a:tr>
              <a:tr h="135687">
                <a:tc gridSpan="2">
                  <a:txBody>
                    <a:bodyPr/>
                    <a:lstStyle/>
                    <a:p>
                      <a:pPr algn="ctr" fontAlgn="ctr">
                        <a:buNone/>
                      </a:pPr>
                      <a:r>
                        <a:rPr lang="en-IN" sz="800" b="1" i="0" u="none" strike="noStrike" dirty="0">
                          <a:solidFill>
                            <a:srgbClr val="000000"/>
                          </a:solidFill>
                          <a:effectLst/>
                          <a:latin typeface="+mn-lt"/>
                        </a:rPr>
                        <a:t>Project </a:t>
                      </a:r>
                      <a:r>
                        <a:rPr lang="en-IN" sz="800" b="1" i="0" u="none" strike="noStrike" dirty="0" err="1">
                          <a:solidFill>
                            <a:srgbClr val="000000"/>
                          </a:solidFill>
                          <a:effectLst/>
                          <a:latin typeface="+mn-lt"/>
                        </a:rPr>
                        <a:t>Sponser</a:t>
                      </a:r>
                      <a:endParaRPr lang="en-IN" sz="800" b="1" i="0" u="none" strike="noStrike" dirty="0">
                        <a:solidFill>
                          <a:srgbClr val="000000"/>
                        </a:solidFill>
                        <a:effectLst/>
                        <a:latin typeface="+mn-lt"/>
                      </a:endParaRP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Red Apple Technologies</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ctr" fontAlgn="ctr">
                        <a:buNone/>
                      </a:pPr>
                      <a:r>
                        <a:rPr lang="en-IN" sz="800" b="1" i="0" u="none" strike="noStrike">
                          <a:solidFill>
                            <a:srgbClr val="000000"/>
                          </a:solidFill>
                          <a:effectLst/>
                          <a:latin typeface="+mn-lt"/>
                        </a:rPr>
                        <a:t>Key Milestone</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1" i="0" u="none" strike="noStrike">
                          <a:solidFill>
                            <a:srgbClr val="000000"/>
                          </a:solidFill>
                          <a:effectLst/>
                          <a:latin typeface="+mn-lt"/>
                        </a:rPr>
                        <a:t>Start Date</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1" i="0" u="none" strike="noStrike">
                          <a:solidFill>
                            <a:srgbClr val="000000"/>
                          </a:solidFill>
                          <a:effectLst/>
                          <a:latin typeface="+mn-lt"/>
                        </a:rPr>
                        <a:t>End Date</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2199672811"/>
                  </a:ext>
                </a:extLst>
              </a:tr>
              <a:tr h="135687">
                <a:tc gridSpan="2">
                  <a:txBody>
                    <a:bodyPr/>
                    <a:lstStyle/>
                    <a:p>
                      <a:pPr algn="ctr" fontAlgn="ctr">
                        <a:buNone/>
                      </a:pPr>
                      <a:r>
                        <a:rPr lang="en-IN" sz="800" b="1" i="0" u="none" strike="noStrike" dirty="0">
                          <a:solidFill>
                            <a:srgbClr val="000000"/>
                          </a:solidFill>
                          <a:effectLst/>
                          <a:latin typeface="+mn-lt"/>
                        </a:rPr>
                        <a:t>Project Lead</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Pravin</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ctr" fontAlgn="b">
                        <a:buNone/>
                      </a:pPr>
                      <a:r>
                        <a:rPr lang="en-IN" sz="800" b="1" i="0" u="none" strike="noStrike">
                          <a:solidFill>
                            <a:srgbClr val="000000"/>
                          </a:solidFill>
                          <a:effectLst/>
                          <a:latin typeface="+mn-lt"/>
                        </a:rPr>
                        <a:t>Define</a:t>
                      </a:r>
                    </a:p>
                  </a:txBody>
                  <a:tcPr marL="3210" marR="3210" marT="3210" marB="0" anchor="b">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14-01-2025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28-01-2025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1046586976"/>
                  </a:ext>
                </a:extLst>
              </a:tr>
              <a:tr h="135687">
                <a:tc rowSpan="8" gridSpan="2">
                  <a:txBody>
                    <a:bodyPr/>
                    <a:lstStyle/>
                    <a:p>
                      <a:pPr algn="ctr" fontAlgn="ctr">
                        <a:buNone/>
                      </a:pPr>
                      <a:r>
                        <a:rPr lang="en-IN" sz="800" b="1" i="0" u="none" strike="noStrike" dirty="0">
                          <a:solidFill>
                            <a:srgbClr val="000000"/>
                          </a:solidFill>
                          <a:effectLst/>
                          <a:latin typeface="+mn-lt"/>
                        </a:rPr>
                        <a:t>Team Members</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rowSpan="8" h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Fazila</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ctr" fontAlgn="b">
                        <a:buNone/>
                      </a:pPr>
                      <a:r>
                        <a:rPr lang="en-IN" sz="800" b="1" i="0" u="none" strike="noStrike">
                          <a:solidFill>
                            <a:srgbClr val="000000"/>
                          </a:solidFill>
                          <a:effectLst/>
                          <a:latin typeface="+mn-lt"/>
                        </a:rPr>
                        <a:t>Measure</a:t>
                      </a:r>
                    </a:p>
                  </a:txBody>
                  <a:tcPr marL="3210" marR="3210" marT="3210" marB="0" anchor="b">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29-01-2025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26-02-2025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4180971816"/>
                  </a:ext>
                </a:extLst>
              </a:tr>
              <a:tr h="135687">
                <a:tc gridSpan="2" vMerge="1">
                  <a:txBody>
                    <a:bodyPr/>
                    <a:lstStyle/>
                    <a:p>
                      <a:endParaRPr lang="en-IN"/>
                    </a:p>
                  </a:txBody>
                  <a:tcPr/>
                </a:tc>
                <a:tc hMerge="1" v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Bala</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ctr" fontAlgn="b">
                        <a:buNone/>
                      </a:pPr>
                      <a:r>
                        <a:rPr lang="en-IN" sz="800" b="1" i="0" u="none" strike="noStrike">
                          <a:solidFill>
                            <a:srgbClr val="000000"/>
                          </a:solidFill>
                          <a:effectLst/>
                          <a:latin typeface="+mn-lt"/>
                        </a:rPr>
                        <a:t>Analyse</a:t>
                      </a:r>
                    </a:p>
                  </a:txBody>
                  <a:tcPr marL="3210" marR="3210" marT="3210" marB="0" anchor="b">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27-02-2025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24-03-2025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2439761846"/>
                  </a:ext>
                </a:extLst>
              </a:tr>
              <a:tr h="135687">
                <a:tc gridSpan="2" vMerge="1">
                  <a:txBody>
                    <a:bodyPr/>
                    <a:lstStyle/>
                    <a:p>
                      <a:endParaRPr lang="en-IN"/>
                    </a:p>
                  </a:txBody>
                  <a:tcPr/>
                </a:tc>
                <a:tc hMerge="1" v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Murali</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ctr" fontAlgn="b">
                        <a:buNone/>
                      </a:pPr>
                      <a:r>
                        <a:rPr lang="en-IN" sz="800" b="1" i="0" u="none" strike="noStrike">
                          <a:solidFill>
                            <a:srgbClr val="000000"/>
                          </a:solidFill>
                          <a:effectLst/>
                          <a:latin typeface="+mn-lt"/>
                        </a:rPr>
                        <a:t>Improve</a:t>
                      </a:r>
                    </a:p>
                  </a:txBody>
                  <a:tcPr marL="3210" marR="3210" marT="3210" marB="0" anchor="b">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25-03-2025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22-04-2025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2903296928"/>
                  </a:ext>
                </a:extLst>
              </a:tr>
              <a:tr h="135687">
                <a:tc gridSpan="2" vMerge="1">
                  <a:txBody>
                    <a:bodyPr/>
                    <a:lstStyle/>
                    <a:p>
                      <a:endParaRPr lang="en-IN"/>
                    </a:p>
                  </a:txBody>
                  <a:tcPr/>
                </a:tc>
                <a:tc hMerge="1" vMerge="1">
                  <a:txBody>
                    <a:bodyPr/>
                    <a:lstStyle/>
                    <a:p>
                      <a:endParaRPr lang="en-IN"/>
                    </a:p>
                  </a:txBody>
                  <a:tcPr/>
                </a:tc>
                <a:tc gridSpan="3">
                  <a:txBody>
                    <a:bodyPr/>
                    <a:lstStyle/>
                    <a:p>
                      <a:pPr algn="ctr"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ctr" fontAlgn="b">
                        <a:buNone/>
                      </a:pPr>
                      <a:r>
                        <a:rPr lang="en-IN" sz="800" b="1" i="0" u="none" strike="noStrike">
                          <a:solidFill>
                            <a:srgbClr val="000000"/>
                          </a:solidFill>
                          <a:effectLst/>
                          <a:latin typeface="+mn-lt"/>
                        </a:rPr>
                        <a:t>Control</a:t>
                      </a:r>
                    </a:p>
                  </a:txBody>
                  <a:tcPr marL="3210" marR="3210" marT="3210" marB="0" anchor="b">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23-04-2025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ctr" fontAlgn="ctr">
                        <a:buNone/>
                      </a:pPr>
                      <a:r>
                        <a:rPr lang="en-IN" sz="800" b="0" i="0" u="none" strike="noStrike">
                          <a:solidFill>
                            <a:srgbClr val="000000"/>
                          </a:solidFill>
                          <a:effectLst/>
                          <a:latin typeface="+mn-lt"/>
                        </a:rPr>
                        <a:t>08-05-2025</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3839415029"/>
                  </a:ext>
                </a:extLst>
              </a:tr>
              <a:tr h="135687">
                <a:tc gridSpan="2" vMerge="1">
                  <a:txBody>
                    <a:bodyPr/>
                    <a:lstStyle/>
                    <a:p>
                      <a:endParaRPr lang="en-IN"/>
                    </a:p>
                  </a:txBody>
                  <a:tcPr/>
                </a:tc>
                <a:tc hMerge="1" vMerge="1">
                  <a:txBody>
                    <a:bodyPr/>
                    <a:lstStyle/>
                    <a:p>
                      <a:endParaRPr lang="en-IN"/>
                    </a:p>
                  </a:txBody>
                  <a:tcPr/>
                </a:tc>
                <a:tc gridSpan="3">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l" fontAlgn="b">
                        <a:buNone/>
                      </a:pPr>
                      <a:r>
                        <a:rPr lang="en-IN" sz="800" b="0" i="0" u="none" strike="noStrike">
                          <a:solidFill>
                            <a:srgbClr val="000000"/>
                          </a:solidFill>
                          <a:effectLst/>
                          <a:latin typeface="+mn-lt"/>
                        </a:rPr>
                        <a:t> </a:t>
                      </a:r>
                    </a:p>
                  </a:txBody>
                  <a:tcPr marL="3210" marR="3210" marT="3210" marB="0" anchor="b">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3423820490"/>
                  </a:ext>
                </a:extLst>
              </a:tr>
              <a:tr h="135687">
                <a:tc gridSpan="2" vMerge="1">
                  <a:txBody>
                    <a:bodyPr/>
                    <a:lstStyle/>
                    <a:p>
                      <a:endParaRPr lang="en-IN"/>
                    </a:p>
                  </a:txBody>
                  <a:tcPr/>
                </a:tc>
                <a:tc hMerge="1" vMerge="1">
                  <a:txBody>
                    <a:bodyPr/>
                    <a:lstStyle/>
                    <a:p>
                      <a:endParaRPr lang="en-IN"/>
                    </a:p>
                  </a:txBody>
                  <a:tcPr/>
                </a:tc>
                <a:tc gridSpan="3">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566871611"/>
                  </a:ext>
                </a:extLst>
              </a:tr>
              <a:tr h="135687">
                <a:tc gridSpan="2" vMerge="1">
                  <a:txBody>
                    <a:bodyPr/>
                    <a:lstStyle/>
                    <a:p>
                      <a:endParaRPr lang="en-IN"/>
                    </a:p>
                  </a:txBody>
                  <a:tcPr/>
                </a:tc>
                <a:tc hMerge="1" vMerge="1">
                  <a:txBody>
                    <a:bodyPr/>
                    <a:lstStyle/>
                    <a:p>
                      <a:endParaRPr lang="en-IN"/>
                    </a:p>
                  </a:txBody>
                  <a:tcPr/>
                </a:tc>
                <a:tc gridSpan="3">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2119429927"/>
                  </a:ext>
                </a:extLst>
              </a:tr>
              <a:tr h="135687">
                <a:tc gridSpan="2" vMerge="1">
                  <a:txBody>
                    <a:bodyPr/>
                    <a:lstStyle/>
                    <a:p>
                      <a:endParaRPr lang="en-IN"/>
                    </a:p>
                  </a:txBody>
                  <a:tcPr/>
                </a:tc>
                <a:tc hMerge="1" vMerge="1">
                  <a:txBody>
                    <a:bodyPr/>
                    <a:lstStyle/>
                    <a:p>
                      <a:endParaRPr lang="en-IN"/>
                    </a:p>
                  </a:txBody>
                  <a:tcPr/>
                </a:tc>
                <a:tc gridSpan="3">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5">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gridSpan="2">
                  <a:txBody>
                    <a:bodyPr/>
                    <a:lstStyle/>
                    <a:p>
                      <a:pPr algn="l" fontAlgn="ctr">
                        <a:buNone/>
                      </a:pPr>
                      <a:r>
                        <a:rPr lang="en-IN" sz="800" b="0" i="0" u="none" strike="noStrike">
                          <a:solidFill>
                            <a:srgbClr val="000000"/>
                          </a:solidFill>
                          <a:effectLst/>
                          <a:latin typeface="+mn-lt"/>
                        </a:rPr>
                        <a:t> </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4245901697"/>
                  </a:ext>
                </a:extLst>
              </a:tr>
              <a:tr h="135687">
                <a:tc gridSpan="14">
                  <a:txBody>
                    <a:bodyPr/>
                    <a:lstStyle/>
                    <a:p>
                      <a:pPr algn="l" fontAlgn="ctr">
                        <a:buNone/>
                      </a:pPr>
                      <a:r>
                        <a:rPr lang="en-IN" sz="800" b="1" i="0" u="none" strike="noStrike" dirty="0">
                          <a:solidFill>
                            <a:srgbClr val="000000"/>
                          </a:solidFill>
                          <a:effectLst/>
                          <a:latin typeface="+mn-lt"/>
                        </a:rPr>
                        <a:t>Project benefits</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40585660"/>
                  </a:ext>
                </a:extLst>
              </a:tr>
              <a:tr h="135687">
                <a:tc gridSpan="3">
                  <a:txBody>
                    <a:bodyPr/>
                    <a:lstStyle/>
                    <a:p>
                      <a:pPr algn="ctr" fontAlgn="ctr">
                        <a:buNone/>
                      </a:pPr>
                      <a:r>
                        <a:rPr lang="en-IN" sz="800" b="1" i="0" u="none" strike="noStrike" dirty="0">
                          <a:solidFill>
                            <a:srgbClr val="000000"/>
                          </a:solidFill>
                          <a:effectLst/>
                          <a:latin typeface="+mn-lt"/>
                        </a:rPr>
                        <a:t>Type of Benefit</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gridSpan="8">
                  <a:txBody>
                    <a:bodyPr/>
                    <a:lstStyle/>
                    <a:p>
                      <a:pPr algn="ctr" fontAlgn="ctr">
                        <a:buNone/>
                      </a:pPr>
                      <a:r>
                        <a:rPr lang="en-IN" sz="800" b="1" i="0" u="none" strike="noStrike">
                          <a:solidFill>
                            <a:srgbClr val="000000"/>
                          </a:solidFill>
                          <a:effectLst/>
                          <a:latin typeface="+mn-lt"/>
                        </a:rPr>
                        <a:t>Basis of Benefit</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IN" sz="800" b="1" i="0" u="none" strike="noStrike">
                          <a:solidFill>
                            <a:srgbClr val="000000"/>
                          </a:solidFill>
                          <a:effectLst/>
                          <a:latin typeface="+mn-lt"/>
                        </a:rPr>
                        <a:t>Est. Benefit by Q3</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67268289"/>
                  </a:ext>
                </a:extLst>
              </a:tr>
              <a:tr h="262171">
                <a:tc gridSpan="3">
                  <a:txBody>
                    <a:bodyPr/>
                    <a:lstStyle/>
                    <a:p>
                      <a:pPr algn="ctr" fontAlgn="ctr">
                        <a:buNone/>
                      </a:pPr>
                      <a:r>
                        <a:rPr lang="en-IN" sz="800" b="0" i="0" u="none" strike="noStrike" dirty="0">
                          <a:solidFill>
                            <a:srgbClr val="000000"/>
                          </a:solidFill>
                          <a:effectLst/>
                          <a:latin typeface="+mn-lt"/>
                        </a:rPr>
                        <a:t>Cost Optimisation</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8">
                  <a:txBody>
                    <a:bodyPr/>
                    <a:lstStyle/>
                    <a:p>
                      <a:pPr algn="ctr" fontAlgn="ctr">
                        <a:buNone/>
                      </a:pPr>
                      <a:r>
                        <a:rPr lang="en-US" sz="800" b="0" i="0" u="none" strike="noStrike">
                          <a:solidFill>
                            <a:srgbClr val="000000"/>
                          </a:solidFill>
                          <a:effectLst/>
                          <a:latin typeface="+mn-lt"/>
                        </a:rPr>
                        <a:t>Control costs related to hiring ($700/person), training ($1000/person), and productivity loss ($350/person)</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US" sz="800" b="0" i="0" u="none" strike="noStrike">
                          <a:solidFill>
                            <a:srgbClr val="000000"/>
                          </a:solidFill>
                          <a:effectLst/>
                          <a:latin typeface="+mn-lt"/>
                        </a:rPr>
                        <a:t>Savings $ 1,45,233(Reduce loss of $205,000 to $59,766)</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1199473"/>
                  </a:ext>
                </a:extLst>
              </a:tr>
              <a:tr h="135687">
                <a:tc gridSpan="3">
                  <a:txBody>
                    <a:bodyPr/>
                    <a:lstStyle/>
                    <a:p>
                      <a:pPr algn="ctr" fontAlgn="ctr">
                        <a:buNone/>
                      </a:pPr>
                      <a:r>
                        <a:rPr lang="en-IN" sz="800" b="0" i="0" u="none" strike="noStrike" dirty="0">
                          <a:solidFill>
                            <a:srgbClr val="000000"/>
                          </a:solidFill>
                          <a:effectLst/>
                          <a:latin typeface="+mn-lt"/>
                        </a:rPr>
                        <a:t>Employee satisfaction</a:t>
                      </a:r>
                    </a:p>
                  </a:txBody>
                  <a:tcPr marL="3210" marR="3210" marT="321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8">
                  <a:txBody>
                    <a:bodyPr/>
                    <a:lstStyle/>
                    <a:p>
                      <a:pPr algn="ctr" fontAlgn="ctr">
                        <a:buNone/>
                      </a:pPr>
                      <a:r>
                        <a:rPr lang="en-US" sz="800" b="0" i="0" u="none" strike="noStrike">
                          <a:solidFill>
                            <a:srgbClr val="000000"/>
                          </a:solidFill>
                          <a:effectLst/>
                          <a:latin typeface="+mn-lt"/>
                        </a:rPr>
                        <a:t>Improve promotion timelines to match competitors</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r>
                        <a:rPr lang="en-US" sz="800" b="0" i="0" u="none" strike="noStrike">
                          <a:solidFill>
                            <a:srgbClr val="000000"/>
                          </a:solidFill>
                          <a:effectLst/>
                          <a:latin typeface="+mn-lt"/>
                        </a:rPr>
                        <a:t>L1→L2 in 1–1.5 years</a:t>
                      </a: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67057289"/>
                  </a:ext>
                </a:extLst>
              </a:tr>
              <a:tr h="135687">
                <a:tc gridSpan="3">
                  <a:txBody>
                    <a:bodyPr/>
                    <a:lstStyle/>
                    <a:p>
                      <a:pPr algn="ctr" fontAlgn="ctr">
                        <a:buNone/>
                      </a:pPr>
                      <a:endParaRPr lang="en-IN" sz="800" b="0" i="0" u="none" strike="noStrike" dirty="0">
                        <a:solidFill>
                          <a:srgbClr val="000000"/>
                        </a:solidFill>
                        <a:effectLst/>
                        <a:latin typeface="+mn-lt"/>
                      </a:endParaRP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8">
                  <a:txBody>
                    <a:bodyPr/>
                    <a:lstStyle/>
                    <a:p>
                      <a:pPr algn="ctr" fontAlgn="ctr">
                        <a:buNone/>
                      </a:pPr>
                      <a:endParaRPr lang="en-US" sz="800" b="0" i="0" u="none" strike="noStrike" dirty="0">
                        <a:solidFill>
                          <a:srgbClr val="000000"/>
                        </a:solidFill>
                        <a:effectLst/>
                        <a:latin typeface="+mn-lt"/>
                      </a:endParaRP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ctr">
                        <a:buNone/>
                      </a:pPr>
                      <a:endParaRPr lang="en-IN" sz="800" b="0" i="0" u="none" strike="noStrike" dirty="0">
                        <a:solidFill>
                          <a:srgbClr val="000000"/>
                        </a:solidFill>
                        <a:effectLst/>
                        <a:latin typeface="+mn-lt"/>
                      </a:endParaRPr>
                    </a:p>
                  </a:txBody>
                  <a:tcPr marL="3210" marR="3210" marT="3210" marB="0" anchor="ctr">
                    <a:lnL w="12700" cap="flat" cmpd="sng" algn="ctr">
                      <a:solidFill>
                        <a:srgbClr val="000000"/>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23476699"/>
                  </a:ext>
                </a:extLst>
              </a:tr>
              <a:tr h="135687">
                <a:tc gridSpan="14">
                  <a:txBody>
                    <a:bodyPr/>
                    <a:lstStyle/>
                    <a:p>
                      <a:pPr algn="l" fontAlgn="ctr">
                        <a:buNone/>
                      </a:pPr>
                      <a:r>
                        <a:rPr lang="en-IN" sz="800" b="1" i="0" u="none" strike="noStrike">
                          <a:solidFill>
                            <a:srgbClr val="000000"/>
                          </a:solidFill>
                          <a:effectLst/>
                          <a:latin typeface="+mn-lt"/>
                        </a:rPr>
                        <a:t>Approval</a:t>
                      </a:r>
                    </a:p>
                  </a:txBody>
                  <a:tcPr marL="3210" marR="3210" marT="3210" marB="0"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FFF2C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40171765"/>
                  </a:ext>
                </a:extLst>
              </a:tr>
              <a:tr h="135687">
                <a:tc gridSpan="2">
                  <a:txBody>
                    <a:bodyPr/>
                    <a:lstStyle/>
                    <a:p>
                      <a:pPr algn="l" fontAlgn="ctr">
                        <a:buNone/>
                      </a:pPr>
                      <a:r>
                        <a:rPr lang="en-IN" sz="800" b="1" i="0" u="none" strike="noStrike">
                          <a:solidFill>
                            <a:srgbClr val="000000"/>
                          </a:solidFill>
                          <a:effectLst/>
                          <a:latin typeface="+mn-lt"/>
                        </a:rPr>
                        <a:t>Submitted by</a:t>
                      </a:r>
                    </a:p>
                  </a:txBody>
                  <a:tcPr marL="3210" marR="3210" marT="3210" marB="0" anchor="ctr">
                    <a:lnL w="12700" cap="flat" cmpd="sng" algn="ctr">
                      <a:solidFill>
                        <a:srgbClr val="7F7F7F"/>
                      </a:solidFill>
                      <a:prstDash val="solid"/>
                      <a:round/>
                      <a:headEnd type="none" w="med" len="med"/>
                      <a:tailEnd type="none" w="med" len="med"/>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l" fontAlgn="ctr">
                        <a:buNone/>
                      </a:pPr>
                      <a:r>
                        <a:rPr lang="en-IN" sz="800" b="0" i="0" u="none" strike="noStrike">
                          <a:solidFill>
                            <a:srgbClr val="000000"/>
                          </a:solidFill>
                          <a:effectLst/>
                          <a:latin typeface="+mn-lt"/>
                        </a:rPr>
                        <a:t> </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mn-lt"/>
                        </a:rPr>
                        <a:t> </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1" i="0" u="none" strike="noStrike">
                          <a:solidFill>
                            <a:srgbClr val="000000"/>
                          </a:solidFill>
                          <a:effectLst/>
                          <a:latin typeface="+mn-lt"/>
                        </a:rPr>
                        <a:t>Checked by:</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mn-lt"/>
                        </a:rPr>
                        <a:t> </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mn-lt"/>
                        </a:rPr>
                        <a:t> </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fontAlgn="ctr">
                        <a:buNone/>
                      </a:pPr>
                      <a:r>
                        <a:rPr lang="en-IN" sz="800" b="1" i="0" u="none" strike="noStrike">
                          <a:solidFill>
                            <a:srgbClr val="000000"/>
                          </a:solidFill>
                          <a:effectLst/>
                          <a:latin typeface="+mn-lt"/>
                        </a:rPr>
                        <a:t>Approved by</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l" fontAlgn="ctr">
                        <a:buNone/>
                      </a:pPr>
                      <a:r>
                        <a:rPr lang="en-IN" sz="800" b="0" i="0" u="none" strike="noStrike">
                          <a:solidFill>
                            <a:srgbClr val="000000"/>
                          </a:solidFill>
                          <a:effectLst/>
                          <a:latin typeface="+mn-lt"/>
                        </a:rPr>
                        <a:t> </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mn-lt"/>
                        </a:rPr>
                        <a:t> </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1" i="0" u="none" strike="noStrike">
                          <a:solidFill>
                            <a:srgbClr val="000000"/>
                          </a:solidFill>
                          <a:effectLst/>
                          <a:latin typeface="+mn-lt"/>
                        </a:rPr>
                        <a:t>Date:</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mn-lt"/>
                        </a:rPr>
                        <a:t>27/06/2025</a:t>
                      </a:r>
                    </a:p>
                  </a:txBody>
                  <a:tcPr marL="3210" marR="3210" marT="321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mn-lt"/>
                        </a:rPr>
                        <a:t> </a:t>
                      </a:r>
                    </a:p>
                  </a:txBody>
                  <a:tcPr marL="3210" marR="3210" marT="3210" marB="0" anchor="ctr">
                    <a:lnL>
                      <a:noFill/>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2840410"/>
                  </a:ext>
                </a:extLst>
              </a:tr>
            </a:tbl>
          </a:graphicData>
        </a:graphic>
      </p:graphicFrame>
      <mc:AlternateContent xmlns:mc="http://schemas.openxmlformats.org/markup-compatibility/2006">
        <mc:Choice xmlns:p14="http://schemas.microsoft.com/office/powerpoint/2010/main" Requires="p14">
          <p:contentPart p14:bwMode="auto" r:id="rId2">
            <p14:nvContentPartPr>
              <p14:cNvPr id="14" name="Ink 13">
                <a:extLst>
                  <a:ext uri="{FF2B5EF4-FFF2-40B4-BE49-F238E27FC236}">
                    <a16:creationId xmlns:a16="http://schemas.microsoft.com/office/drawing/2014/main" id="{C5ED4FA5-4A92-B54C-6B6D-EB7CE3E1381E}"/>
                  </a:ext>
                </a:extLst>
              </p14:cNvPr>
              <p14:cNvContentPartPr/>
              <p14:nvPr/>
            </p14:nvContentPartPr>
            <p14:xfrm>
              <a:off x="184519" y="6040923"/>
              <a:ext cx="720" cy="146160"/>
            </p14:xfrm>
          </p:contentPart>
        </mc:Choice>
        <mc:Fallback>
          <p:pic>
            <p:nvPicPr>
              <p:cNvPr id="14" name="Ink 13">
                <a:extLst>
                  <a:ext uri="{FF2B5EF4-FFF2-40B4-BE49-F238E27FC236}">
                    <a16:creationId xmlns:a16="http://schemas.microsoft.com/office/drawing/2014/main" id="{C5ED4FA5-4A92-B54C-6B6D-EB7CE3E1381E}"/>
                  </a:ext>
                </a:extLst>
              </p:cNvPr>
              <p:cNvPicPr/>
              <p:nvPr/>
            </p:nvPicPr>
            <p:blipFill>
              <a:blip r:embed="rId3"/>
              <a:stretch>
                <a:fillRect/>
              </a:stretch>
            </p:blipFill>
            <p:spPr>
              <a:xfrm>
                <a:off x="171559" y="6034803"/>
                <a:ext cx="25200" cy="158400"/>
              </a:xfrm>
              <a:prstGeom prst="rect">
                <a:avLst/>
              </a:prstGeom>
            </p:spPr>
          </p:pic>
        </mc:Fallback>
      </mc:AlternateContent>
    </p:spTree>
    <p:extLst>
      <p:ext uri="{BB962C8B-B14F-4D97-AF65-F5344CB8AC3E}">
        <p14:creationId xmlns:p14="http://schemas.microsoft.com/office/powerpoint/2010/main" val="64386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46856" y="346856"/>
            <a:ext cx="11567659" cy="208114"/>
          </a:xfrm>
          <a:prstGeom prst="rect">
            <a:avLst/>
          </a:prstGeom>
          <a:noFill/>
          <a:ln/>
        </p:spPr>
        <p:txBody>
          <a:bodyPr wrap="square" lIns="0" tIns="0" rIns="0" bIns="0" rtlCol="0" anchor="ctr"/>
          <a:lstStyle/>
          <a:p>
            <a:pPr>
              <a:lnSpc>
                <a:spcPct val="130000"/>
              </a:lnSpc>
            </a:pPr>
            <a:r>
              <a:rPr lang="en-US" sz="1092" b="1" kern="0" spc="109" dirty="0">
                <a:solidFill>
                  <a:srgbClr val="C5A56A"/>
                </a:solidFill>
                <a:latin typeface="Liter" pitchFamily="34" charset="0"/>
                <a:ea typeface="Liter" pitchFamily="34" charset="-122"/>
                <a:cs typeface="Liter" pitchFamily="34" charset="-120"/>
              </a:rPr>
              <a:t>Process Mapping</a:t>
            </a:r>
            <a:endParaRPr lang="en-US" sz="1600" dirty="0"/>
          </a:p>
        </p:txBody>
      </p:sp>
      <p:sp>
        <p:nvSpPr>
          <p:cNvPr id="3" name="Text 1"/>
          <p:cNvSpPr/>
          <p:nvPr/>
        </p:nvSpPr>
        <p:spPr>
          <a:xfrm>
            <a:off x="346856" y="624341"/>
            <a:ext cx="11654373" cy="346856"/>
          </a:xfrm>
          <a:prstGeom prst="rect">
            <a:avLst/>
          </a:prstGeom>
          <a:noFill/>
          <a:ln/>
        </p:spPr>
        <p:txBody>
          <a:bodyPr wrap="square" lIns="0" tIns="0" rIns="0" bIns="0" rtlCol="0" anchor="ctr"/>
          <a:lstStyle/>
          <a:p>
            <a:pPr>
              <a:lnSpc>
                <a:spcPct val="90000"/>
              </a:lnSpc>
            </a:pPr>
            <a:r>
              <a:rPr lang="en-US" sz="2458" b="1" dirty="0">
                <a:solidFill>
                  <a:srgbClr val="1A3A52"/>
                </a:solidFill>
                <a:latin typeface="Liter" pitchFamily="34" charset="0"/>
                <a:ea typeface="Liter" pitchFamily="34" charset="-122"/>
                <a:cs typeface="Liter" pitchFamily="34" charset="-120"/>
              </a:rPr>
              <a:t>SIPOC Diagram – Attrition Reduction Project</a:t>
            </a:r>
            <a:endParaRPr lang="en-US" sz="1600" dirty="0"/>
          </a:p>
        </p:txBody>
      </p:sp>
      <p:sp>
        <p:nvSpPr>
          <p:cNvPr id="4" name="Shape 2"/>
          <p:cNvSpPr/>
          <p:nvPr/>
        </p:nvSpPr>
        <p:spPr>
          <a:xfrm>
            <a:off x="346856" y="1075255"/>
            <a:ext cx="832455" cy="34686"/>
          </a:xfrm>
          <a:custGeom>
            <a:avLst/>
            <a:gdLst/>
            <a:ahLst/>
            <a:cxnLst/>
            <a:rect l="l" t="t" r="r" b="b"/>
            <a:pathLst>
              <a:path w="832455" h="34686">
                <a:moveTo>
                  <a:pt x="0" y="0"/>
                </a:moveTo>
                <a:lnTo>
                  <a:pt x="832455" y="0"/>
                </a:lnTo>
                <a:lnTo>
                  <a:pt x="832455" y="34686"/>
                </a:lnTo>
                <a:lnTo>
                  <a:pt x="0" y="34686"/>
                </a:lnTo>
                <a:lnTo>
                  <a:pt x="0" y="0"/>
                </a:lnTo>
                <a:close/>
              </a:path>
            </a:pathLst>
          </a:custGeom>
          <a:solidFill>
            <a:srgbClr val="C5A56A"/>
          </a:solidFill>
          <a:ln/>
        </p:spPr>
      </p:sp>
      <p:sp>
        <p:nvSpPr>
          <p:cNvPr id="5" name="Shape 3"/>
          <p:cNvSpPr/>
          <p:nvPr/>
        </p:nvSpPr>
        <p:spPr>
          <a:xfrm>
            <a:off x="346856" y="1213997"/>
            <a:ext cx="11498287" cy="4777946"/>
          </a:xfrm>
          <a:custGeom>
            <a:avLst/>
            <a:gdLst/>
            <a:ahLst/>
            <a:cxnLst/>
            <a:rect l="l" t="t" r="r" b="b"/>
            <a:pathLst>
              <a:path w="11498287" h="4777946">
                <a:moveTo>
                  <a:pt x="69376" y="0"/>
                </a:moveTo>
                <a:lnTo>
                  <a:pt x="11428912" y="0"/>
                </a:lnTo>
                <a:cubicBezTo>
                  <a:pt x="11467227" y="0"/>
                  <a:pt x="11498287" y="31061"/>
                  <a:pt x="11498287" y="69376"/>
                </a:cubicBezTo>
                <a:lnTo>
                  <a:pt x="11498287" y="4708570"/>
                </a:lnTo>
                <a:cubicBezTo>
                  <a:pt x="11498287" y="4746885"/>
                  <a:pt x="11467227" y="4777946"/>
                  <a:pt x="11428912" y="4777946"/>
                </a:cubicBezTo>
                <a:lnTo>
                  <a:pt x="69376" y="4777946"/>
                </a:lnTo>
                <a:cubicBezTo>
                  <a:pt x="31061" y="4777946"/>
                  <a:pt x="0" y="4746885"/>
                  <a:pt x="0" y="4708570"/>
                </a:cubicBezTo>
                <a:lnTo>
                  <a:pt x="0" y="69376"/>
                </a:lnTo>
                <a:cubicBezTo>
                  <a:pt x="0" y="31061"/>
                  <a:pt x="31061" y="0"/>
                  <a:pt x="69376" y="0"/>
                </a:cubicBezTo>
                <a:close/>
              </a:path>
            </a:pathLst>
          </a:custGeom>
          <a:solidFill>
            <a:srgbClr val="FFFFFF"/>
          </a:solidFill>
          <a:ln/>
          <a:effectLst>
            <a:outerShdw blurRad="130071" dist="86714" dir="5400000" algn="bl" rotWithShape="0">
              <a:srgbClr val="000000">
                <a:alpha val="10196"/>
              </a:srgbClr>
            </a:outerShdw>
          </a:effectLst>
        </p:spPr>
      </p:sp>
      <p:graphicFrame>
        <p:nvGraphicFramePr>
          <p:cNvPr id="6" name="Table 0"/>
          <p:cNvGraphicFramePr>
            <a:graphicFrameLocks noGrp="1"/>
          </p:cNvGraphicFramePr>
          <p:nvPr>
            <p:extLst>
              <p:ext uri="{D42A27DB-BD31-4B8C-83A1-F6EECF244321}">
                <p14:modId xmlns:p14="http://schemas.microsoft.com/office/powerpoint/2010/main" val="654283257"/>
              </p:ext>
            </p:extLst>
          </p:nvPr>
        </p:nvGraphicFramePr>
        <p:xfrm>
          <a:off x="346856" y="1213997"/>
          <a:ext cx="11498287" cy="4772374"/>
        </p:xfrm>
        <a:graphic>
          <a:graphicData uri="http://schemas.openxmlformats.org/drawingml/2006/table">
            <a:tbl>
              <a:tblPr/>
              <a:tblGrid>
                <a:gridCol w="1725610">
                  <a:extLst>
                    <a:ext uri="{9D8B030D-6E8A-4147-A177-3AD203B41FA5}">
                      <a16:colId xmlns:a16="http://schemas.microsoft.com/office/drawing/2014/main" val="20000"/>
                    </a:ext>
                  </a:extLst>
                </a:gridCol>
                <a:gridCol w="2297923">
                  <a:extLst>
                    <a:ext uri="{9D8B030D-6E8A-4147-A177-3AD203B41FA5}">
                      <a16:colId xmlns:a16="http://schemas.microsoft.com/office/drawing/2014/main" val="20001"/>
                    </a:ext>
                  </a:extLst>
                </a:gridCol>
                <a:gridCol w="2878908">
                  <a:extLst>
                    <a:ext uri="{9D8B030D-6E8A-4147-A177-3AD203B41FA5}">
                      <a16:colId xmlns:a16="http://schemas.microsoft.com/office/drawing/2014/main" val="20002"/>
                    </a:ext>
                  </a:extLst>
                </a:gridCol>
                <a:gridCol w="2297923">
                  <a:extLst>
                    <a:ext uri="{9D8B030D-6E8A-4147-A177-3AD203B41FA5}">
                      <a16:colId xmlns:a16="http://schemas.microsoft.com/office/drawing/2014/main" val="20003"/>
                    </a:ext>
                  </a:extLst>
                </a:gridCol>
                <a:gridCol w="2297923">
                  <a:extLst>
                    <a:ext uri="{9D8B030D-6E8A-4147-A177-3AD203B41FA5}">
                      <a16:colId xmlns:a16="http://schemas.microsoft.com/office/drawing/2014/main" val="20004"/>
                    </a:ext>
                  </a:extLst>
                </a:gridCol>
              </a:tblGrid>
              <a:tr h="674559">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Suppliers</a:t>
                      </a:r>
                      <a:endParaRPr lang="en-US" sz="1000" dirty="0">
                        <a:latin typeface="微软雅黑" charset="0"/>
                        <a:ea typeface="微软雅黑" charset="0"/>
                        <a:cs typeface="微软雅黑" charset="0"/>
                      </a:endParaRPr>
                    </a:p>
                  </a:txBody>
                  <a:tcPr marL="104057" marR="104057" marT="104057" marB="104057" anchor="ctr">
                    <a:lnL w="0" cap="flat" cmpd="sng" algn="ctr">
                      <a:noFill/>
                    </a:lnL>
                    <a:lnR w="8467" cap="flat" cmpd="sng" algn="ctr">
                      <a:solidFill>
                        <a:srgbClr val="000000"/>
                      </a:solidFill>
                      <a:prstDash val="solid"/>
                      <a:round/>
                      <a:headEnd type="none" w="med" len="med"/>
                      <a:tailEnd type="none" w="med" len="med"/>
                    </a:lnR>
                    <a:lnT w="0" cap="flat" cmpd="sng" algn="ctr">
                      <a:noFill/>
                    </a:lnT>
                    <a:lnB w="0" cap="flat" cmpd="sng" algn="ctr">
                      <a:noFill/>
                    </a:lnB>
                    <a:solidFill>
                      <a:srgbClr val="1A3A52"/>
                    </a:solidFill>
                  </a:tcPr>
                </a:tc>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Inputs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0" cap="flat" cmpd="sng" algn="ctr">
                      <a:noFill/>
                    </a:lnT>
                    <a:lnB w="0" cap="flat" cmpd="sng" algn="ctr">
                      <a:noFill/>
                    </a:lnB>
                    <a:solidFill>
                      <a:srgbClr val="1A3A52"/>
                    </a:solidFill>
                  </a:tcPr>
                </a:tc>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Process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0" cap="flat" cmpd="sng" algn="ctr">
                      <a:noFill/>
                    </a:lnT>
                    <a:lnB w="0" cap="flat" cmpd="sng" algn="ctr">
                      <a:noFill/>
                    </a:lnB>
                    <a:solidFill>
                      <a:srgbClr val="1A3A52"/>
                    </a:solidFill>
                  </a:tcPr>
                </a:tc>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Outputs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0" cap="flat" cmpd="sng" algn="ctr">
                      <a:noFill/>
                    </a:lnT>
                    <a:lnB w="0" cap="flat" cmpd="sng" algn="ctr">
                      <a:noFill/>
                    </a:lnB>
                    <a:solidFill>
                      <a:srgbClr val="1A3A52"/>
                    </a:solidFill>
                  </a:tcPr>
                </a:tc>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Customers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0" cap="flat" cmpd="sng" algn="ctr">
                      <a:noFill/>
                    </a:lnR>
                    <a:lnT w="0" cap="flat" cmpd="sng" algn="ctr">
                      <a:noFill/>
                    </a:lnT>
                    <a:lnB w="0" cap="flat" cmpd="sng" algn="ctr">
                      <a:noFill/>
                    </a:lnB>
                    <a:solidFill>
                      <a:srgbClr val="1A3A52"/>
                    </a:solidFill>
                  </a:tcPr>
                </a:tc>
                <a:extLst>
                  <a:ext uri="{0D108BD9-81ED-4DB2-BD59-A6C34878D82A}">
                    <a16:rowId xmlns:a16="http://schemas.microsoft.com/office/drawing/2014/main" val="10000"/>
                  </a:ext>
                </a:extLst>
              </a:tr>
              <a:tr h="674559">
                <a:tc>
                  <a:txBody>
                    <a:bodyPr/>
                    <a:lstStyle/>
                    <a:p>
                      <a:r>
                        <a:rPr lang="en-US" sz="1000" u="none" dirty="0">
                          <a:solidFill>
                            <a:srgbClr val="212529"/>
                          </a:solidFill>
                          <a:latin typeface="微软雅黑" pitchFamily="34" charset="0"/>
                          <a:ea typeface="微软雅黑" pitchFamily="34" charset="-122"/>
                          <a:cs typeface="微软雅黑" pitchFamily="34" charset="-120"/>
                        </a:rPr>
                        <a:t>HR Department</a:t>
                      </a:r>
                      <a:endParaRPr lang="en-US" sz="1000" dirty="0">
                        <a:latin typeface="微软雅黑" charset="0"/>
                        <a:ea typeface="微软雅黑" charset="0"/>
                        <a:cs typeface="微软雅黑" charset="0"/>
                      </a:endParaRPr>
                    </a:p>
                  </a:txBody>
                  <a:tcPr marL="104057" marR="104057" marT="104057" marB="104057" anchor="ctr">
                    <a:lnL w="0" cap="flat" cmpd="sng" algn="ctr">
                      <a:noFill/>
                    </a:lnL>
                    <a:lnR w="8467" cap="flat" cmpd="sng" algn="ctr">
                      <a:solidFill>
                        <a:srgbClr val="000000"/>
                      </a:solidFill>
                      <a:prstDash val="solid"/>
                      <a:round/>
                      <a:headEnd type="none" w="med" len="med"/>
                      <a:tailEnd type="none" w="med" len="med"/>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Attrition data (resignations, terminations, recruitment)</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DEFINE</a:t>
                      </a:r>
                      <a:endParaRPr lang="en-US" sz="1000" dirty="0">
                        <a:latin typeface="微软雅黑" charset="0"/>
                        <a:ea typeface="微软雅黑" charset="0"/>
                        <a:cs typeface="微软雅黑" charset="0"/>
                      </a:endParaRPr>
                    </a:p>
                    <a:p>
                      <a:endParaRPr lang="en-US" sz="1000" dirty="0">
                        <a:latin typeface="微软雅黑" charset="0"/>
                        <a:ea typeface="微软雅黑" charset="0"/>
                        <a:cs typeface="微软雅黑" charset="0"/>
                      </a:endParaRPr>
                    </a:p>
                    <a:p>
                      <a:r>
                        <a:rPr lang="en-US" sz="1000" u="none" dirty="0">
                          <a:solidFill>
                            <a:srgbClr val="212529"/>
                          </a:solidFill>
                          <a:latin typeface="微软雅黑" pitchFamily="34" charset="0"/>
                          <a:ea typeface="微软雅黑" pitchFamily="34" charset="-122"/>
                          <a:cs typeface="微软雅黑" pitchFamily="34" charset="-120"/>
                        </a:rPr>
                        <a:t>Identify attrition problem and set goals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0" cap="flat" cmpd="sng" algn="ctr">
                      <a:noFill/>
                    </a:lnT>
                    <a:lnB w="8467" cap="flat" cmpd="sng" algn="ctr">
                      <a:solidFill>
                        <a:srgbClr val="000000"/>
                      </a:solidFill>
                      <a:prstDash val="solid"/>
                      <a:round/>
                      <a:headEnd type="none" w="med" len="med"/>
                      <a:tailEnd type="none" w="med" len="med"/>
                    </a:lnB>
                    <a:solidFill>
                      <a:srgbClr val="C5A56A">
                        <a:alpha val="500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Monthly attrition reports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Senior Management</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769074">
                <a:tc>
                  <a:txBody>
                    <a:bodyPr/>
                    <a:lstStyle/>
                    <a:p>
                      <a:r>
                        <a:rPr lang="en-US" sz="1000" u="none" dirty="0">
                          <a:solidFill>
                            <a:srgbClr val="212529"/>
                          </a:solidFill>
                          <a:latin typeface="微软雅黑" pitchFamily="34" charset="0"/>
                          <a:ea typeface="微软雅黑" pitchFamily="34" charset="-122"/>
                          <a:cs typeface="微软雅黑" pitchFamily="34" charset="-120"/>
                        </a:rPr>
                        <a:t>Employees (L1–L4)</a:t>
                      </a:r>
                      <a:endParaRPr lang="en-US" sz="1000" dirty="0">
                        <a:latin typeface="微软雅黑" charset="0"/>
                        <a:ea typeface="微软雅黑" charset="0"/>
                        <a:cs typeface="微软雅黑" charset="0"/>
                      </a:endParaRPr>
                    </a:p>
                  </a:txBody>
                  <a:tcPr marL="104057" marR="104057" marT="104057" marB="104057" anchor="ctr">
                    <a:lnL w="0" cap="flat" cmpd="sng" algn="ctr">
                      <a:noFill/>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Exit interview feedback, engagement survey results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MEASURE</a:t>
                      </a:r>
                      <a:endParaRPr lang="en-US" sz="1000" dirty="0">
                        <a:latin typeface="微软雅黑" charset="0"/>
                        <a:ea typeface="微软雅黑" charset="0"/>
                        <a:cs typeface="微软雅黑" charset="0"/>
                      </a:endParaRPr>
                    </a:p>
                    <a:p>
                      <a:endParaRPr lang="en-US" sz="1000" dirty="0">
                        <a:latin typeface="微软雅黑" charset="0"/>
                        <a:ea typeface="微软雅黑" charset="0"/>
                        <a:cs typeface="微软雅黑" charset="0"/>
                      </a:endParaRPr>
                    </a:p>
                    <a:p>
                      <a:r>
                        <a:rPr lang="en-US" sz="1000" u="none" dirty="0">
                          <a:solidFill>
                            <a:srgbClr val="212529"/>
                          </a:solidFill>
                          <a:latin typeface="微软雅黑" pitchFamily="34" charset="0"/>
                          <a:ea typeface="微软雅黑" pitchFamily="34" charset="-122"/>
                          <a:cs typeface="微软雅黑" pitchFamily="34" charset="-120"/>
                        </a:rPr>
                        <a:t>Collect data on attrition causes, promotion timelines, compensation gaps, work hours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5E7A91">
                        <a:alpha val="500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Root cause analysis reports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Project Managers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769074">
                <a:tc>
                  <a:txBody>
                    <a:bodyPr/>
                    <a:lstStyle/>
                    <a:p>
                      <a:r>
                        <a:rPr lang="en-US" sz="1000" u="none" dirty="0">
                          <a:solidFill>
                            <a:srgbClr val="212529"/>
                          </a:solidFill>
                          <a:latin typeface="微软雅黑" pitchFamily="34" charset="0"/>
                          <a:ea typeface="微软雅黑" pitchFamily="34" charset="-122"/>
                          <a:cs typeface="微软雅黑" pitchFamily="34" charset="-120"/>
                        </a:rPr>
                        <a:t>Competitors</a:t>
                      </a:r>
                      <a:endParaRPr lang="en-US" sz="1000" dirty="0">
                        <a:latin typeface="微软雅黑" charset="0"/>
                        <a:ea typeface="微软雅黑" charset="0"/>
                        <a:cs typeface="微软雅黑" charset="0"/>
                      </a:endParaRPr>
                    </a:p>
                  </a:txBody>
                  <a:tcPr marL="104057" marR="104057" marT="104057" marB="104057" anchor="ctr">
                    <a:lnL w="0" cap="flat" cmpd="sng" algn="ctr">
                      <a:noFill/>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Promotion timelines, compensation benchmarks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ANALYZE</a:t>
                      </a:r>
                      <a:endParaRPr lang="en-US" sz="1000" dirty="0">
                        <a:latin typeface="微软雅黑" charset="0"/>
                        <a:ea typeface="微软雅黑" charset="0"/>
                        <a:cs typeface="微软雅黑" charset="0"/>
                      </a:endParaRPr>
                    </a:p>
                    <a:p>
                      <a:endParaRPr lang="en-US" sz="1000" dirty="0">
                        <a:latin typeface="微软雅黑" charset="0"/>
                        <a:ea typeface="微软雅黑" charset="0"/>
                        <a:cs typeface="微软雅黑" charset="0"/>
                      </a:endParaRPr>
                    </a:p>
                    <a:p>
                      <a:r>
                        <a:rPr lang="en-US" sz="1000" u="none" dirty="0">
                          <a:solidFill>
                            <a:srgbClr val="212529"/>
                          </a:solidFill>
                          <a:latin typeface="微软雅黑" pitchFamily="34" charset="0"/>
                          <a:ea typeface="微软雅黑" pitchFamily="34" charset="-122"/>
                          <a:cs typeface="微软雅黑" pitchFamily="34" charset="-120"/>
                        </a:rPr>
                        <a:t>Identify vital causes (growth, pay, stress, manager attitude, relocation)</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C5A56A">
                        <a:alpha val="500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Cause-and-effect matrix, Pareto charts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HR Head</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912409">
                <a:tc>
                  <a:txBody>
                    <a:bodyPr/>
                    <a:lstStyle/>
                    <a:p>
                      <a:r>
                        <a:rPr lang="en-US" sz="1000" u="none" dirty="0">
                          <a:solidFill>
                            <a:srgbClr val="212529"/>
                          </a:solidFill>
                          <a:latin typeface="微软雅黑" pitchFamily="34" charset="0"/>
                          <a:ea typeface="微软雅黑" pitchFamily="34" charset="-122"/>
                          <a:cs typeface="微软雅黑" pitchFamily="34" charset="-120"/>
                        </a:rPr>
                        <a:t>Training Team</a:t>
                      </a:r>
                      <a:endParaRPr lang="en-US" sz="1000" dirty="0">
                        <a:latin typeface="微软雅黑" charset="0"/>
                        <a:ea typeface="微软雅黑" charset="0"/>
                        <a:cs typeface="微软雅黑" charset="0"/>
                      </a:endParaRPr>
                    </a:p>
                  </a:txBody>
                  <a:tcPr marL="104057" marR="104057" marT="104057" marB="104057" anchor="ctr">
                    <a:lnL w="0" cap="flat" cmpd="sng" algn="ctr">
                      <a:noFill/>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Training cost data, skill development programs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IMPROVE</a:t>
                      </a:r>
                      <a:endParaRPr lang="en-US" sz="1000" dirty="0">
                        <a:latin typeface="微软雅黑" charset="0"/>
                        <a:ea typeface="微软雅黑" charset="0"/>
                        <a:cs typeface="微软雅黑" charset="0"/>
                      </a:endParaRPr>
                    </a:p>
                    <a:p>
                      <a:endParaRPr lang="en-US" sz="1000" dirty="0">
                        <a:latin typeface="微软雅黑" charset="0"/>
                        <a:ea typeface="微软雅黑" charset="0"/>
                        <a:cs typeface="微软雅黑" charset="0"/>
                      </a:endParaRPr>
                    </a:p>
                    <a:p>
                      <a:r>
                        <a:rPr lang="en-US" sz="1000" u="none" dirty="0">
                          <a:solidFill>
                            <a:srgbClr val="212529"/>
                          </a:solidFill>
                          <a:latin typeface="微软雅黑" pitchFamily="34" charset="0"/>
                          <a:ea typeface="微软雅黑" pitchFamily="34" charset="-122"/>
                          <a:cs typeface="微软雅黑" pitchFamily="34" charset="-120"/>
                        </a:rPr>
                        <a:t>Implement retention strategies (career growth, compensation, work-life balance, skill training)</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5E7A91">
                        <a:alpha val="500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Reduced attrition rate, improved employee satisfaction</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Clients (stable project delivery)</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769074">
                <a:tc>
                  <a:txBody>
                    <a:bodyPr/>
                    <a:lstStyle/>
                    <a:p>
                      <a:r>
                        <a:rPr lang="en-US" sz="1000" u="none" dirty="0">
                          <a:solidFill>
                            <a:srgbClr val="212529"/>
                          </a:solidFill>
                          <a:latin typeface="微软雅黑" pitchFamily="34" charset="0"/>
                          <a:ea typeface="微软雅黑" pitchFamily="34" charset="-122"/>
                          <a:cs typeface="微软雅黑" pitchFamily="34" charset="-120"/>
                        </a:rPr>
                        <a:t>Recruitment Agencies</a:t>
                      </a:r>
                      <a:endParaRPr lang="en-US" sz="1000" dirty="0">
                        <a:latin typeface="微软雅黑" charset="0"/>
                        <a:ea typeface="微软雅黑" charset="0"/>
                        <a:cs typeface="微软雅黑" charset="0"/>
                      </a:endParaRPr>
                    </a:p>
                  </a:txBody>
                  <a:tcPr marL="104057" marR="104057" marT="104057" marB="104057" anchor="ctr">
                    <a:lnL w="0" cap="flat" cmpd="sng" algn="ctr">
                      <a:noFill/>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New hires, niche skill acquisition (VAGNETTE, INTERBASE, LITEWARE)</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CONTROL</a:t>
                      </a:r>
                      <a:endParaRPr lang="en-US" sz="1000" dirty="0">
                        <a:latin typeface="微软雅黑" charset="0"/>
                        <a:ea typeface="微软雅黑" charset="0"/>
                        <a:cs typeface="微软雅黑" charset="0"/>
                      </a:endParaRPr>
                    </a:p>
                    <a:p>
                      <a:endParaRPr lang="en-US" sz="1000" dirty="0">
                        <a:latin typeface="微软雅黑" charset="0"/>
                        <a:ea typeface="微软雅黑" charset="0"/>
                        <a:cs typeface="微软雅黑" charset="0"/>
                      </a:endParaRPr>
                    </a:p>
                    <a:p>
                      <a:r>
                        <a:rPr lang="en-US" sz="1000" u="none" dirty="0">
                          <a:solidFill>
                            <a:srgbClr val="212529"/>
                          </a:solidFill>
                          <a:latin typeface="微软雅黑" pitchFamily="34" charset="0"/>
                          <a:ea typeface="微软雅黑" pitchFamily="34" charset="-122"/>
                          <a:cs typeface="微软雅黑" pitchFamily="34" charset="-120"/>
                        </a:rPr>
                        <a:t>Monitor attrition monthly, track CTQs, sustain improvements</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0" cap="flat" cmpd="sng" algn="ctr">
                      <a:noFill/>
                    </a:lnB>
                    <a:solidFill>
                      <a:srgbClr val="C5A56A">
                        <a:alpha val="500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Cost savings, skill coverage, stable workforce</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8467" cap="flat" cmpd="sng" algn="ctr">
                      <a:solidFill>
                        <a:srgbClr val="000000"/>
                      </a:solidFill>
                      <a:prstDash val="solid"/>
                      <a:round/>
                      <a:headEnd type="none" w="med" len="med"/>
                      <a:tailEnd type="none" w="med" len="med"/>
                    </a:lnR>
                    <a:lnT w="8467"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212529"/>
                          </a:solidFill>
                          <a:latin typeface="微软雅黑" pitchFamily="34" charset="0"/>
                          <a:ea typeface="微软雅黑" pitchFamily="34" charset="-122"/>
                          <a:cs typeface="微软雅黑" pitchFamily="34" charset="-120"/>
                        </a:rPr>
                        <a:t>Employees (better growth, compensation, environment)</a:t>
                      </a:r>
                      <a:endParaRPr lang="en-US" sz="1000" dirty="0">
                        <a:latin typeface="微软雅黑" charset="0"/>
                        <a:ea typeface="微软雅黑" charset="0"/>
                        <a:cs typeface="微软雅黑" charset="0"/>
                      </a:endParaRPr>
                    </a:p>
                  </a:txBody>
                  <a:tcPr marL="104057" marR="104057" marT="104057" marB="104057" anchor="ctr">
                    <a:lnL w="8467" cap="flat" cmpd="sng" algn="ctr">
                      <a:solidFill>
                        <a:srgbClr val="000000"/>
                      </a:solidFill>
                      <a:prstDash val="solid"/>
                      <a:round/>
                      <a:headEnd type="none" w="med" len="med"/>
                      <a:tailEnd type="none" w="med" len="med"/>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5"/>
                  </a:ext>
                </a:extLst>
              </a:tr>
            </a:tbl>
          </a:graphicData>
        </a:graphic>
      </p:graphicFrame>
      <p:sp>
        <p:nvSpPr>
          <p:cNvPr id="7" name="Shape 4"/>
          <p:cNvSpPr/>
          <p:nvPr/>
        </p:nvSpPr>
        <p:spPr>
          <a:xfrm>
            <a:off x="4466317" y="6127796"/>
            <a:ext cx="138743" cy="138743"/>
          </a:xfrm>
          <a:custGeom>
            <a:avLst/>
            <a:gdLst/>
            <a:ahLst/>
            <a:cxnLst/>
            <a:rect l="l" t="t" r="r" b="b"/>
            <a:pathLst>
              <a:path w="138743" h="138743">
                <a:moveTo>
                  <a:pt x="34686" y="0"/>
                </a:moveTo>
                <a:lnTo>
                  <a:pt x="104057" y="0"/>
                </a:lnTo>
                <a:cubicBezTo>
                  <a:pt x="123213" y="0"/>
                  <a:pt x="138743" y="15529"/>
                  <a:pt x="138743" y="34686"/>
                </a:cubicBezTo>
                <a:lnTo>
                  <a:pt x="138743" y="104057"/>
                </a:lnTo>
                <a:cubicBezTo>
                  <a:pt x="138743" y="123213"/>
                  <a:pt x="123213" y="138743"/>
                  <a:pt x="104057" y="138743"/>
                </a:cubicBezTo>
                <a:lnTo>
                  <a:pt x="34686" y="138743"/>
                </a:lnTo>
                <a:cubicBezTo>
                  <a:pt x="15529" y="138743"/>
                  <a:pt x="0" y="123213"/>
                  <a:pt x="0" y="104057"/>
                </a:cubicBezTo>
                <a:lnTo>
                  <a:pt x="0" y="34686"/>
                </a:lnTo>
                <a:cubicBezTo>
                  <a:pt x="0" y="15542"/>
                  <a:pt x="15542" y="0"/>
                  <a:pt x="34686" y="0"/>
                </a:cubicBezTo>
                <a:close/>
              </a:path>
            </a:pathLst>
          </a:custGeom>
          <a:solidFill>
            <a:srgbClr val="C5A56A"/>
          </a:solidFill>
          <a:ln/>
        </p:spPr>
      </p:sp>
      <p:sp>
        <p:nvSpPr>
          <p:cNvPr id="8" name="Text 5"/>
          <p:cNvSpPr/>
          <p:nvPr/>
        </p:nvSpPr>
        <p:spPr>
          <a:xfrm>
            <a:off x="4674431" y="6093110"/>
            <a:ext cx="1352740" cy="208114"/>
          </a:xfrm>
          <a:prstGeom prst="rect">
            <a:avLst/>
          </a:prstGeom>
          <a:noFill/>
          <a:ln/>
        </p:spPr>
        <p:txBody>
          <a:bodyPr wrap="square" lIns="0" tIns="0" rIns="0" bIns="0" rtlCol="0" anchor="ctr"/>
          <a:lstStyle/>
          <a:p>
            <a:pPr>
              <a:lnSpc>
                <a:spcPct val="130000"/>
              </a:lnSpc>
            </a:pPr>
            <a:r>
              <a:rPr lang="en-US" sz="1092" dirty="0">
                <a:solidFill>
                  <a:srgbClr val="5E7A91"/>
                </a:solidFill>
                <a:latin typeface="Liter" pitchFamily="34" charset="0"/>
                <a:ea typeface="Liter" pitchFamily="34" charset="-122"/>
                <a:cs typeface="Liter" pitchFamily="34" charset="-120"/>
              </a:rPr>
              <a:t>Core Process Phases</a:t>
            </a:r>
            <a:endParaRPr lang="en-US" sz="1600" dirty="0"/>
          </a:p>
        </p:txBody>
      </p:sp>
      <p:sp>
        <p:nvSpPr>
          <p:cNvPr id="9" name="Shape 6"/>
          <p:cNvSpPr/>
          <p:nvPr/>
        </p:nvSpPr>
        <p:spPr>
          <a:xfrm>
            <a:off x="6237272" y="6127796"/>
            <a:ext cx="138743" cy="138743"/>
          </a:xfrm>
          <a:custGeom>
            <a:avLst/>
            <a:gdLst/>
            <a:ahLst/>
            <a:cxnLst/>
            <a:rect l="l" t="t" r="r" b="b"/>
            <a:pathLst>
              <a:path w="138743" h="138743">
                <a:moveTo>
                  <a:pt x="34686" y="0"/>
                </a:moveTo>
                <a:lnTo>
                  <a:pt x="104057" y="0"/>
                </a:lnTo>
                <a:cubicBezTo>
                  <a:pt x="123213" y="0"/>
                  <a:pt x="138743" y="15529"/>
                  <a:pt x="138743" y="34686"/>
                </a:cubicBezTo>
                <a:lnTo>
                  <a:pt x="138743" y="104057"/>
                </a:lnTo>
                <a:cubicBezTo>
                  <a:pt x="138743" y="123213"/>
                  <a:pt x="123213" y="138743"/>
                  <a:pt x="104057" y="138743"/>
                </a:cubicBezTo>
                <a:lnTo>
                  <a:pt x="34686" y="138743"/>
                </a:lnTo>
                <a:cubicBezTo>
                  <a:pt x="15529" y="138743"/>
                  <a:pt x="0" y="123213"/>
                  <a:pt x="0" y="104057"/>
                </a:cubicBezTo>
                <a:lnTo>
                  <a:pt x="0" y="34686"/>
                </a:lnTo>
                <a:cubicBezTo>
                  <a:pt x="0" y="15542"/>
                  <a:pt x="15542" y="0"/>
                  <a:pt x="34686" y="0"/>
                </a:cubicBezTo>
                <a:close/>
              </a:path>
            </a:pathLst>
          </a:custGeom>
          <a:solidFill>
            <a:srgbClr val="5E7A91"/>
          </a:solidFill>
          <a:ln/>
        </p:spPr>
      </p:sp>
      <p:sp>
        <p:nvSpPr>
          <p:cNvPr id="10" name="Text 7"/>
          <p:cNvSpPr/>
          <p:nvPr/>
        </p:nvSpPr>
        <p:spPr>
          <a:xfrm>
            <a:off x="6445386" y="6093110"/>
            <a:ext cx="1352740" cy="208114"/>
          </a:xfrm>
          <a:prstGeom prst="rect">
            <a:avLst/>
          </a:prstGeom>
          <a:noFill/>
          <a:ln/>
        </p:spPr>
        <p:txBody>
          <a:bodyPr wrap="square" lIns="0" tIns="0" rIns="0" bIns="0" rtlCol="0" anchor="ctr"/>
          <a:lstStyle/>
          <a:p>
            <a:pPr>
              <a:lnSpc>
                <a:spcPct val="130000"/>
              </a:lnSpc>
            </a:pPr>
            <a:r>
              <a:rPr lang="en-US" sz="1092" dirty="0">
                <a:solidFill>
                  <a:srgbClr val="5E7A91"/>
                </a:solidFill>
                <a:latin typeface="Liter" pitchFamily="34" charset="0"/>
                <a:ea typeface="Liter" pitchFamily="34" charset="-122"/>
                <a:cs typeface="Liter" pitchFamily="34" charset="-120"/>
              </a:rPr>
              <a:t>Supporting Activities</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nvSpPr>
        <p:spPr>
          <a:xfrm>
            <a:off x="374850" y="674730"/>
            <a:ext cx="11667210" cy="449820"/>
          </a:xfrm>
          <a:prstGeom prst="rect">
            <a:avLst/>
          </a:prstGeom>
          <a:noFill/>
          <a:ln/>
        </p:spPr>
        <p:txBody>
          <a:bodyPr wrap="square" lIns="0" tIns="0" rIns="0" bIns="0" rtlCol="0" anchor="ctr"/>
          <a:lstStyle/>
          <a:p>
            <a:pPr>
              <a:lnSpc>
                <a:spcPct val="80000"/>
              </a:lnSpc>
            </a:pPr>
            <a:r>
              <a:rPr lang="en-US" sz="3542" b="1" dirty="0">
                <a:solidFill>
                  <a:srgbClr val="1A3A52"/>
                </a:solidFill>
                <a:latin typeface="Liter" pitchFamily="34" charset="0"/>
                <a:ea typeface="Liter" pitchFamily="34" charset="-122"/>
                <a:cs typeface="Liter" pitchFamily="34" charset="-120"/>
              </a:rPr>
              <a:t>Data Collection Plan</a:t>
            </a:r>
            <a:endParaRPr lang="en-US" sz="1600" dirty="0"/>
          </a:p>
        </p:txBody>
      </p:sp>
      <p:sp>
        <p:nvSpPr>
          <p:cNvPr id="4" name="Shape 2"/>
          <p:cNvSpPr/>
          <p:nvPr/>
        </p:nvSpPr>
        <p:spPr>
          <a:xfrm>
            <a:off x="374850" y="1237005"/>
            <a:ext cx="899640" cy="37485"/>
          </a:xfrm>
          <a:custGeom>
            <a:avLst/>
            <a:gdLst/>
            <a:ahLst/>
            <a:cxnLst/>
            <a:rect l="l" t="t" r="r" b="b"/>
            <a:pathLst>
              <a:path w="899640" h="37485">
                <a:moveTo>
                  <a:pt x="0" y="0"/>
                </a:moveTo>
                <a:lnTo>
                  <a:pt x="899640" y="0"/>
                </a:lnTo>
                <a:lnTo>
                  <a:pt x="899640" y="37485"/>
                </a:lnTo>
                <a:lnTo>
                  <a:pt x="0" y="37485"/>
                </a:lnTo>
                <a:lnTo>
                  <a:pt x="0" y="0"/>
                </a:lnTo>
                <a:close/>
              </a:path>
            </a:pathLst>
          </a:custGeom>
          <a:solidFill>
            <a:srgbClr val="C5A56A"/>
          </a:solidFill>
          <a:ln/>
        </p:spPr>
      </p:sp>
      <p:graphicFrame>
        <p:nvGraphicFramePr>
          <p:cNvPr id="85" name="Table 84">
            <a:extLst>
              <a:ext uri="{FF2B5EF4-FFF2-40B4-BE49-F238E27FC236}">
                <a16:creationId xmlns:a16="http://schemas.microsoft.com/office/drawing/2014/main" id="{6AC7595A-C9A6-EFB2-7AC3-76A17BD96BB8}"/>
              </a:ext>
            </a:extLst>
          </p:cNvPr>
          <p:cNvGraphicFramePr>
            <a:graphicFrameLocks noGrp="1"/>
          </p:cNvGraphicFramePr>
          <p:nvPr>
            <p:extLst>
              <p:ext uri="{D42A27DB-BD31-4B8C-83A1-F6EECF244321}">
                <p14:modId xmlns:p14="http://schemas.microsoft.com/office/powerpoint/2010/main" val="1245131662"/>
              </p:ext>
            </p:extLst>
          </p:nvPr>
        </p:nvGraphicFramePr>
        <p:xfrm>
          <a:off x="581018" y="1577765"/>
          <a:ext cx="10515600" cy="4176184"/>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3262874148"/>
                    </a:ext>
                  </a:extLst>
                </a:gridCol>
                <a:gridCol w="5257800">
                  <a:extLst>
                    <a:ext uri="{9D8B030D-6E8A-4147-A177-3AD203B41FA5}">
                      <a16:colId xmlns:a16="http://schemas.microsoft.com/office/drawing/2014/main" val="326575505"/>
                    </a:ext>
                  </a:extLst>
                </a:gridCol>
              </a:tblGrid>
              <a:tr h="255790">
                <a:tc>
                  <a:txBody>
                    <a:bodyPr/>
                    <a:lstStyle/>
                    <a:p>
                      <a:pPr>
                        <a:lnSpc>
                          <a:spcPct val="115000"/>
                        </a:lnSpc>
                        <a:spcAft>
                          <a:spcPts val="800"/>
                        </a:spcAft>
                        <a:buNone/>
                      </a:pPr>
                      <a:r>
                        <a:rPr lang="en-IN" sz="1200" kern="100" dirty="0">
                          <a:effectLst/>
                        </a:rPr>
                        <a:t>Component</a:t>
                      </a:r>
                      <a:endParaRPr lang="en-IN" sz="1200" kern="100" dirty="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Details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51486252"/>
                  </a:ext>
                </a:extLst>
              </a:tr>
              <a:tr h="255790">
                <a:tc>
                  <a:txBody>
                    <a:bodyPr/>
                    <a:lstStyle/>
                    <a:p>
                      <a:pPr>
                        <a:lnSpc>
                          <a:spcPct val="115000"/>
                        </a:lnSpc>
                        <a:spcAft>
                          <a:spcPts val="800"/>
                        </a:spcAft>
                        <a:buNone/>
                      </a:pPr>
                      <a:r>
                        <a:rPr lang="en-IN" sz="1200" kern="100">
                          <a:effectLst/>
                        </a:rPr>
                        <a:t>Project Goal</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Reduce employee attrition by identifying controllable factors.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572496889"/>
                  </a:ext>
                </a:extLst>
              </a:tr>
              <a:tr h="525504">
                <a:tc>
                  <a:txBody>
                    <a:bodyPr/>
                    <a:lstStyle/>
                    <a:p>
                      <a:pPr>
                        <a:lnSpc>
                          <a:spcPct val="115000"/>
                        </a:lnSpc>
                        <a:spcAft>
                          <a:spcPts val="800"/>
                        </a:spcAft>
                        <a:buNone/>
                      </a:pPr>
                      <a:r>
                        <a:rPr lang="en-IN" sz="1200" kern="100">
                          <a:effectLst/>
                        </a:rPr>
                        <a:t>Metrics to Collect</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Attrition rate, tenure, department, role, salary band, performance rating, training participation, manager feedback, exit interview reasons.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663589064"/>
                  </a:ext>
                </a:extLst>
              </a:tr>
              <a:tr h="525504">
                <a:tc>
                  <a:txBody>
                    <a:bodyPr/>
                    <a:lstStyle/>
                    <a:p>
                      <a:pPr>
                        <a:lnSpc>
                          <a:spcPct val="115000"/>
                        </a:lnSpc>
                        <a:spcAft>
                          <a:spcPts val="800"/>
                        </a:spcAft>
                        <a:buNone/>
                      </a:pPr>
                      <a:r>
                        <a:rPr lang="en-IN" sz="1200" kern="100">
                          <a:effectLst/>
                        </a:rPr>
                        <a:t>Data Sources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HRIS (Human Resource Information System), payroll records, performance management system, employee surveys, exit interviews.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495292144"/>
                  </a:ext>
                </a:extLst>
              </a:tr>
              <a:tr h="525504">
                <a:tc>
                  <a:txBody>
                    <a:bodyPr/>
                    <a:lstStyle/>
                    <a:p>
                      <a:pPr>
                        <a:lnSpc>
                          <a:spcPct val="115000"/>
                        </a:lnSpc>
                        <a:spcAft>
                          <a:spcPts val="800"/>
                        </a:spcAft>
                        <a:buNone/>
                      </a:pPr>
                      <a:r>
                        <a:rPr lang="en-IN" sz="1200" kern="100">
                          <a:effectLst/>
                        </a:rPr>
                        <a:t>Data Type</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Quantitative (attrition %, tenure, salary, ratings) and qualitative (exit interview responses, survey comments).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2227196562"/>
                  </a:ext>
                </a:extLst>
              </a:tr>
              <a:tr h="525504">
                <a:tc>
                  <a:txBody>
                    <a:bodyPr/>
                    <a:lstStyle/>
                    <a:p>
                      <a:pPr>
                        <a:lnSpc>
                          <a:spcPct val="115000"/>
                        </a:lnSpc>
                        <a:spcAft>
                          <a:spcPts val="800"/>
                        </a:spcAft>
                        <a:buNone/>
                      </a:pPr>
                      <a:r>
                        <a:rPr lang="en-IN" sz="1200" kern="100">
                          <a:effectLst/>
                        </a:rPr>
                        <a:t>Collection Method</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Automated extraction from HR systems, structured surveys, standardized exit interview forms.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43812252"/>
                  </a:ext>
                </a:extLst>
              </a:tr>
              <a:tr h="255790">
                <a:tc>
                  <a:txBody>
                    <a:bodyPr/>
                    <a:lstStyle/>
                    <a:p>
                      <a:pPr>
                        <a:lnSpc>
                          <a:spcPct val="115000"/>
                        </a:lnSpc>
                        <a:spcAft>
                          <a:spcPts val="800"/>
                        </a:spcAft>
                        <a:buNone/>
                      </a:pPr>
                      <a:r>
                        <a:rPr lang="en-IN" sz="1200" kern="100">
                          <a:effectLst/>
                        </a:rPr>
                        <a:t>Frequency</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Monthly for quantitative metrics; ongoing for exit interviews.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2270446597"/>
                  </a:ext>
                </a:extLst>
              </a:tr>
              <a:tr h="525504">
                <a:tc>
                  <a:txBody>
                    <a:bodyPr/>
                    <a:lstStyle/>
                    <a:p>
                      <a:pPr>
                        <a:lnSpc>
                          <a:spcPct val="115000"/>
                        </a:lnSpc>
                        <a:spcAft>
                          <a:spcPts val="800"/>
                        </a:spcAft>
                        <a:buNone/>
                      </a:pPr>
                      <a:r>
                        <a:rPr lang="en-IN" sz="1200" kern="100">
                          <a:effectLst/>
                        </a:rPr>
                        <a:t>Responsible Roles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HR analysts (data extraction), managers (survey distribution), Six Sigma project team (analysis).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535567832"/>
                  </a:ext>
                </a:extLst>
              </a:tr>
              <a:tr h="525504">
                <a:tc>
                  <a:txBody>
                    <a:bodyPr/>
                    <a:lstStyle/>
                    <a:p>
                      <a:pPr>
                        <a:lnSpc>
                          <a:spcPct val="115000"/>
                        </a:lnSpc>
                        <a:spcAft>
                          <a:spcPts val="800"/>
                        </a:spcAft>
                        <a:buNone/>
                      </a:pPr>
                      <a:r>
                        <a:rPr lang="en-IN" sz="1200" kern="100">
                          <a:effectLst/>
                        </a:rPr>
                        <a:t>Validation</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a:effectLst/>
                        </a:rPr>
                        <a:t>Cross-check HRIS with payroll, ensure survey completeness, standardize interview coding.</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733972416"/>
                  </a:ext>
                </a:extLst>
              </a:tr>
              <a:tr h="255790">
                <a:tc>
                  <a:txBody>
                    <a:bodyPr/>
                    <a:lstStyle/>
                    <a:p>
                      <a:pPr>
                        <a:lnSpc>
                          <a:spcPct val="115000"/>
                        </a:lnSpc>
                        <a:spcAft>
                          <a:spcPts val="800"/>
                        </a:spcAft>
                        <a:buNone/>
                      </a:pPr>
                      <a:r>
                        <a:rPr lang="en-IN" sz="1200" kern="100">
                          <a:effectLst/>
                        </a:rPr>
                        <a:t>Tools</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a:lnSpc>
                          <a:spcPct val="115000"/>
                        </a:lnSpc>
                        <a:spcAft>
                          <a:spcPts val="800"/>
                        </a:spcAft>
                        <a:buNone/>
                      </a:pPr>
                      <a:r>
                        <a:rPr lang="en-IN" sz="1200" kern="100" dirty="0">
                          <a:effectLst/>
                        </a:rPr>
                        <a:t>Excel dashboards, Power BI, Minitab for statistical analysis.</a:t>
                      </a:r>
                      <a:endParaRPr lang="en-IN" sz="1200" kern="100" dirty="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4226739470"/>
                  </a:ext>
                </a:extLst>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57275" y="357275"/>
            <a:ext cx="11548905" cy="214365"/>
          </a:xfrm>
          <a:prstGeom prst="rect">
            <a:avLst/>
          </a:prstGeom>
          <a:noFill/>
          <a:ln/>
        </p:spPr>
        <p:txBody>
          <a:bodyPr wrap="square" lIns="0" tIns="0" rIns="0" bIns="0" rtlCol="0" anchor="ctr"/>
          <a:lstStyle/>
          <a:p>
            <a:pPr>
              <a:lnSpc>
                <a:spcPct val="120000"/>
              </a:lnSpc>
            </a:pPr>
            <a:r>
              <a:rPr lang="en-US" sz="1125" b="1" kern="0" spc="113" dirty="0">
                <a:solidFill>
                  <a:srgbClr val="C5A56A"/>
                </a:solidFill>
                <a:latin typeface="Liter" pitchFamily="34" charset="0"/>
                <a:ea typeface="Liter" pitchFamily="34" charset="-122"/>
                <a:cs typeface="Liter" pitchFamily="34" charset="-120"/>
              </a:rPr>
              <a:t>Root Cause Analysis</a:t>
            </a:r>
            <a:endParaRPr lang="en-US" sz="1600" dirty="0"/>
          </a:p>
        </p:txBody>
      </p:sp>
      <p:sp>
        <p:nvSpPr>
          <p:cNvPr id="3" name="Text 1"/>
          <p:cNvSpPr/>
          <p:nvPr/>
        </p:nvSpPr>
        <p:spPr>
          <a:xfrm>
            <a:off x="357275" y="643095"/>
            <a:ext cx="11691815" cy="428730"/>
          </a:xfrm>
          <a:prstGeom prst="rect">
            <a:avLst/>
          </a:prstGeom>
          <a:noFill/>
          <a:ln/>
        </p:spPr>
        <p:txBody>
          <a:bodyPr wrap="square" lIns="0" tIns="0" rIns="0" bIns="0" rtlCol="0" anchor="ctr"/>
          <a:lstStyle/>
          <a:p>
            <a:pPr>
              <a:lnSpc>
                <a:spcPct val="80000"/>
              </a:lnSpc>
            </a:pPr>
            <a:r>
              <a:rPr lang="en-US" sz="3376" b="1" dirty="0">
                <a:solidFill>
                  <a:srgbClr val="1A3A52"/>
                </a:solidFill>
                <a:latin typeface="Liter" pitchFamily="34" charset="0"/>
                <a:ea typeface="Liter" pitchFamily="34" charset="-122"/>
                <a:cs typeface="Liter" pitchFamily="34" charset="-120"/>
              </a:rPr>
              <a:t>Fishbone Diagram</a:t>
            </a:r>
            <a:endParaRPr lang="en-US" sz="1600" dirty="0"/>
          </a:p>
        </p:txBody>
      </p:sp>
      <p:sp>
        <p:nvSpPr>
          <p:cNvPr id="4" name="Text 2"/>
          <p:cNvSpPr/>
          <p:nvPr/>
        </p:nvSpPr>
        <p:spPr>
          <a:xfrm>
            <a:off x="357275" y="1143279"/>
            <a:ext cx="11566769" cy="250092"/>
          </a:xfrm>
          <a:prstGeom prst="rect">
            <a:avLst/>
          </a:prstGeom>
          <a:noFill/>
          <a:ln/>
        </p:spPr>
        <p:txBody>
          <a:bodyPr wrap="square" lIns="0" tIns="0" rIns="0" bIns="0" rtlCol="0" anchor="ctr"/>
          <a:lstStyle/>
          <a:p>
            <a:pPr>
              <a:lnSpc>
                <a:spcPct val="120000"/>
              </a:lnSpc>
            </a:pPr>
            <a:r>
              <a:rPr lang="en-US" sz="1407" dirty="0">
                <a:solidFill>
                  <a:srgbClr val="5E7A91"/>
                </a:solidFill>
                <a:latin typeface="Liter" pitchFamily="34" charset="0"/>
                <a:ea typeface="Liter" pitchFamily="34" charset="-122"/>
                <a:cs typeface="Liter" pitchFamily="34" charset="-120"/>
              </a:rPr>
              <a:t>Ishikawa Analysis of Attrition Causes</a:t>
            </a:r>
            <a:endParaRPr lang="en-US" sz="1600" dirty="0"/>
          </a:p>
        </p:txBody>
      </p:sp>
      <p:sp>
        <p:nvSpPr>
          <p:cNvPr id="5" name="Shape 3"/>
          <p:cNvSpPr/>
          <p:nvPr/>
        </p:nvSpPr>
        <p:spPr>
          <a:xfrm>
            <a:off x="357275" y="1500554"/>
            <a:ext cx="857459" cy="35727"/>
          </a:xfrm>
          <a:custGeom>
            <a:avLst/>
            <a:gdLst/>
            <a:ahLst/>
            <a:cxnLst/>
            <a:rect l="l" t="t" r="r" b="b"/>
            <a:pathLst>
              <a:path w="857459" h="35727">
                <a:moveTo>
                  <a:pt x="0" y="0"/>
                </a:moveTo>
                <a:lnTo>
                  <a:pt x="857459" y="0"/>
                </a:lnTo>
                <a:lnTo>
                  <a:pt x="857459" y="35727"/>
                </a:lnTo>
                <a:lnTo>
                  <a:pt x="0" y="35727"/>
                </a:lnTo>
                <a:lnTo>
                  <a:pt x="0" y="0"/>
                </a:lnTo>
                <a:close/>
              </a:path>
            </a:pathLst>
          </a:custGeom>
          <a:solidFill>
            <a:srgbClr val="C5A56A"/>
          </a:solidFill>
          <a:ln/>
        </p:spPr>
      </p:sp>
      <p:pic>
        <p:nvPicPr>
          <p:cNvPr id="71" name="Picture 70">
            <a:extLst>
              <a:ext uri="{FF2B5EF4-FFF2-40B4-BE49-F238E27FC236}">
                <a16:creationId xmlns:a16="http://schemas.microsoft.com/office/drawing/2014/main" id="{A1F3DE40-D9E1-94E3-E4FE-5C00AC02158E}"/>
              </a:ext>
            </a:extLst>
          </p:cNvPr>
          <p:cNvPicPr>
            <a:picLocks noChangeAspect="1"/>
          </p:cNvPicPr>
          <p:nvPr/>
        </p:nvPicPr>
        <p:blipFill>
          <a:blip r:embed="rId3"/>
          <a:stretch>
            <a:fillRect/>
          </a:stretch>
        </p:blipFill>
        <p:spPr>
          <a:xfrm>
            <a:off x="2334507" y="1603348"/>
            <a:ext cx="6361624" cy="452911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965AAA-CD53-9831-2C0B-58C245185E4E}"/>
              </a:ext>
            </a:extLst>
          </p:cNvPr>
          <p:cNvSpPr txBox="1"/>
          <p:nvPr/>
        </p:nvSpPr>
        <p:spPr>
          <a:xfrm>
            <a:off x="2792361" y="264530"/>
            <a:ext cx="6096000" cy="395173"/>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kumimoji="0" lang="en-IN"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Cordia New" panose="020B0304020202020204" pitchFamily="34" charset="-34"/>
              </a:rPr>
              <a:t>MSA</a:t>
            </a:r>
            <a:endParaRPr kumimoji="0" lang="en-IN"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Cordia New" panose="020B0304020202020204" pitchFamily="34" charset="-34"/>
            </a:endParaRPr>
          </a:p>
        </p:txBody>
      </p:sp>
      <p:pic>
        <p:nvPicPr>
          <p:cNvPr id="4" name="Picture 3">
            <a:extLst>
              <a:ext uri="{FF2B5EF4-FFF2-40B4-BE49-F238E27FC236}">
                <a16:creationId xmlns:a16="http://schemas.microsoft.com/office/drawing/2014/main" id="{3D50AC78-588C-5055-AAD6-0A0C3A1F503A}"/>
              </a:ext>
            </a:extLst>
          </p:cNvPr>
          <p:cNvPicPr>
            <a:picLocks noChangeAspect="1"/>
          </p:cNvPicPr>
          <p:nvPr/>
        </p:nvPicPr>
        <p:blipFill>
          <a:blip r:embed="rId2"/>
          <a:stretch>
            <a:fillRect/>
          </a:stretch>
        </p:blipFill>
        <p:spPr>
          <a:xfrm>
            <a:off x="3230245" y="769302"/>
            <a:ext cx="4606065" cy="4274873"/>
          </a:xfrm>
          <a:prstGeom prst="rect">
            <a:avLst/>
          </a:prstGeom>
        </p:spPr>
      </p:pic>
      <p:pic>
        <p:nvPicPr>
          <p:cNvPr id="5" name="Picture 4">
            <a:extLst>
              <a:ext uri="{FF2B5EF4-FFF2-40B4-BE49-F238E27FC236}">
                <a16:creationId xmlns:a16="http://schemas.microsoft.com/office/drawing/2014/main" id="{F88AE1D6-4F55-14EC-0A41-DF94B7437ED7}"/>
              </a:ext>
            </a:extLst>
          </p:cNvPr>
          <p:cNvPicPr>
            <a:picLocks noChangeAspect="1"/>
          </p:cNvPicPr>
          <p:nvPr/>
        </p:nvPicPr>
        <p:blipFill>
          <a:blip r:embed="rId3"/>
          <a:stretch>
            <a:fillRect/>
          </a:stretch>
        </p:blipFill>
        <p:spPr>
          <a:xfrm>
            <a:off x="3230245" y="4955560"/>
            <a:ext cx="4826943" cy="1502738"/>
          </a:xfrm>
          <a:prstGeom prst="rect">
            <a:avLst/>
          </a:prstGeom>
        </p:spPr>
      </p:pic>
    </p:spTree>
    <p:extLst>
      <p:ext uri="{BB962C8B-B14F-4D97-AF65-F5344CB8AC3E}">
        <p14:creationId xmlns:p14="http://schemas.microsoft.com/office/powerpoint/2010/main" val="1458709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59911" y="359911"/>
            <a:ext cx="11544159" cy="215947"/>
          </a:xfrm>
          <a:prstGeom prst="rect">
            <a:avLst/>
          </a:prstGeom>
          <a:noFill/>
          <a:ln/>
        </p:spPr>
        <p:txBody>
          <a:bodyPr wrap="square" lIns="0" tIns="0" rIns="0" bIns="0" rtlCol="0" anchor="ctr"/>
          <a:lstStyle/>
          <a:p>
            <a:pPr>
              <a:lnSpc>
                <a:spcPct val="130000"/>
              </a:lnSpc>
            </a:pPr>
            <a:r>
              <a:rPr lang="en-US" sz="1134" b="1" kern="0" spc="113" dirty="0">
                <a:solidFill>
                  <a:srgbClr val="C5A56A"/>
                </a:solidFill>
                <a:latin typeface="Liter" pitchFamily="34" charset="0"/>
                <a:ea typeface="Liter" pitchFamily="34" charset="-122"/>
                <a:cs typeface="Liter" pitchFamily="34" charset="-120"/>
              </a:rPr>
              <a:t>Attribute Agreement Analysis</a:t>
            </a:r>
            <a:endParaRPr lang="en-US" sz="1600" dirty="0"/>
          </a:p>
        </p:txBody>
      </p:sp>
      <p:sp>
        <p:nvSpPr>
          <p:cNvPr id="3" name="Text 1"/>
          <p:cNvSpPr/>
          <p:nvPr/>
        </p:nvSpPr>
        <p:spPr>
          <a:xfrm>
            <a:off x="359911" y="647841"/>
            <a:ext cx="11688124" cy="431894"/>
          </a:xfrm>
          <a:prstGeom prst="rect">
            <a:avLst/>
          </a:prstGeom>
          <a:noFill/>
          <a:ln/>
        </p:spPr>
        <p:txBody>
          <a:bodyPr wrap="square" lIns="0" tIns="0" rIns="0" bIns="0" rtlCol="0" anchor="ctr"/>
          <a:lstStyle/>
          <a:p>
            <a:pPr>
              <a:lnSpc>
                <a:spcPct val="80000"/>
              </a:lnSpc>
            </a:pPr>
            <a:r>
              <a:rPr lang="en-US" sz="3401" b="1" dirty="0">
                <a:solidFill>
                  <a:srgbClr val="1A3A52"/>
                </a:solidFill>
                <a:latin typeface="Liter" pitchFamily="34" charset="0"/>
                <a:ea typeface="Liter" pitchFamily="34" charset="-122"/>
                <a:cs typeface="Liter" pitchFamily="34" charset="-120"/>
              </a:rPr>
              <a:t>AAA Analysis</a:t>
            </a:r>
            <a:endParaRPr lang="en-US" sz="1600" dirty="0"/>
          </a:p>
        </p:txBody>
      </p:sp>
      <p:sp>
        <p:nvSpPr>
          <p:cNvPr id="4" name="Text 2"/>
          <p:cNvSpPr/>
          <p:nvPr/>
        </p:nvSpPr>
        <p:spPr>
          <a:xfrm>
            <a:off x="359911" y="1151717"/>
            <a:ext cx="11562155" cy="251938"/>
          </a:xfrm>
          <a:prstGeom prst="rect">
            <a:avLst/>
          </a:prstGeom>
          <a:noFill/>
          <a:ln/>
        </p:spPr>
        <p:txBody>
          <a:bodyPr wrap="square" lIns="0" tIns="0" rIns="0" bIns="0" rtlCol="0" anchor="ctr"/>
          <a:lstStyle/>
          <a:p>
            <a:pPr>
              <a:lnSpc>
                <a:spcPct val="120000"/>
              </a:lnSpc>
            </a:pPr>
            <a:r>
              <a:rPr lang="en-US" sz="1417" dirty="0">
                <a:solidFill>
                  <a:srgbClr val="5E7A91"/>
                </a:solidFill>
                <a:latin typeface="Liter" pitchFamily="34" charset="0"/>
                <a:ea typeface="Liter" pitchFamily="34" charset="-122"/>
                <a:cs typeface="Liter" pitchFamily="34" charset="-120"/>
              </a:rPr>
              <a:t>Accuracy, Repeatability &amp; Reproducibility</a:t>
            </a:r>
            <a:endParaRPr lang="en-US" sz="1600" dirty="0"/>
          </a:p>
        </p:txBody>
      </p:sp>
      <p:sp>
        <p:nvSpPr>
          <p:cNvPr id="5" name="Shape 3"/>
          <p:cNvSpPr/>
          <p:nvPr/>
        </p:nvSpPr>
        <p:spPr>
          <a:xfrm>
            <a:off x="359911" y="1511628"/>
            <a:ext cx="863787" cy="35991"/>
          </a:xfrm>
          <a:custGeom>
            <a:avLst/>
            <a:gdLst/>
            <a:ahLst/>
            <a:cxnLst/>
            <a:rect l="l" t="t" r="r" b="b"/>
            <a:pathLst>
              <a:path w="863787" h="35991">
                <a:moveTo>
                  <a:pt x="0" y="0"/>
                </a:moveTo>
                <a:lnTo>
                  <a:pt x="863787" y="0"/>
                </a:lnTo>
                <a:lnTo>
                  <a:pt x="863787" y="35991"/>
                </a:lnTo>
                <a:lnTo>
                  <a:pt x="0" y="35991"/>
                </a:lnTo>
                <a:lnTo>
                  <a:pt x="0" y="0"/>
                </a:lnTo>
                <a:close/>
              </a:path>
            </a:pathLst>
          </a:custGeom>
          <a:solidFill>
            <a:srgbClr val="C5A56A"/>
          </a:solidFill>
          <a:ln/>
        </p:spPr>
      </p:sp>
      <p:sp>
        <p:nvSpPr>
          <p:cNvPr id="6" name="Shape 4"/>
          <p:cNvSpPr/>
          <p:nvPr/>
        </p:nvSpPr>
        <p:spPr>
          <a:xfrm>
            <a:off x="359911" y="1691584"/>
            <a:ext cx="5641612" cy="3653101"/>
          </a:xfrm>
          <a:custGeom>
            <a:avLst/>
            <a:gdLst/>
            <a:ahLst/>
            <a:cxnLst/>
            <a:rect l="l" t="t" r="r" b="b"/>
            <a:pathLst>
              <a:path w="5641612" h="3653101">
                <a:moveTo>
                  <a:pt x="71966" y="0"/>
                </a:moveTo>
                <a:lnTo>
                  <a:pt x="5569646" y="0"/>
                </a:lnTo>
                <a:cubicBezTo>
                  <a:pt x="5609391" y="0"/>
                  <a:pt x="5641612" y="32220"/>
                  <a:pt x="5641612" y="71966"/>
                </a:cubicBezTo>
                <a:lnTo>
                  <a:pt x="5641612" y="3581135"/>
                </a:lnTo>
                <a:cubicBezTo>
                  <a:pt x="5641612" y="3620881"/>
                  <a:pt x="5609391" y="3653101"/>
                  <a:pt x="5569646" y="3653101"/>
                </a:cubicBezTo>
                <a:lnTo>
                  <a:pt x="71966" y="3653101"/>
                </a:lnTo>
                <a:cubicBezTo>
                  <a:pt x="32220" y="3653101"/>
                  <a:pt x="0" y="3620881"/>
                  <a:pt x="0" y="3581135"/>
                </a:cubicBezTo>
                <a:lnTo>
                  <a:pt x="0" y="71966"/>
                </a:lnTo>
                <a:cubicBezTo>
                  <a:pt x="0" y="32247"/>
                  <a:pt x="32247" y="0"/>
                  <a:pt x="71966" y="0"/>
                </a:cubicBezTo>
                <a:close/>
              </a:path>
            </a:pathLst>
          </a:custGeom>
          <a:solidFill>
            <a:srgbClr val="FFFFFF"/>
          </a:solidFill>
          <a:ln/>
          <a:effectLst>
            <a:outerShdw blurRad="134967" dist="89978" dir="5400000" algn="bl" rotWithShape="0">
              <a:srgbClr val="000000">
                <a:alpha val="10196"/>
              </a:srgbClr>
            </a:outerShdw>
          </a:effectLst>
        </p:spPr>
      </p:sp>
      <p:sp>
        <p:nvSpPr>
          <p:cNvPr id="7" name="Shape 5"/>
          <p:cNvSpPr/>
          <p:nvPr/>
        </p:nvSpPr>
        <p:spPr>
          <a:xfrm>
            <a:off x="575858" y="1871539"/>
            <a:ext cx="269934" cy="269934"/>
          </a:xfrm>
          <a:custGeom>
            <a:avLst/>
            <a:gdLst/>
            <a:ahLst/>
            <a:cxnLst/>
            <a:rect l="l" t="t" r="r" b="b"/>
            <a:pathLst>
              <a:path w="269934" h="269934">
                <a:moveTo>
                  <a:pt x="236192" y="134967"/>
                </a:moveTo>
                <a:cubicBezTo>
                  <a:pt x="236192" y="79099"/>
                  <a:pt x="190834" y="33742"/>
                  <a:pt x="134967" y="33742"/>
                </a:cubicBezTo>
                <a:cubicBezTo>
                  <a:pt x="79099" y="33742"/>
                  <a:pt x="33742" y="79099"/>
                  <a:pt x="33742" y="134967"/>
                </a:cubicBezTo>
                <a:cubicBezTo>
                  <a:pt x="33742" y="190834"/>
                  <a:pt x="79099" y="236192"/>
                  <a:pt x="134967" y="236192"/>
                </a:cubicBezTo>
                <a:cubicBezTo>
                  <a:pt x="190834" y="236192"/>
                  <a:pt x="236192" y="190834"/>
                  <a:pt x="236192" y="134967"/>
                </a:cubicBezTo>
                <a:close/>
                <a:moveTo>
                  <a:pt x="0" y="134967"/>
                </a:moveTo>
                <a:cubicBezTo>
                  <a:pt x="0" y="60477"/>
                  <a:pt x="60477" y="0"/>
                  <a:pt x="134967" y="0"/>
                </a:cubicBezTo>
                <a:cubicBezTo>
                  <a:pt x="209457" y="0"/>
                  <a:pt x="269934" y="60477"/>
                  <a:pt x="269934" y="134967"/>
                </a:cubicBezTo>
                <a:cubicBezTo>
                  <a:pt x="269934" y="209457"/>
                  <a:pt x="209457" y="269934"/>
                  <a:pt x="134967" y="269934"/>
                </a:cubicBezTo>
                <a:cubicBezTo>
                  <a:pt x="60477" y="269934"/>
                  <a:pt x="0" y="209457"/>
                  <a:pt x="0" y="134967"/>
                </a:cubicBezTo>
                <a:close/>
                <a:moveTo>
                  <a:pt x="134967" y="177144"/>
                </a:moveTo>
                <a:cubicBezTo>
                  <a:pt x="158245" y="177144"/>
                  <a:pt x="177144" y="158245"/>
                  <a:pt x="177144" y="134967"/>
                </a:cubicBezTo>
                <a:cubicBezTo>
                  <a:pt x="177144" y="111689"/>
                  <a:pt x="158245" y="92790"/>
                  <a:pt x="134967" y="92790"/>
                </a:cubicBezTo>
                <a:cubicBezTo>
                  <a:pt x="111689" y="92790"/>
                  <a:pt x="92790" y="111689"/>
                  <a:pt x="92790" y="134967"/>
                </a:cubicBezTo>
                <a:cubicBezTo>
                  <a:pt x="92790" y="158245"/>
                  <a:pt x="111689" y="177144"/>
                  <a:pt x="134967" y="177144"/>
                </a:cubicBezTo>
                <a:close/>
                <a:moveTo>
                  <a:pt x="134967" y="59048"/>
                </a:moveTo>
                <a:cubicBezTo>
                  <a:pt x="176868" y="59048"/>
                  <a:pt x="210886" y="93066"/>
                  <a:pt x="210886" y="134967"/>
                </a:cubicBezTo>
                <a:cubicBezTo>
                  <a:pt x="210886" y="176868"/>
                  <a:pt x="176868" y="210886"/>
                  <a:pt x="134967" y="210886"/>
                </a:cubicBezTo>
                <a:cubicBezTo>
                  <a:pt x="93066" y="210886"/>
                  <a:pt x="59048" y="176868"/>
                  <a:pt x="59048" y="134967"/>
                </a:cubicBezTo>
                <a:cubicBezTo>
                  <a:pt x="59048" y="93066"/>
                  <a:pt x="93066" y="59048"/>
                  <a:pt x="134967" y="59048"/>
                </a:cubicBezTo>
                <a:close/>
                <a:moveTo>
                  <a:pt x="118096" y="134967"/>
                </a:moveTo>
                <a:cubicBezTo>
                  <a:pt x="118096" y="125656"/>
                  <a:pt x="125656" y="118096"/>
                  <a:pt x="134967" y="118096"/>
                </a:cubicBezTo>
                <a:cubicBezTo>
                  <a:pt x="144278" y="118096"/>
                  <a:pt x="151838" y="125656"/>
                  <a:pt x="151838" y="134967"/>
                </a:cubicBezTo>
                <a:cubicBezTo>
                  <a:pt x="151838" y="144278"/>
                  <a:pt x="144278" y="151838"/>
                  <a:pt x="134967" y="151838"/>
                </a:cubicBezTo>
                <a:cubicBezTo>
                  <a:pt x="125656" y="151838"/>
                  <a:pt x="118096" y="144278"/>
                  <a:pt x="118096" y="134967"/>
                </a:cubicBezTo>
                <a:close/>
              </a:path>
            </a:pathLst>
          </a:custGeom>
          <a:solidFill>
            <a:srgbClr val="1A3A52"/>
          </a:solidFill>
          <a:ln/>
        </p:spPr>
      </p:sp>
      <p:sp>
        <p:nvSpPr>
          <p:cNvPr id="8" name="Text 6"/>
          <p:cNvSpPr/>
          <p:nvPr/>
        </p:nvSpPr>
        <p:spPr>
          <a:xfrm>
            <a:off x="985258" y="1880537"/>
            <a:ext cx="1034745" cy="251938"/>
          </a:xfrm>
          <a:prstGeom prst="rect">
            <a:avLst/>
          </a:prstGeom>
          <a:noFill/>
          <a:ln/>
        </p:spPr>
        <p:txBody>
          <a:bodyPr wrap="square" lIns="0" tIns="0" rIns="0" bIns="0" rtlCol="0" anchor="ctr"/>
          <a:lstStyle/>
          <a:p>
            <a:pPr>
              <a:lnSpc>
                <a:spcPct val="120000"/>
              </a:lnSpc>
            </a:pPr>
            <a:r>
              <a:rPr lang="en-US" sz="1417" b="1" dirty="0">
                <a:solidFill>
                  <a:srgbClr val="1A3A52"/>
                </a:solidFill>
                <a:latin typeface="Liter" pitchFamily="34" charset="0"/>
                <a:ea typeface="Liter" pitchFamily="34" charset="-122"/>
                <a:cs typeface="Liter" pitchFamily="34" charset="-120"/>
              </a:rPr>
              <a:t>Key Metrics</a:t>
            </a:r>
            <a:endParaRPr lang="en-US" sz="1600" dirty="0"/>
          </a:p>
        </p:txBody>
      </p:sp>
      <p:sp>
        <p:nvSpPr>
          <p:cNvPr id="9" name="Shape 7"/>
          <p:cNvSpPr/>
          <p:nvPr/>
        </p:nvSpPr>
        <p:spPr>
          <a:xfrm>
            <a:off x="539867" y="2285438"/>
            <a:ext cx="5281700" cy="863787"/>
          </a:xfrm>
          <a:custGeom>
            <a:avLst/>
            <a:gdLst/>
            <a:ahLst/>
            <a:cxnLst/>
            <a:rect l="l" t="t" r="r" b="b"/>
            <a:pathLst>
              <a:path w="5281700" h="863787">
                <a:moveTo>
                  <a:pt x="71979" y="0"/>
                </a:moveTo>
                <a:lnTo>
                  <a:pt x="5209721" y="0"/>
                </a:lnTo>
                <a:cubicBezTo>
                  <a:pt x="5249474" y="0"/>
                  <a:pt x="5281700" y="32226"/>
                  <a:pt x="5281700" y="71979"/>
                </a:cubicBezTo>
                <a:lnTo>
                  <a:pt x="5281700" y="791808"/>
                </a:lnTo>
                <a:cubicBezTo>
                  <a:pt x="5281700" y="831561"/>
                  <a:pt x="5249474" y="863787"/>
                  <a:pt x="5209721" y="863787"/>
                </a:cubicBezTo>
                <a:lnTo>
                  <a:pt x="71979" y="863787"/>
                </a:lnTo>
                <a:cubicBezTo>
                  <a:pt x="32226" y="863787"/>
                  <a:pt x="0" y="831561"/>
                  <a:pt x="0" y="791808"/>
                </a:cubicBezTo>
                <a:lnTo>
                  <a:pt x="0" y="71979"/>
                </a:lnTo>
                <a:cubicBezTo>
                  <a:pt x="0" y="32253"/>
                  <a:pt x="32253" y="0"/>
                  <a:pt x="71979" y="0"/>
                </a:cubicBezTo>
                <a:close/>
              </a:path>
            </a:pathLst>
          </a:custGeom>
          <a:solidFill>
            <a:srgbClr val="1A3A52">
              <a:alpha val="5098"/>
            </a:srgbClr>
          </a:solidFill>
          <a:ln/>
        </p:spPr>
      </p:sp>
      <p:sp>
        <p:nvSpPr>
          <p:cNvPr id="10" name="Text 8"/>
          <p:cNvSpPr/>
          <p:nvPr/>
        </p:nvSpPr>
        <p:spPr>
          <a:xfrm>
            <a:off x="683832" y="2483389"/>
            <a:ext cx="899779" cy="215947"/>
          </a:xfrm>
          <a:prstGeom prst="rect">
            <a:avLst/>
          </a:prstGeom>
          <a:noFill/>
          <a:ln/>
        </p:spPr>
        <p:txBody>
          <a:bodyPr wrap="square" lIns="0" tIns="0" rIns="0" bIns="0" rtlCol="0" anchor="ctr"/>
          <a:lstStyle/>
          <a:p>
            <a:pPr>
              <a:lnSpc>
                <a:spcPct val="130000"/>
              </a:lnSpc>
            </a:pPr>
            <a:r>
              <a:rPr lang="en-US" sz="1134" b="1" dirty="0">
                <a:solidFill>
                  <a:srgbClr val="1A3A52"/>
                </a:solidFill>
                <a:latin typeface="Liter" pitchFamily="34" charset="0"/>
                <a:ea typeface="Liter" pitchFamily="34" charset="-122"/>
                <a:cs typeface="Liter" pitchFamily="34" charset="-120"/>
              </a:rPr>
              <a:t>Repeatability</a:t>
            </a:r>
            <a:endParaRPr lang="en-US" sz="1600" dirty="0"/>
          </a:p>
        </p:txBody>
      </p:sp>
      <p:sp>
        <p:nvSpPr>
          <p:cNvPr id="11" name="Text 9"/>
          <p:cNvSpPr/>
          <p:nvPr/>
        </p:nvSpPr>
        <p:spPr>
          <a:xfrm>
            <a:off x="5149639" y="2429402"/>
            <a:ext cx="665836" cy="323920"/>
          </a:xfrm>
          <a:prstGeom prst="rect">
            <a:avLst/>
          </a:prstGeom>
          <a:noFill/>
          <a:ln/>
        </p:spPr>
        <p:txBody>
          <a:bodyPr wrap="square" lIns="0" tIns="0" rIns="0" bIns="0" rtlCol="0" anchor="ctr"/>
          <a:lstStyle/>
          <a:p>
            <a:pPr>
              <a:lnSpc>
                <a:spcPct val="100000"/>
              </a:lnSpc>
            </a:pPr>
            <a:r>
              <a:rPr lang="en-US" sz="2125" b="1" dirty="0">
                <a:solidFill>
                  <a:srgbClr val="1A3A52"/>
                </a:solidFill>
                <a:latin typeface="Liter" pitchFamily="34" charset="0"/>
                <a:ea typeface="Liter" pitchFamily="34" charset="-122"/>
                <a:cs typeface="Liter" pitchFamily="34" charset="-120"/>
              </a:rPr>
              <a:t>95%</a:t>
            </a:r>
            <a:endParaRPr lang="en-US" sz="1600" dirty="0"/>
          </a:p>
        </p:txBody>
      </p:sp>
      <p:sp>
        <p:nvSpPr>
          <p:cNvPr id="12" name="Text 10"/>
          <p:cNvSpPr/>
          <p:nvPr/>
        </p:nvSpPr>
        <p:spPr>
          <a:xfrm>
            <a:off x="683832" y="2825305"/>
            <a:ext cx="5056756" cy="179956"/>
          </a:xfrm>
          <a:prstGeom prst="rect">
            <a:avLst/>
          </a:prstGeom>
          <a:noFill/>
          <a:ln/>
        </p:spPr>
        <p:txBody>
          <a:bodyPr wrap="square" lIns="0" tIns="0" rIns="0" bIns="0" rtlCol="0" anchor="ctr"/>
          <a:lstStyle/>
          <a:p>
            <a:pPr>
              <a:lnSpc>
                <a:spcPct val="120000"/>
              </a:lnSpc>
            </a:pPr>
            <a:r>
              <a:rPr lang="en-US" sz="992" dirty="0">
                <a:solidFill>
                  <a:srgbClr val="5E7A91"/>
                </a:solidFill>
                <a:latin typeface="Liter" pitchFamily="34" charset="0"/>
                <a:ea typeface="Liter" pitchFamily="34" charset="-122"/>
                <a:cs typeface="Liter" pitchFamily="34" charset="-120"/>
              </a:rPr>
              <a:t>Each HR appraiser gave consistent results across multiple trials</a:t>
            </a:r>
            <a:endParaRPr lang="en-US" sz="1600" dirty="0"/>
          </a:p>
        </p:txBody>
      </p:sp>
      <p:sp>
        <p:nvSpPr>
          <p:cNvPr id="13" name="Shape 11"/>
          <p:cNvSpPr/>
          <p:nvPr/>
        </p:nvSpPr>
        <p:spPr>
          <a:xfrm>
            <a:off x="539867" y="3293190"/>
            <a:ext cx="5281700" cy="863787"/>
          </a:xfrm>
          <a:custGeom>
            <a:avLst/>
            <a:gdLst/>
            <a:ahLst/>
            <a:cxnLst/>
            <a:rect l="l" t="t" r="r" b="b"/>
            <a:pathLst>
              <a:path w="5281700" h="863787">
                <a:moveTo>
                  <a:pt x="71979" y="0"/>
                </a:moveTo>
                <a:lnTo>
                  <a:pt x="5209721" y="0"/>
                </a:lnTo>
                <a:cubicBezTo>
                  <a:pt x="5249474" y="0"/>
                  <a:pt x="5281700" y="32226"/>
                  <a:pt x="5281700" y="71979"/>
                </a:cubicBezTo>
                <a:lnTo>
                  <a:pt x="5281700" y="791808"/>
                </a:lnTo>
                <a:cubicBezTo>
                  <a:pt x="5281700" y="831561"/>
                  <a:pt x="5249474" y="863787"/>
                  <a:pt x="5209721" y="863787"/>
                </a:cubicBezTo>
                <a:lnTo>
                  <a:pt x="71979" y="863787"/>
                </a:lnTo>
                <a:cubicBezTo>
                  <a:pt x="32226" y="863787"/>
                  <a:pt x="0" y="831561"/>
                  <a:pt x="0" y="791808"/>
                </a:cubicBezTo>
                <a:lnTo>
                  <a:pt x="0" y="71979"/>
                </a:lnTo>
                <a:cubicBezTo>
                  <a:pt x="0" y="32253"/>
                  <a:pt x="32253" y="0"/>
                  <a:pt x="71979" y="0"/>
                </a:cubicBezTo>
                <a:close/>
              </a:path>
            </a:pathLst>
          </a:custGeom>
          <a:solidFill>
            <a:srgbClr val="C5A56A">
              <a:alpha val="10196"/>
            </a:srgbClr>
          </a:solidFill>
          <a:ln/>
        </p:spPr>
      </p:sp>
      <p:sp>
        <p:nvSpPr>
          <p:cNvPr id="14" name="Text 12"/>
          <p:cNvSpPr/>
          <p:nvPr/>
        </p:nvSpPr>
        <p:spPr>
          <a:xfrm>
            <a:off x="683832" y="3491141"/>
            <a:ext cx="1034745" cy="215947"/>
          </a:xfrm>
          <a:prstGeom prst="rect">
            <a:avLst/>
          </a:prstGeom>
          <a:noFill/>
          <a:ln/>
        </p:spPr>
        <p:txBody>
          <a:bodyPr wrap="square" lIns="0" tIns="0" rIns="0" bIns="0" rtlCol="0" anchor="ctr"/>
          <a:lstStyle/>
          <a:p>
            <a:pPr>
              <a:lnSpc>
                <a:spcPct val="130000"/>
              </a:lnSpc>
            </a:pPr>
            <a:r>
              <a:rPr lang="en-US" sz="1134" b="1" dirty="0">
                <a:solidFill>
                  <a:srgbClr val="1A3A52"/>
                </a:solidFill>
                <a:latin typeface="Liter" pitchFamily="34" charset="0"/>
                <a:ea typeface="Liter" pitchFamily="34" charset="-122"/>
                <a:cs typeface="Liter" pitchFamily="34" charset="-120"/>
              </a:rPr>
              <a:t>Reproducibility</a:t>
            </a:r>
            <a:endParaRPr lang="en-US" sz="1600" dirty="0"/>
          </a:p>
        </p:txBody>
      </p:sp>
      <p:sp>
        <p:nvSpPr>
          <p:cNvPr id="15" name="Text 13"/>
          <p:cNvSpPr/>
          <p:nvPr/>
        </p:nvSpPr>
        <p:spPr>
          <a:xfrm>
            <a:off x="5132862" y="3437154"/>
            <a:ext cx="683832" cy="323920"/>
          </a:xfrm>
          <a:prstGeom prst="rect">
            <a:avLst/>
          </a:prstGeom>
          <a:noFill/>
          <a:ln/>
        </p:spPr>
        <p:txBody>
          <a:bodyPr wrap="square" lIns="0" tIns="0" rIns="0" bIns="0" rtlCol="0" anchor="ctr"/>
          <a:lstStyle/>
          <a:p>
            <a:pPr>
              <a:lnSpc>
                <a:spcPct val="100000"/>
              </a:lnSpc>
            </a:pPr>
            <a:r>
              <a:rPr lang="en-US" sz="2125" b="1" dirty="0">
                <a:solidFill>
                  <a:srgbClr val="C5A56A"/>
                </a:solidFill>
                <a:latin typeface="Liter" pitchFamily="34" charset="0"/>
                <a:ea typeface="Liter" pitchFamily="34" charset="-122"/>
                <a:cs typeface="Liter" pitchFamily="34" charset="-120"/>
              </a:rPr>
              <a:t>90%</a:t>
            </a:r>
            <a:endParaRPr lang="en-US" sz="1600" dirty="0"/>
          </a:p>
        </p:txBody>
      </p:sp>
      <p:sp>
        <p:nvSpPr>
          <p:cNvPr id="16" name="Text 14"/>
          <p:cNvSpPr/>
          <p:nvPr/>
        </p:nvSpPr>
        <p:spPr>
          <a:xfrm>
            <a:off x="683832" y="3833057"/>
            <a:ext cx="5056756" cy="179956"/>
          </a:xfrm>
          <a:prstGeom prst="rect">
            <a:avLst/>
          </a:prstGeom>
          <a:noFill/>
          <a:ln/>
        </p:spPr>
        <p:txBody>
          <a:bodyPr wrap="square" lIns="0" tIns="0" rIns="0" bIns="0" rtlCol="0" anchor="ctr"/>
          <a:lstStyle/>
          <a:p>
            <a:pPr>
              <a:lnSpc>
                <a:spcPct val="120000"/>
              </a:lnSpc>
            </a:pPr>
            <a:r>
              <a:rPr lang="en-US" sz="992" dirty="0">
                <a:solidFill>
                  <a:srgbClr val="5E7A91"/>
                </a:solidFill>
                <a:latin typeface="Liter" pitchFamily="34" charset="0"/>
                <a:ea typeface="Liter" pitchFamily="34" charset="-122"/>
                <a:cs typeface="Liter" pitchFamily="34" charset="-120"/>
              </a:rPr>
              <a:t>Different HR appraisers agreed with each other most of the time</a:t>
            </a:r>
            <a:endParaRPr lang="en-US" sz="1600" dirty="0"/>
          </a:p>
        </p:txBody>
      </p:sp>
      <p:sp>
        <p:nvSpPr>
          <p:cNvPr id="17" name="Shape 15"/>
          <p:cNvSpPr/>
          <p:nvPr/>
        </p:nvSpPr>
        <p:spPr>
          <a:xfrm>
            <a:off x="539867" y="4300942"/>
            <a:ext cx="5281700" cy="863787"/>
          </a:xfrm>
          <a:custGeom>
            <a:avLst/>
            <a:gdLst/>
            <a:ahLst/>
            <a:cxnLst/>
            <a:rect l="l" t="t" r="r" b="b"/>
            <a:pathLst>
              <a:path w="5281700" h="863787">
                <a:moveTo>
                  <a:pt x="71979" y="0"/>
                </a:moveTo>
                <a:lnTo>
                  <a:pt x="5209721" y="0"/>
                </a:lnTo>
                <a:cubicBezTo>
                  <a:pt x="5249474" y="0"/>
                  <a:pt x="5281700" y="32226"/>
                  <a:pt x="5281700" y="71979"/>
                </a:cubicBezTo>
                <a:lnTo>
                  <a:pt x="5281700" y="791808"/>
                </a:lnTo>
                <a:cubicBezTo>
                  <a:pt x="5281700" y="831561"/>
                  <a:pt x="5249474" y="863787"/>
                  <a:pt x="5209721" y="863787"/>
                </a:cubicBezTo>
                <a:lnTo>
                  <a:pt x="71979" y="863787"/>
                </a:lnTo>
                <a:cubicBezTo>
                  <a:pt x="32226" y="863787"/>
                  <a:pt x="0" y="831561"/>
                  <a:pt x="0" y="791808"/>
                </a:cubicBezTo>
                <a:lnTo>
                  <a:pt x="0" y="71979"/>
                </a:lnTo>
                <a:cubicBezTo>
                  <a:pt x="0" y="32253"/>
                  <a:pt x="32253" y="0"/>
                  <a:pt x="71979" y="0"/>
                </a:cubicBezTo>
                <a:close/>
              </a:path>
            </a:pathLst>
          </a:custGeom>
          <a:solidFill>
            <a:srgbClr val="5E7A91">
              <a:alpha val="10196"/>
            </a:srgbClr>
          </a:solidFill>
          <a:ln/>
        </p:spPr>
      </p:sp>
      <p:sp>
        <p:nvSpPr>
          <p:cNvPr id="18" name="Text 16"/>
          <p:cNvSpPr/>
          <p:nvPr/>
        </p:nvSpPr>
        <p:spPr>
          <a:xfrm>
            <a:off x="683832" y="4498893"/>
            <a:ext cx="1151717" cy="215947"/>
          </a:xfrm>
          <a:prstGeom prst="rect">
            <a:avLst/>
          </a:prstGeom>
          <a:noFill/>
          <a:ln/>
        </p:spPr>
        <p:txBody>
          <a:bodyPr wrap="square" lIns="0" tIns="0" rIns="0" bIns="0" rtlCol="0" anchor="ctr"/>
          <a:lstStyle/>
          <a:p>
            <a:pPr>
              <a:lnSpc>
                <a:spcPct val="130000"/>
              </a:lnSpc>
            </a:pPr>
            <a:r>
              <a:rPr lang="en-US" sz="1134" b="1" dirty="0">
                <a:solidFill>
                  <a:srgbClr val="1A3A52"/>
                </a:solidFill>
                <a:latin typeface="Liter" pitchFamily="34" charset="0"/>
                <a:ea typeface="Liter" pitchFamily="34" charset="-122"/>
                <a:cs typeface="Liter" pitchFamily="34" charset="-120"/>
              </a:rPr>
              <a:t>Overall Accuracy</a:t>
            </a:r>
            <a:endParaRPr lang="en-US" sz="1600" dirty="0"/>
          </a:p>
        </p:txBody>
      </p:sp>
      <p:sp>
        <p:nvSpPr>
          <p:cNvPr id="19" name="Text 17"/>
          <p:cNvSpPr/>
          <p:nvPr/>
        </p:nvSpPr>
        <p:spPr>
          <a:xfrm>
            <a:off x="5145797" y="4444906"/>
            <a:ext cx="665836" cy="323920"/>
          </a:xfrm>
          <a:prstGeom prst="rect">
            <a:avLst/>
          </a:prstGeom>
          <a:noFill/>
          <a:ln/>
        </p:spPr>
        <p:txBody>
          <a:bodyPr wrap="square" lIns="0" tIns="0" rIns="0" bIns="0" rtlCol="0" anchor="ctr"/>
          <a:lstStyle/>
          <a:p>
            <a:pPr>
              <a:lnSpc>
                <a:spcPct val="100000"/>
              </a:lnSpc>
            </a:pPr>
            <a:r>
              <a:rPr lang="en-US" sz="2125" b="1" dirty="0">
                <a:solidFill>
                  <a:srgbClr val="5E7A91"/>
                </a:solidFill>
                <a:latin typeface="Liter" pitchFamily="34" charset="0"/>
                <a:ea typeface="Liter" pitchFamily="34" charset="-122"/>
                <a:cs typeface="Liter" pitchFamily="34" charset="-120"/>
              </a:rPr>
              <a:t>93%</a:t>
            </a:r>
            <a:endParaRPr lang="en-US" sz="1600" dirty="0"/>
          </a:p>
        </p:txBody>
      </p:sp>
      <p:sp>
        <p:nvSpPr>
          <p:cNvPr id="20" name="Text 18"/>
          <p:cNvSpPr/>
          <p:nvPr/>
        </p:nvSpPr>
        <p:spPr>
          <a:xfrm>
            <a:off x="683832" y="4840809"/>
            <a:ext cx="5056756" cy="179956"/>
          </a:xfrm>
          <a:prstGeom prst="rect">
            <a:avLst/>
          </a:prstGeom>
          <a:noFill/>
          <a:ln/>
        </p:spPr>
        <p:txBody>
          <a:bodyPr wrap="square" lIns="0" tIns="0" rIns="0" bIns="0" rtlCol="0" anchor="ctr"/>
          <a:lstStyle/>
          <a:p>
            <a:pPr>
              <a:lnSpc>
                <a:spcPct val="120000"/>
              </a:lnSpc>
            </a:pPr>
            <a:r>
              <a:rPr lang="en-US" sz="992" dirty="0">
                <a:solidFill>
                  <a:srgbClr val="5E7A91"/>
                </a:solidFill>
                <a:latin typeface="Liter" pitchFamily="34" charset="0"/>
                <a:ea typeface="Liter" pitchFamily="34" charset="-122"/>
                <a:cs typeface="Liter" pitchFamily="34" charset="-120"/>
              </a:rPr>
              <a:t>Evaluations matched documented "true" reasons for attrition</a:t>
            </a:r>
            <a:endParaRPr lang="en-US" sz="1600" dirty="0"/>
          </a:p>
        </p:txBody>
      </p:sp>
      <p:sp>
        <p:nvSpPr>
          <p:cNvPr id="21" name="Shape 19"/>
          <p:cNvSpPr/>
          <p:nvPr/>
        </p:nvSpPr>
        <p:spPr>
          <a:xfrm>
            <a:off x="362911" y="5491649"/>
            <a:ext cx="5638613" cy="1085733"/>
          </a:xfrm>
          <a:custGeom>
            <a:avLst/>
            <a:gdLst/>
            <a:ahLst/>
            <a:cxnLst/>
            <a:rect l="l" t="t" r="r" b="b"/>
            <a:pathLst>
              <a:path w="5638613" h="1085733">
                <a:moveTo>
                  <a:pt x="71984" y="0"/>
                </a:moveTo>
                <a:lnTo>
                  <a:pt x="5566628" y="0"/>
                </a:lnTo>
                <a:cubicBezTo>
                  <a:pt x="5606384" y="0"/>
                  <a:pt x="5638613" y="32228"/>
                  <a:pt x="5638613" y="71984"/>
                </a:cubicBezTo>
                <a:lnTo>
                  <a:pt x="5638613" y="1013749"/>
                </a:lnTo>
                <a:cubicBezTo>
                  <a:pt x="5638613" y="1053504"/>
                  <a:pt x="5606384" y="1085733"/>
                  <a:pt x="5566628" y="1085733"/>
                </a:cubicBezTo>
                <a:lnTo>
                  <a:pt x="71984" y="1085733"/>
                </a:lnTo>
                <a:cubicBezTo>
                  <a:pt x="32228" y="1085733"/>
                  <a:pt x="0" y="1053504"/>
                  <a:pt x="0" y="1013749"/>
                </a:cubicBezTo>
                <a:lnTo>
                  <a:pt x="0" y="71984"/>
                </a:lnTo>
                <a:cubicBezTo>
                  <a:pt x="0" y="32255"/>
                  <a:pt x="32255" y="0"/>
                  <a:pt x="71984" y="0"/>
                </a:cubicBezTo>
                <a:close/>
              </a:path>
            </a:pathLst>
          </a:custGeom>
          <a:solidFill>
            <a:srgbClr val="F0FDF4"/>
          </a:solidFill>
          <a:ln w="8467">
            <a:solidFill>
              <a:srgbClr val="B9F8CF"/>
            </a:solidFill>
            <a:prstDash val="solid"/>
          </a:ln>
        </p:spPr>
      </p:sp>
      <p:sp>
        <p:nvSpPr>
          <p:cNvPr id="22" name="Shape 20"/>
          <p:cNvSpPr/>
          <p:nvPr/>
        </p:nvSpPr>
        <p:spPr>
          <a:xfrm>
            <a:off x="563861" y="5656611"/>
            <a:ext cx="161960" cy="215947"/>
          </a:xfrm>
          <a:custGeom>
            <a:avLst/>
            <a:gdLst/>
            <a:ahLst/>
            <a:cxnLst/>
            <a:rect l="l" t="t" r="r" b="b"/>
            <a:pathLst>
              <a:path w="161960" h="215947">
                <a:moveTo>
                  <a:pt x="105401" y="28174"/>
                </a:moveTo>
                <a:cubicBezTo>
                  <a:pt x="109787" y="22143"/>
                  <a:pt x="108437" y="13708"/>
                  <a:pt x="102406" y="9321"/>
                </a:cubicBezTo>
                <a:cubicBezTo>
                  <a:pt x="96375" y="4935"/>
                  <a:pt x="87939" y="6284"/>
                  <a:pt x="83553" y="12316"/>
                </a:cubicBezTo>
                <a:lnTo>
                  <a:pt x="38845" y="73768"/>
                </a:lnTo>
                <a:lnTo>
                  <a:pt x="23029" y="57951"/>
                </a:lnTo>
                <a:cubicBezTo>
                  <a:pt x="17757" y="52679"/>
                  <a:pt x="9195" y="52679"/>
                  <a:pt x="3922" y="57951"/>
                </a:cubicBezTo>
                <a:cubicBezTo>
                  <a:pt x="-1350" y="63224"/>
                  <a:pt x="-1350" y="71785"/>
                  <a:pt x="3922" y="77058"/>
                </a:cubicBezTo>
                <a:lnTo>
                  <a:pt x="30916" y="104051"/>
                </a:lnTo>
                <a:cubicBezTo>
                  <a:pt x="33700" y="106835"/>
                  <a:pt x="37580" y="108269"/>
                  <a:pt x="41502" y="107973"/>
                </a:cubicBezTo>
                <a:cubicBezTo>
                  <a:pt x="45425" y="107678"/>
                  <a:pt x="49052" y="105654"/>
                  <a:pt x="51372" y="102448"/>
                </a:cubicBezTo>
                <a:lnTo>
                  <a:pt x="105358" y="28216"/>
                </a:lnTo>
                <a:close/>
                <a:moveTo>
                  <a:pt x="159387" y="85535"/>
                </a:moveTo>
                <a:cubicBezTo>
                  <a:pt x="163774" y="79504"/>
                  <a:pt x="162424" y="71068"/>
                  <a:pt x="156393" y="66682"/>
                </a:cubicBezTo>
                <a:cubicBezTo>
                  <a:pt x="150361" y="62296"/>
                  <a:pt x="141926" y="63645"/>
                  <a:pt x="137540" y="69677"/>
                </a:cubicBezTo>
                <a:lnTo>
                  <a:pt x="65838" y="168245"/>
                </a:lnTo>
                <a:lnTo>
                  <a:pt x="36525" y="138931"/>
                </a:lnTo>
                <a:cubicBezTo>
                  <a:pt x="31253" y="133659"/>
                  <a:pt x="22691" y="133659"/>
                  <a:pt x="17419" y="138931"/>
                </a:cubicBezTo>
                <a:cubicBezTo>
                  <a:pt x="12147" y="144204"/>
                  <a:pt x="12147" y="152766"/>
                  <a:pt x="17419" y="158038"/>
                </a:cubicBezTo>
                <a:lnTo>
                  <a:pt x="57909" y="198528"/>
                </a:lnTo>
                <a:cubicBezTo>
                  <a:pt x="60693" y="201311"/>
                  <a:pt x="64573" y="202745"/>
                  <a:pt x="68496" y="202450"/>
                </a:cubicBezTo>
                <a:cubicBezTo>
                  <a:pt x="72418" y="202155"/>
                  <a:pt x="76045" y="200130"/>
                  <a:pt x="78365" y="196925"/>
                </a:cubicBezTo>
                <a:lnTo>
                  <a:pt x="159345" y="85577"/>
                </a:lnTo>
                <a:close/>
              </a:path>
            </a:pathLst>
          </a:custGeom>
          <a:solidFill>
            <a:srgbClr val="00A63E"/>
          </a:solidFill>
          <a:ln/>
        </p:spPr>
      </p:sp>
      <p:sp>
        <p:nvSpPr>
          <p:cNvPr id="23" name="Text 21"/>
          <p:cNvSpPr/>
          <p:nvPr/>
        </p:nvSpPr>
        <p:spPr>
          <a:xfrm>
            <a:off x="887782" y="5638615"/>
            <a:ext cx="1232697" cy="251938"/>
          </a:xfrm>
          <a:prstGeom prst="rect">
            <a:avLst/>
          </a:prstGeom>
          <a:noFill/>
          <a:ln/>
        </p:spPr>
        <p:txBody>
          <a:bodyPr wrap="square" lIns="0" tIns="0" rIns="0" bIns="0" rtlCol="0" anchor="ctr"/>
          <a:lstStyle/>
          <a:p>
            <a:pPr>
              <a:lnSpc>
                <a:spcPct val="130000"/>
              </a:lnSpc>
            </a:pPr>
            <a:r>
              <a:rPr lang="en-US" sz="1275" b="1" dirty="0">
                <a:solidFill>
                  <a:srgbClr val="016630"/>
                </a:solidFill>
                <a:latin typeface="Liter" pitchFamily="34" charset="0"/>
                <a:ea typeface="Liter" pitchFamily="34" charset="-122"/>
                <a:cs typeface="Liter" pitchFamily="34" charset="-120"/>
              </a:rPr>
              <a:t>Kappa Statistics</a:t>
            </a:r>
            <a:endParaRPr lang="en-US" sz="1600" dirty="0"/>
          </a:p>
        </p:txBody>
      </p:sp>
      <p:sp>
        <p:nvSpPr>
          <p:cNvPr id="24" name="Text 22"/>
          <p:cNvSpPr/>
          <p:nvPr/>
        </p:nvSpPr>
        <p:spPr>
          <a:xfrm>
            <a:off x="509875" y="5998527"/>
            <a:ext cx="5416667" cy="431894"/>
          </a:xfrm>
          <a:prstGeom prst="rect">
            <a:avLst/>
          </a:prstGeom>
          <a:noFill/>
          <a:ln/>
        </p:spPr>
        <p:txBody>
          <a:bodyPr wrap="square" lIns="0" tIns="0" rIns="0" bIns="0" rtlCol="0" anchor="ctr"/>
          <a:lstStyle/>
          <a:p>
            <a:pPr>
              <a:lnSpc>
                <a:spcPct val="130000"/>
              </a:lnSpc>
            </a:pPr>
            <a:r>
              <a:rPr lang="en-US" sz="1134" b="1" dirty="0">
                <a:solidFill>
                  <a:srgbClr val="008236"/>
                </a:solidFill>
                <a:latin typeface="Liter" pitchFamily="34" charset="0"/>
                <a:ea typeface="Liter" pitchFamily="34" charset="-122"/>
                <a:cs typeface="Liter" pitchFamily="34" charset="-120"/>
              </a:rPr>
              <a:t>Kappa &gt; 0.8</a:t>
            </a:r>
            <a:r>
              <a:rPr lang="en-US" sz="1134" dirty="0">
                <a:solidFill>
                  <a:srgbClr val="008236"/>
                </a:solidFill>
                <a:latin typeface="Liter" pitchFamily="34" charset="0"/>
                <a:ea typeface="Liter" pitchFamily="34" charset="-122"/>
                <a:cs typeface="Liter" pitchFamily="34" charset="-120"/>
              </a:rPr>
              <a:t> → Strong agreement beyond chance, confirming reliability of the measurement system</a:t>
            </a:r>
            <a:endParaRPr lang="en-US" sz="1600" dirty="0"/>
          </a:p>
        </p:txBody>
      </p:sp>
      <p:sp>
        <p:nvSpPr>
          <p:cNvPr id="25" name="Shape 23"/>
          <p:cNvSpPr/>
          <p:nvPr/>
        </p:nvSpPr>
        <p:spPr>
          <a:xfrm>
            <a:off x="6184479" y="1691584"/>
            <a:ext cx="5641612" cy="2591362"/>
          </a:xfrm>
          <a:custGeom>
            <a:avLst/>
            <a:gdLst/>
            <a:ahLst/>
            <a:cxnLst/>
            <a:rect l="l" t="t" r="r" b="b"/>
            <a:pathLst>
              <a:path w="5641612" h="2591362">
                <a:moveTo>
                  <a:pt x="71988" y="0"/>
                </a:moveTo>
                <a:lnTo>
                  <a:pt x="5569624" y="0"/>
                </a:lnTo>
                <a:cubicBezTo>
                  <a:pt x="5609382" y="0"/>
                  <a:pt x="5641612" y="32230"/>
                  <a:pt x="5641612" y="71988"/>
                </a:cubicBezTo>
                <a:lnTo>
                  <a:pt x="5641612" y="2519374"/>
                </a:lnTo>
                <a:cubicBezTo>
                  <a:pt x="5641612" y="2559132"/>
                  <a:pt x="5609382" y="2591362"/>
                  <a:pt x="5569624" y="2591362"/>
                </a:cubicBezTo>
                <a:lnTo>
                  <a:pt x="71988" y="2591362"/>
                </a:lnTo>
                <a:cubicBezTo>
                  <a:pt x="32230" y="2591362"/>
                  <a:pt x="0" y="2559132"/>
                  <a:pt x="0" y="2519374"/>
                </a:cubicBezTo>
                <a:lnTo>
                  <a:pt x="0" y="71988"/>
                </a:lnTo>
                <a:cubicBezTo>
                  <a:pt x="0" y="32230"/>
                  <a:pt x="32230" y="0"/>
                  <a:pt x="71988" y="0"/>
                </a:cubicBezTo>
                <a:close/>
              </a:path>
            </a:pathLst>
          </a:custGeom>
          <a:solidFill>
            <a:srgbClr val="FFFFFF"/>
          </a:solidFill>
          <a:ln/>
          <a:effectLst>
            <a:outerShdw blurRad="134967" dist="89978" dir="5400000" algn="bl" rotWithShape="0">
              <a:srgbClr val="000000">
                <a:alpha val="10196"/>
              </a:srgbClr>
            </a:outerShdw>
          </a:effectLst>
        </p:spPr>
      </p:sp>
      <p:sp>
        <p:nvSpPr>
          <p:cNvPr id="26" name="Text 24"/>
          <p:cNvSpPr/>
          <p:nvPr/>
        </p:nvSpPr>
        <p:spPr>
          <a:xfrm>
            <a:off x="6292452" y="1835548"/>
            <a:ext cx="5425665" cy="215947"/>
          </a:xfrm>
          <a:prstGeom prst="rect">
            <a:avLst/>
          </a:prstGeom>
          <a:noFill/>
          <a:ln/>
        </p:spPr>
        <p:txBody>
          <a:bodyPr wrap="square" lIns="0" tIns="0" rIns="0" bIns="0" rtlCol="0" anchor="ctr"/>
          <a:lstStyle/>
          <a:p>
            <a:pPr algn="ctr">
              <a:lnSpc>
                <a:spcPct val="130000"/>
              </a:lnSpc>
            </a:pPr>
            <a:r>
              <a:rPr lang="en-US" sz="1134" b="1" dirty="0">
                <a:solidFill>
                  <a:srgbClr val="1A3A52"/>
                </a:solidFill>
                <a:latin typeface="Liter" pitchFamily="34" charset="0"/>
                <a:ea typeface="Liter" pitchFamily="34" charset="-122"/>
                <a:cs typeface="Liter" pitchFamily="34" charset="-120"/>
              </a:rPr>
              <a:t>AAA Metrics Overview</a:t>
            </a:r>
            <a:endParaRPr lang="en-US" sz="1600" dirty="0"/>
          </a:p>
        </p:txBody>
      </p:sp>
      <p:pic>
        <p:nvPicPr>
          <p:cNvPr id="27" name="Image 0"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328443" y="2159469"/>
            <a:ext cx="5020765" cy="1979513"/>
          </a:xfrm>
          <a:prstGeom prst="roundRect">
            <a:avLst>
              <a:gd name="adj" fmla="val 0"/>
            </a:avLst>
          </a:prstGeom>
        </p:spPr>
      </p:pic>
      <p:pic>
        <p:nvPicPr>
          <p:cNvPr id="28" name="Image 1" descr="preencoded.png"/>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328443" y="2159469"/>
            <a:ext cx="5020765" cy="1979513"/>
          </a:xfrm>
          <a:prstGeom prst="roundRect">
            <a:avLst>
              <a:gd name="adj" fmla="val 0"/>
            </a:avLst>
          </a:prstGeom>
        </p:spPr>
      </p:pic>
      <p:pic>
        <p:nvPicPr>
          <p:cNvPr id="29" name="Image 2" descr="preencoded.png"/>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328443" y="2159469"/>
            <a:ext cx="5020765" cy="1979513"/>
          </a:xfrm>
          <a:prstGeom prst="roundRect">
            <a:avLst>
              <a:gd name="adj" fmla="val 0"/>
            </a:avLst>
          </a:prstGeom>
        </p:spPr>
      </p:pic>
      <p:sp>
        <p:nvSpPr>
          <p:cNvPr id="30" name="Shape 25"/>
          <p:cNvSpPr/>
          <p:nvPr/>
        </p:nvSpPr>
        <p:spPr>
          <a:xfrm>
            <a:off x="6163484" y="4426910"/>
            <a:ext cx="5683602" cy="2150472"/>
          </a:xfrm>
          <a:custGeom>
            <a:avLst/>
            <a:gdLst/>
            <a:ahLst/>
            <a:cxnLst/>
            <a:rect l="l" t="t" r="r" b="b"/>
            <a:pathLst>
              <a:path w="5641612" h="2429402">
                <a:moveTo>
                  <a:pt x="71983" y="0"/>
                </a:moveTo>
                <a:lnTo>
                  <a:pt x="5569629" y="0"/>
                </a:lnTo>
                <a:cubicBezTo>
                  <a:pt x="5609384" y="0"/>
                  <a:pt x="5641612" y="32228"/>
                  <a:pt x="5641612" y="71983"/>
                </a:cubicBezTo>
                <a:lnTo>
                  <a:pt x="5641612" y="2357419"/>
                </a:lnTo>
                <a:cubicBezTo>
                  <a:pt x="5641612" y="2397174"/>
                  <a:pt x="5609384" y="2429402"/>
                  <a:pt x="5569629" y="2429402"/>
                </a:cubicBezTo>
                <a:lnTo>
                  <a:pt x="71983" y="2429402"/>
                </a:lnTo>
                <a:cubicBezTo>
                  <a:pt x="32228" y="2429402"/>
                  <a:pt x="0" y="2397174"/>
                  <a:pt x="0" y="2357419"/>
                </a:cubicBezTo>
                <a:lnTo>
                  <a:pt x="0" y="71983"/>
                </a:lnTo>
                <a:cubicBezTo>
                  <a:pt x="0" y="32255"/>
                  <a:pt x="32255" y="0"/>
                  <a:pt x="71983" y="0"/>
                </a:cubicBezTo>
                <a:close/>
              </a:path>
            </a:pathLst>
          </a:custGeom>
          <a:solidFill>
            <a:srgbClr val="FFFFFF"/>
          </a:solidFill>
          <a:ln/>
          <a:effectLst>
            <a:outerShdw blurRad="134967" dist="89978" dir="5400000" algn="bl" rotWithShape="0">
              <a:srgbClr val="000000">
                <a:alpha val="10196"/>
              </a:srgbClr>
            </a:outerShdw>
          </a:effectLst>
        </p:spPr>
      </p:sp>
      <p:sp>
        <p:nvSpPr>
          <p:cNvPr id="31" name="Text 26"/>
          <p:cNvSpPr/>
          <p:nvPr/>
        </p:nvSpPr>
        <p:spPr>
          <a:xfrm>
            <a:off x="6272261" y="4570875"/>
            <a:ext cx="5466048" cy="215948"/>
          </a:xfrm>
          <a:prstGeom prst="rect">
            <a:avLst/>
          </a:prstGeom>
          <a:noFill/>
          <a:ln/>
        </p:spPr>
        <p:txBody>
          <a:bodyPr wrap="square" lIns="0" tIns="0" rIns="0" bIns="0" rtlCol="0" anchor="ctr"/>
          <a:lstStyle/>
          <a:p>
            <a:pPr algn="ctr">
              <a:lnSpc>
                <a:spcPct val="130000"/>
              </a:lnSpc>
            </a:pPr>
            <a:r>
              <a:rPr lang="en-US" sz="1134" b="1" dirty="0">
                <a:solidFill>
                  <a:srgbClr val="1A3A52"/>
                </a:solidFill>
                <a:latin typeface="Liter" pitchFamily="34" charset="0"/>
                <a:ea typeface="Liter" pitchFamily="34" charset="-122"/>
                <a:cs typeface="Liter" pitchFamily="34" charset="-120"/>
              </a:rPr>
              <a:t>Appraiser Agreement Matrix</a:t>
            </a:r>
            <a:endParaRPr lang="en-US" sz="1600" dirty="0"/>
          </a:p>
        </p:txBody>
      </p:sp>
      <p:graphicFrame>
        <p:nvGraphicFramePr>
          <p:cNvPr id="32" name="Table 0"/>
          <p:cNvGraphicFramePr>
            <a:graphicFrameLocks noGrp="1"/>
          </p:cNvGraphicFramePr>
          <p:nvPr>
            <p:extLst>
              <p:ext uri="{D42A27DB-BD31-4B8C-83A1-F6EECF244321}">
                <p14:modId xmlns:p14="http://schemas.microsoft.com/office/powerpoint/2010/main" val="2887428102"/>
              </p:ext>
            </p:extLst>
          </p:nvPr>
        </p:nvGraphicFramePr>
        <p:xfrm>
          <a:off x="6308521" y="4894796"/>
          <a:ext cx="5393528" cy="1454044"/>
        </p:xfrm>
        <a:graphic>
          <a:graphicData uri="http://schemas.openxmlformats.org/drawingml/2006/table">
            <a:tbl>
              <a:tblPr/>
              <a:tblGrid>
                <a:gridCol w="1541008">
                  <a:extLst>
                    <a:ext uri="{9D8B030D-6E8A-4147-A177-3AD203B41FA5}">
                      <a16:colId xmlns:a16="http://schemas.microsoft.com/office/drawing/2014/main" val="20000"/>
                    </a:ext>
                  </a:extLst>
                </a:gridCol>
                <a:gridCol w="1976116">
                  <a:extLst>
                    <a:ext uri="{9D8B030D-6E8A-4147-A177-3AD203B41FA5}">
                      <a16:colId xmlns:a16="http://schemas.microsoft.com/office/drawing/2014/main" val="20001"/>
                    </a:ext>
                  </a:extLst>
                </a:gridCol>
                <a:gridCol w="1876404">
                  <a:extLst>
                    <a:ext uri="{9D8B030D-6E8A-4147-A177-3AD203B41FA5}">
                      <a16:colId xmlns:a16="http://schemas.microsoft.com/office/drawing/2014/main" val="20002"/>
                    </a:ext>
                  </a:extLst>
                </a:gridCol>
              </a:tblGrid>
              <a:tr h="363511">
                <a:tc>
                  <a:txBody>
                    <a:bodyPr/>
                    <a:lstStyle/>
                    <a:p>
                      <a:pPr algn="l"/>
                      <a:r>
                        <a:rPr lang="en-US" sz="1100" b="1" u="none" dirty="0">
                          <a:solidFill>
                            <a:srgbClr val="FFFFFF"/>
                          </a:solidFill>
                          <a:latin typeface="微软雅黑" pitchFamily="34" charset="0"/>
                          <a:ea typeface="微软雅黑" pitchFamily="34" charset="-122"/>
                          <a:cs typeface="微软雅黑" pitchFamily="34" charset="-120"/>
                        </a:rPr>
                        <a:t>Appraiser</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0" cap="flat" cmpd="sng" algn="ctr">
                      <a:noFill/>
                    </a:lnT>
                    <a:lnB w="0" cap="flat" cmpd="sng" algn="ctr">
                      <a:noFill/>
                    </a:lnB>
                    <a:solidFill>
                      <a:srgbClr val="1A3A52"/>
                    </a:solidFill>
                  </a:tcPr>
                </a:tc>
                <a:tc>
                  <a:txBody>
                    <a:bodyPr/>
                    <a:lstStyle/>
                    <a:p>
                      <a:pPr algn="ctr"/>
                      <a:r>
                        <a:rPr lang="en-US" sz="1100" b="1" u="none" dirty="0">
                          <a:solidFill>
                            <a:srgbClr val="FFFFFF"/>
                          </a:solidFill>
                          <a:latin typeface="微软雅黑" pitchFamily="34" charset="0"/>
                          <a:ea typeface="微软雅黑" pitchFamily="34" charset="-122"/>
                          <a:cs typeface="微软雅黑" pitchFamily="34" charset="-120"/>
                        </a:rPr>
                        <a:t>Repeatability</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0" cap="flat" cmpd="sng" algn="ctr">
                      <a:noFill/>
                    </a:lnT>
                    <a:lnB w="0" cap="flat" cmpd="sng" algn="ctr">
                      <a:noFill/>
                    </a:lnB>
                    <a:solidFill>
                      <a:srgbClr val="1A3A52"/>
                    </a:solidFill>
                  </a:tcPr>
                </a:tc>
                <a:tc>
                  <a:txBody>
                    <a:bodyPr/>
                    <a:lstStyle/>
                    <a:p>
                      <a:pPr algn="ctr"/>
                      <a:r>
                        <a:rPr lang="en-US" sz="1100" b="1" u="none" dirty="0">
                          <a:solidFill>
                            <a:srgbClr val="FFFFFF"/>
                          </a:solidFill>
                          <a:latin typeface="微软雅黑" pitchFamily="34" charset="0"/>
                          <a:ea typeface="微软雅黑" pitchFamily="34" charset="-122"/>
                          <a:cs typeface="微软雅黑" pitchFamily="34" charset="-120"/>
                        </a:rPr>
                        <a:t>vs. Standard</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0" cap="flat" cmpd="sng" algn="ctr">
                      <a:noFill/>
                    </a:lnT>
                    <a:lnB w="0" cap="flat" cmpd="sng" algn="ctr">
                      <a:noFill/>
                    </a:lnB>
                    <a:solidFill>
                      <a:srgbClr val="1A3A52"/>
                    </a:solidFill>
                  </a:tcPr>
                </a:tc>
                <a:extLst>
                  <a:ext uri="{0D108BD9-81ED-4DB2-BD59-A6C34878D82A}">
                    <a16:rowId xmlns:a16="http://schemas.microsoft.com/office/drawing/2014/main" val="10000"/>
                  </a:ext>
                </a:extLst>
              </a:tr>
              <a:tr h="363511">
                <a:tc>
                  <a:txBody>
                    <a:bodyPr/>
                    <a:lstStyle/>
                    <a:p>
                      <a:r>
                        <a:rPr lang="en-US" sz="1100" b="1" u="none" dirty="0">
                          <a:solidFill>
                            <a:srgbClr val="1A3A52"/>
                          </a:solidFill>
                          <a:latin typeface="微软雅黑" pitchFamily="34" charset="0"/>
                          <a:ea typeface="微软雅黑" pitchFamily="34" charset="-122"/>
                          <a:cs typeface="微软雅黑" pitchFamily="34" charset="-120"/>
                        </a:rPr>
                        <a:t>HR-1</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212529"/>
                          </a:solidFill>
                          <a:latin typeface="微软雅黑" pitchFamily="34" charset="0"/>
                          <a:ea typeface="微软雅黑" pitchFamily="34" charset="-122"/>
                          <a:cs typeface="微软雅黑" pitchFamily="34" charset="-120"/>
                        </a:rPr>
                        <a:t>96%</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212529"/>
                          </a:solidFill>
                          <a:latin typeface="微软雅黑" pitchFamily="34" charset="0"/>
                          <a:ea typeface="微软雅黑" pitchFamily="34" charset="-122"/>
                          <a:cs typeface="微软雅黑" pitchFamily="34" charset="-120"/>
                        </a:rPr>
                        <a:t>94%</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363511">
                <a:tc>
                  <a:txBody>
                    <a:bodyPr/>
                    <a:lstStyle/>
                    <a:p>
                      <a:r>
                        <a:rPr lang="en-US" sz="1100" b="1" u="none" dirty="0">
                          <a:solidFill>
                            <a:srgbClr val="1A3A52"/>
                          </a:solidFill>
                          <a:latin typeface="微软雅黑" pitchFamily="34" charset="0"/>
                          <a:ea typeface="微软雅黑" pitchFamily="34" charset="-122"/>
                          <a:cs typeface="微软雅黑" pitchFamily="34" charset="-120"/>
                        </a:rPr>
                        <a:t>HR-2</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212529"/>
                          </a:solidFill>
                          <a:latin typeface="微软雅黑" pitchFamily="34" charset="0"/>
                          <a:ea typeface="微软雅黑" pitchFamily="34" charset="-122"/>
                          <a:cs typeface="微软雅黑" pitchFamily="34" charset="-120"/>
                        </a:rPr>
                        <a:t>94%</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212529"/>
                          </a:solidFill>
                          <a:latin typeface="微软雅黑" pitchFamily="34" charset="0"/>
                          <a:ea typeface="微软雅黑" pitchFamily="34" charset="-122"/>
                          <a:cs typeface="微软雅黑" pitchFamily="34" charset="-120"/>
                        </a:rPr>
                        <a:t>92%</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363511">
                <a:tc>
                  <a:txBody>
                    <a:bodyPr/>
                    <a:lstStyle/>
                    <a:p>
                      <a:r>
                        <a:rPr lang="en-US" sz="1100" b="1" u="none" dirty="0">
                          <a:solidFill>
                            <a:srgbClr val="1A3A52"/>
                          </a:solidFill>
                          <a:latin typeface="微软雅黑" pitchFamily="34" charset="0"/>
                          <a:ea typeface="微软雅黑" pitchFamily="34" charset="-122"/>
                          <a:cs typeface="微软雅黑" pitchFamily="34" charset="-120"/>
                        </a:rPr>
                        <a:t>Average</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C5A56A">
                        <a:alpha val="10000"/>
                      </a:srgbClr>
                    </a:solidFill>
                  </a:tcPr>
                </a:tc>
                <a:tc>
                  <a:txBody>
                    <a:bodyPr/>
                    <a:lstStyle/>
                    <a:p>
                      <a:pPr algn="ctr"/>
                      <a:r>
                        <a:rPr lang="en-US" sz="1100" b="1" u="none" dirty="0">
                          <a:solidFill>
                            <a:srgbClr val="C5A56A"/>
                          </a:solidFill>
                          <a:latin typeface="微软雅黑" pitchFamily="34" charset="0"/>
                          <a:ea typeface="微软雅黑" pitchFamily="34" charset="-122"/>
                          <a:cs typeface="微软雅黑" pitchFamily="34" charset="-120"/>
                        </a:rPr>
                        <a:t>95%</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C5A56A">
                        <a:alpha val="10000"/>
                      </a:srgbClr>
                    </a:solidFill>
                  </a:tcPr>
                </a:tc>
                <a:tc>
                  <a:txBody>
                    <a:bodyPr/>
                    <a:lstStyle/>
                    <a:p>
                      <a:pPr algn="ctr"/>
                      <a:r>
                        <a:rPr lang="en-US" sz="1100" b="1" u="none" dirty="0">
                          <a:solidFill>
                            <a:srgbClr val="C5A56A"/>
                          </a:solidFill>
                          <a:latin typeface="微软雅黑" pitchFamily="34" charset="0"/>
                          <a:ea typeface="微软雅黑" pitchFamily="34" charset="-122"/>
                          <a:cs typeface="微软雅黑" pitchFamily="34" charset="-120"/>
                        </a:rPr>
                        <a:t>93%</a:t>
                      </a:r>
                      <a:endParaRPr lang="en-US" sz="1100" dirty="0">
                        <a:latin typeface="微软雅黑" charset="0"/>
                        <a:ea typeface="微软雅黑" charset="0"/>
                        <a:cs typeface="微软雅黑" charset="0"/>
                      </a:endParaRPr>
                    </a:p>
                  </a:txBody>
                  <a:tcPr marL="71982" marR="71982" marT="71982" marB="71982"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C5A56A">
                        <a:alpha val="10000"/>
                      </a:srgbClr>
                    </a:solidFill>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542516-2A74-B0C4-587C-229BA025190C}"/>
              </a:ext>
            </a:extLst>
          </p:cNvPr>
          <p:cNvPicPr>
            <a:picLocks noChangeAspect="1"/>
          </p:cNvPicPr>
          <p:nvPr/>
        </p:nvPicPr>
        <p:blipFill>
          <a:blip r:embed="rId2"/>
          <a:stretch>
            <a:fillRect/>
          </a:stretch>
        </p:blipFill>
        <p:spPr>
          <a:xfrm>
            <a:off x="3585017" y="900715"/>
            <a:ext cx="4870726" cy="3311187"/>
          </a:xfrm>
          <a:prstGeom prst="rect">
            <a:avLst/>
          </a:prstGeom>
        </p:spPr>
      </p:pic>
      <p:sp>
        <p:nvSpPr>
          <p:cNvPr id="3" name="TextBox 2">
            <a:extLst>
              <a:ext uri="{FF2B5EF4-FFF2-40B4-BE49-F238E27FC236}">
                <a16:creationId xmlns:a16="http://schemas.microsoft.com/office/drawing/2014/main" id="{6C0FB730-DA2D-EF73-21B5-1111616C78F4}"/>
              </a:ext>
            </a:extLst>
          </p:cNvPr>
          <p:cNvSpPr txBox="1"/>
          <p:nvPr/>
        </p:nvSpPr>
        <p:spPr>
          <a:xfrm>
            <a:off x="5427406" y="324465"/>
            <a:ext cx="15420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Aptos" panose="02110004020202020204"/>
                <a:ea typeface="+mn-ea"/>
                <a:cs typeface="+mn-cs"/>
              </a:rPr>
              <a:t>AAA Analysis</a:t>
            </a:r>
          </a:p>
        </p:txBody>
      </p:sp>
      <p:sp>
        <p:nvSpPr>
          <p:cNvPr id="5" name="TextBox 4">
            <a:extLst>
              <a:ext uri="{FF2B5EF4-FFF2-40B4-BE49-F238E27FC236}">
                <a16:creationId xmlns:a16="http://schemas.microsoft.com/office/drawing/2014/main" id="{E7AA95A1-FF36-87E8-9EFC-9926454F1861}"/>
              </a:ext>
            </a:extLst>
          </p:cNvPr>
          <p:cNvSpPr txBox="1"/>
          <p:nvPr/>
        </p:nvSpPr>
        <p:spPr>
          <a:xfrm>
            <a:off x="719934" y="4320712"/>
            <a:ext cx="11393407" cy="1726948"/>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Key Findings</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IN" sz="14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Repeatability (95%)</a:t>
            </a:r>
            <a:r>
              <a:rPr kumimoji="0" lang="en-IN" sz="1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Each HR appraiser gave consistent results across multiple trials.</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IN" sz="14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Reproducibility (90%)</a:t>
            </a:r>
            <a:r>
              <a:rPr kumimoji="0" lang="en-IN" sz="1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Different HR appraisers agreed with each other most of the time.</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IN" sz="14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Overall Accuracy (93%)</a:t>
            </a:r>
            <a:r>
              <a:rPr kumimoji="0" lang="en-IN" sz="1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Their evaluations matched the documented “true” reasons for attrition.</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IN" sz="14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Kappa &gt; 0.8</a:t>
            </a:r>
            <a:r>
              <a:rPr kumimoji="0" lang="en-IN" sz="1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Strong agreement beyond chance, confirming reliability.</a:t>
            </a:r>
          </a:p>
        </p:txBody>
      </p:sp>
    </p:spTree>
    <p:extLst>
      <p:ext uri="{BB962C8B-B14F-4D97-AF65-F5344CB8AC3E}">
        <p14:creationId xmlns:p14="http://schemas.microsoft.com/office/powerpoint/2010/main" val="1887126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C5A56A"/>
                </a:solidFill>
                <a:latin typeface="Liter" pitchFamily="34" charset="0"/>
                <a:ea typeface="Liter" pitchFamily="34" charset="-122"/>
                <a:cs typeface="Liter" pitchFamily="34" charset="-120"/>
              </a:rPr>
              <a:t>Statistical Process Control</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1A3A52"/>
                </a:solidFill>
                <a:latin typeface="Liter" pitchFamily="34" charset="0"/>
                <a:ea typeface="Liter" pitchFamily="34" charset="-122"/>
                <a:cs typeface="Liter" pitchFamily="34" charset="-120"/>
              </a:rPr>
              <a:t>Control Chart – P Chart of Attritions</a:t>
            </a:r>
            <a:endParaRPr lang="en-US" sz="1600" dirty="0"/>
          </a:p>
        </p:txBody>
      </p:sp>
      <p:sp>
        <p:nvSpPr>
          <p:cNvPr id="4" name="Text 2"/>
          <p:cNvSpPr/>
          <p:nvPr/>
        </p:nvSpPr>
        <p:spPr>
          <a:xfrm>
            <a:off x="317500" y="1016000"/>
            <a:ext cx="11636375" cy="222250"/>
          </a:xfrm>
          <a:prstGeom prst="rect">
            <a:avLst/>
          </a:prstGeom>
          <a:noFill/>
          <a:ln/>
        </p:spPr>
        <p:txBody>
          <a:bodyPr wrap="square" lIns="0" tIns="0" rIns="0" bIns="0" rtlCol="0" anchor="ctr"/>
          <a:lstStyle/>
          <a:p>
            <a:pPr>
              <a:lnSpc>
                <a:spcPct val="120000"/>
              </a:lnSpc>
            </a:pPr>
            <a:r>
              <a:rPr lang="en-US" sz="1250" dirty="0">
                <a:solidFill>
                  <a:srgbClr val="5E7A91"/>
                </a:solidFill>
                <a:latin typeface="Liter" pitchFamily="34" charset="0"/>
                <a:ea typeface="Liter" pitchFamily="34" charset="-122"/>
                <a:cs typeface="Liter" pitchFamily="34" charset="-120"/>
              </a:rPr>
              <a:t>Monitoring Attrition Counts Over Time</a:t>
            </a:r>
            <a:endParaRPr lang="en-US" sz="1600" dirty="0"/>
          </a:p>
        </p:txBody>
      </p:sp>
      <p:sp>
        <p:nvSpPr>
          <p:cNvPr id="5" name="Shape 3"/>
          <p:cNvSpPr/>
          <p:nvPr/>
        </p:nvSpPr>
        <p:spPr>
          <a:xfrm>
            <a:off x="317500" y="13335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C5A56A"/>
          </a:solidFill>
          <a:ln/>
        </p:spPr>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6250" y="1651000"/>
            <a:ext cx="5976938" cy="3810000"/>
          </a:xfrm>
          <a:prstGeom prst="roundRect">
            <a:avLst>
              <a:gd name="adj" fmla="val 0"/>
            </a:avLst>
          </a:prstGeom>
        </p:spPr>
      </p:pic>
      <p:sp>
        <p:nvSpPr>
          <p:cNvPr id="10" name="Shape 5"/>
          <p:cNvSpPr/>
          <p:nvPr/>
        </p:nvSpPr>
        <p:spPr>
          <a:xfrm>
            <a:off x="8128000" y="1042881"/>
            <a:ext cx="3746500" cy="2436813"/>
          </a:xfrm>
          <a:custGeom>
            <a:avLst/>
            <a:gdLst/>
            <a:ahLst/>
            <a:cxnLst/>
            <a:rect l="l" t="t" r="r" b="b"/>
            <a:pathLst>
              <a:path w="3746500" h="2436813">
                <a:moveTo>
                  <a:pt x="63503" y="0"/>
                </a:moveTo>
                <a:lnTo>
                  <a:pt x="3682997" y="0"/>
                </a:lnTo>
                <a:cubicBezTo>
                  <a:pt x="3718069" y="0"/>
                  <a:pt x="3746500" y="28431"/>
                  <a:pt x="3746500" y="63503"/>
                </a:cubicBezTo>
                <a:lnTo>
                  <a:pt x="3746500" y="2373309"/>
                </a:lnTo>
                <a:cubicBezTo>
                  <a:pt x="3746500" y="2408381"/>
                  <a:pt x="3718069" y="2436813"/>
                  <a:pt x="3682997" y="2436813"/>
                </a:cubicBezTo>
                <a:lnTo>
                  <a:pt x="63503" y="2436813"/>
                </a:lnTo>
                <a:cubicBezTo>
                  <a:pt x="28431" y="2436813"/>
                  <a:pt x="0" y="2408381"/>
                  <a:pt x="0" y="2373309"/>
                </a:cubicBezTo>
                <a:lnTo>
                  <a:pt x="0" y="63503"/>
                </a:lnTo>
                <a:cubicBezTo>
                  <a:pt x="0" y="28455"/>
                  <a:pt x="28455" y="0"/>
                  <a:pt x="63503" y="0"/>
                </a:cubicBezTo>
                <a:close/>
              </a:path>
            </a:pathLst>
          </a:custGeom>
          <a:solidFill>
            <a:srgbClr val="FFFFFF"/>
          </a:solidFill>
          <a:ln/>
          <a:effectLst>
            <a:outerShdw blurRad="119063" dist="79375" dir="5400000" algn="bl" rotWithShape="0">
              <a:srgbClr val="000000">
                <a:alpha val="10196"/>
              </a:srgbClr>
            </a:outerShdw>
          </a:effectLst>
        </p:spPr>
      </p:sp>
      <p:sp>
        <p:nvSpPr>
          <p:cNvPr id="13" name="Shape 8"/>
          <p:cNvSpPr/>
          <p:nvPr/>
        </p:nvSpPr>
        <p:spPr>
          <a:xfrm>
            <a:off x="8255000" y="1570305"/>
            <a:ext cx="3426354" cy="1751542"/>
          </a:xfrm>
          <a:custGeom>
            <a:avLst/>
            <a:gdLst/>
            <a:ahLst/>
            <a:cxnLst/>
            <a:rect l="l" t="t" r="r" b="b"/>
            <a:pathLst>
              <a:path w="3426354" h="1751542">
                <a:moveTo>
                  <a:pt x="63493" y="0"/>
                </a:moveTo>
                <a:lnTo>
                  <a:pt x="3362861" y="0"/>
                </a:lnTo>
                <a:cubicBezTo>
                  <a:pt x="3397927" y="0"/>
                  <a:pt x="3426354" y="28427"/>
                  <a:pt x="3426354" y="63493"/>
                </a:cubicBezTo>
                <a:lnTo>
                  <a:pt x="3426354" y="1688048"/>
                </a:lnTo>
                <a:cubicBezTo>
                  <a:pt x="3426354" y="1723115"/>
                  <a:pt x="3397927" y="1751542"/>
                  <a:pt x="3362861" y="1751542"/>
                </a:cubicBezTo>
                <a:lnTo>
                  <a:pt x="63493" y="1751542"/>
                </a:lnTo>
                <a:cubicBezTo>
                  <a:pt x="28427" y="1751542"/>
                  <a:pt x="0" y="1723115"/>
                  <a:pt x="0" y="1688048"/>
                </a:cubicBezTo>
                <a:lnTo>
                  <a:pt x="0" y="63493"/>
                </a:lnTo>
                <a:cubicBezTo>
                  <a:pt x="0" y="28427"/>
                  <a:pt x="28427" y="0"/>
                  <a:pt x="63493" y="0"/>
                </a:cubicBezTo>
                <a:close/>
              </a:path>
            </a:pathLst>
          </a:custGeom>
          <a:solidFill>
            <a:srgbClr val="FEF2F2"/>
          </a:solidFill>
          <a:ln w="8467">
            <a:solidFill>
              <a:srgbClr val="FFC9C9"/>
            </a:solidFill>
            <a:prstDash val="solid"/>
          </a:ln>
        </p:spPr>
      </p:sp>
      <p:sp>
        <p:nvSpPr>
          <p:cNvPr id="16" name="Text 11"/>
          <p:cNvSpPr/>
          <p:nvPr/>
        </p:nvSpPr>
        <p:spPr>
          <a:xfrm>
            <a:off x="8365044" y="2032000"/>
            <a:ext cx="3230563" cy="381000"/>
          </a:xfrm>
          <a:prstGeom prst="rect">
            <a:avLst/>
          </a:prstGeom>
          <a:noFill/>
          <a:ln/>
        </p:spPr>
        <p:txBody>
          <a:bodyPr wrap="square" lIns="0" tIns="0" rIns="0" bIns="0" rtlCol="0" anchor="ctr"/>
          <a:lstStyle/>
          <a:p>
            <a:pPr>
              <a:lnSpc>
                <a:spcPct val="130000"/>
              </a:lnSpc>
            </a:pPr>
            <a:r>
              <a:rPr lang="en-US" sz="1000" dirty="0">
                <a:solidFill>
                  <a:srgbClr val="C10007"/>
                </a:solidFill>
                <a:latin typeface="Liter" pitchFamily="34" charset="0"/>
                <a:ea typeface="Liter" pitchFamily="34" charset="-122"/>
                <a:cs typeface="Liter" pitchFamily="34" charset="-120"/>
              </a:rPr>
              <a:t>One point more than 3.00 standard deviations from center line</a:t>
            </a:r>
            <a:endParaRPr lang="en-US" sz="1600" dirty="0"/>
          </a:p>
        </p:txBody>
      </p:sp>
      <p:sp>
        <p:nvSpPr>
          <p:cNvPr id="17" name="Shape 12"/>
          <p:cNvSpPr/>
          <p:nvPr/>
        </p:nvSpPr>
        <p:spPr>
          <a:xfrm>
            <a:off x="8357106" y="2445519"/>
            <a:ext cx="3167063" cy="793750"/>
          </a:xfrm>
          <a:custGeom>
            <a:avLst/>
            <a:gdLst/>
            <a:ahLst/>
            <a:cxnLst/>
            <a:rect l="l" t="t" r="r" b="b"/>
            <a:pathLst>
              <a:path w="3167063" h="793750">
                <a:moveTo>
                  <a:pt x="31750" y="0"/>
                </a:moveTo>
                <a:lnTo>
                  <a:pt x="3135313" y="0"/>
                </a:lnTo>
                <a:cubicBezTo>
                  <a:pt x="3152836" y="0"/>
                  <a:pt x="3167063" y="14227"/>
                  <a:pt x="3167063" y="31750"/>
                </a:cubicBezTo>
                <a:lnTo>
                  <a:pt x="3167063" y="762000"/>
                </a:lnTo>
                <a:cubicBezTo>
                  <a:pt x="3167063" y="779523"/>
                  <a:pt x="3152836" y="793750"/>
                  <a:pt x="3135313" y="793750"/>
                </a:cubicBezTo>
                <a:lnTo>
                  <a:pt x="31750" y="793750"/>
                </a:lnTo>
                <a:cubicBezTo>
                  <a:pt x="14227" y="793750"/>
                  <a:pt x="0" y="779523"/>
                  <a:pt x="0" y="762000"/>
                </a:cubicBezTo>
                <a:lnTo>
                  <a:pt x="0" y="31750"/>
                </a:lnTo>
                <a:cubicBezTo>
                  <a:pt x="0" y="14227"/>
                  <a:pt x="14227" y="0"/>
                  <a:pt x="31750" y="0"/>
                </a:cubicBezTo>
                <a:close/>
              </a:path>
            </a:pathLst>
          </a:custGeom>
          <a:solidFill>
            <a:srgbClr val="FFFFFF"/>
          </a:solidFill>
          <a:ln/>
        </p:spPr>
        <p:txBody>
          <a:bodyPr/>
          <a:lstStyle/>
          <a:p>
            <a:endParaRPr lang="en-IN" dirty="0"/>
          </a:p>
        </p:txBody>
      </p:sp>
      <p:sp>
        <p:nvSpPr>
          <p:cNvPr id="18" name="Text 13"/>
          <p:cNvSpPr/>
          <p:nvPr/>
        </p:nvSpPr>
        <p:spPr>
          <a:xfrm>
            <a:off x="8492044" y="2555875"/>
            <a:ext cx="3032125" cy="158750"/>
          </a:xfrm>
          <a:prstGeom prst="rect">
            <a:avLst/>
          </a:prstGeom>
          <a:noFill/>
          <a:ln/>
        </p:spPr>
        <p:txBody>
          <a:bodyPr wrap="square" lIns="0" tIns="0" rIns="0" bIns="0" rtlCol="0" anchor="ctr"/>
          <a:lstStyle/>
          <a:p>
            <a:pPr>
              <a:lnSpc>
                <a:spcPct val="120000"/>
              </a:lnSpc>
            </a:pPr>
            <a:r>
              <a:rPr lang="en-US" sz="875" dirty="0">
                <a:solidFill>
                  <a:srgbClr val="5E7A91"/>
                </a:solidFill>
                <a:latin typeface="Liter" pitchFamily="34" charset="0"/>
                <a:ea typeface="Liter" pitchFamily="34" charset="-122"/>
                <a:cs typeface="Liter" pitchFamily="34" charset="-120"/>
              </a:rPr>
              <a:t>Failed at point:</a:t>
            </a:r>
            <a:endParaRPr lang="en-US" sz="1600" dirty="0"/>
          </a:p>
        </p:txBody>
      </p:sp>
      <p:sp>
        <p:nvSpPr>
          <p:cNvPr id="19" name="Text 14"/>
          <p:cNvSpPr/>
          <p:nvPr/>
        </p:nvSpPr>
        <p:spPr>
          <a:xfrm>
            <a:off x="8497093" y="2761037"/>
            <a:ext cx="3071813" cy="254000"/>
          </a:xfrm>
          <a:prstGeom prst="rect">
            <a:avLst/>
          </a:prstGeom>
          <a:noFill/>
          <a:ln/>
        </p:spPr>
        <p:txBody>
          <a:bodyPr wrap="square" lIns="0" tIns="0" rIns="0" bIns="0" rtlCol="0" anchor="ctr"/>
          <a:lstStyle/>
          <a:p>
            <a:pPr>
              <a:lnSpc>
                <a:spcPct val="110000"/>
              </a:lnSpc>
            </a:pPr>
            <a:r>
              <a:rPr lang="en-US" sz="1500" b="1" dirty="0">
                <a:solidFill>
                  <a:srgbClr val="C10007"/>
                </a:solidFill>
                <a:latin typeface="Liter" pitchFamily="34" charset="0"/>
                <a:ea typeface="Liter" pitchFamily="34" charset="-122"/>
                <a:cs typeface="Liter" pitchFamily="34" charset="-120"/>
              </a:rPr>
              <a:t>Month 3</a:t>
            </a:r>
            <a:endParaRPr lang="en-US" sz="1600" dirty="0"/>
          </a:p>
        </p:txBody>
      </p:sp>
      <p:sp>
        <p:nvSpPr>
          <p:cNvPr id="20" name="Text 15"/>
          <p:cNvSpPr/>
          <p:nvPr/>
        </p:nvSpPr>
        <p:spPr>
          <a:xfrm>
            <a:off x="8497093" y="2995219"/>
            <a:ext cx="3040063" cy="190500"/>
          </a:xfrm>
          <a:prstGeom prst="rect">
            <a:avLst/>
          </a:prstGeom>
          <a:noFill/>
          <a:ln/>
        </p:spPr>
        <p:txBody>
          <a:bodyPr wrap="square" lIns="0" tIns="0" rIns="0" bIns="0" rtlCol="0" anchor="ctr"/>
          <a:lstStyle/>
          <a:p>
            <a:pPr>
              <a:lnSpc>
                <a:spcPct val="130000"/>
              </a:lnSpc>
            </a:pPr>
            <a:r>
              <a:rPr lang="en-US" sz="1000" dirty="0">
                <a:solidFill>
                  <a:srgbClr val="E7000B"/>
                </a:solidFill>
                <a:latin typeface="Liter" pitchFamily="34" charset="0"/>
                <a:ea typeface="Liter" pitchFamily="34" charset="-122"/>
                <a:cs typeface="Liter" pitchFamily="34" charset="-120"/>
              </a:rPr>
              <a:t>September spike</a:t>
            </a:r>
            <a:endParaRPr lang="en-US" sz="1600" dirty="0"/>
          </a:p>
        </p:txBody>
      </p:sp>
      <p:sp>
        <p:nvSpPr>
          <p:cNvPr id="21" name="Shape 16"/>
          <p:cNvSpPr/>
          <p:nvPr/>
        </p:nvSpPr>
        <p:spPr>
          <a:xfrm>
            <a:off x="8128000" y="3583886"/>
            <a:ext cx="3746500" cy="1817688"/>
          </a:xfrm>
          <a:custGeom>
            <a:avLst/>
            <a:gdLst/>
            <a:ahLst/>
            <a:cxnLst/>
            <a:rect l="l" t="t" r="r" b="b"/>
            <a:pathLst>
              <a:path w="3746500" h="1817688">
                <a:moveTo>
                  <a:pt x="63492" y="0"/>
                </a:moveTo>
                <a:lnTo>
                  <a:pt x="3683008" y="0"/>
                </a:lnTo>
                <a:cubicBezTo>
                  <a:pt x="3718074" y="0"/>
                  <a:pt x="3746500" y="28426"/>
                  <a:pt x="3746500" y="63492"/>
                </a:cubicBezTo>
                <a:lnTo>
                  <a:pt x="3746500" y="1754196"/>
                </a:lnTo>
                <a:cubicBezTo>
                  <a:pt x="3746500" y="1789261"/>
                  <a:pt x="3718074" y="1817688"/>
                  <a:pt x="3683008" y="1817688"/>
                </a:cubicBezTo>
                <a:lnTo>
                  <a:pt x="63492" y="1817688"/>
                </a:lnTo>
                <a:cubicBezTo>
                  <a:pt x="28426" y="1817688"/>
                  <a:pt x="0" y="1789261"/>
                  <a:pt x="0" y="1754196"/>
                </a:cubicBezTo>
                <a:lnTo>
                  <a:pt x="0" y="63492"/>
                </a:lnTo>
                <a:cubicBezTo>
                  <a:pt x="0" y="28426"/>
                  <a:pt x="28426" y="0"/>
                  <a:pt x="63492" y="0"/>
                </a:cubicBezTo>
                <a:close/>
              </a:path>
            </a:pathLst>
          </a:custGeom>
          <a:solidFill>
            <a:srgbClr val="FFFFFF"/>
          </a:solidFill>
          <a:ln/>
          <a:effectLst>
            <a:outerShdw blurRad="119063" dist="79375" dir="5400000" algn="bl" rotWithShape="0">
              <a:srgbClr val="000000">
                <a:alpha val="10196"/>
              </a:srgbClr>
            </a:outerShdw>
          </a:effectLst>
        </p:spPr>
        <p:txBody>
          <a:bodyPr/>
          <a:lstStyle/>
          <a:p>
            <a:endParaRPr lang="en-IN" dirty="0"/>
          </a:p>
        </p:txBody>
      </p:sp>
      <p:sp>
        <p:nvSpPr>
          <p:cNvPr id="30" name="Shape 25"/>
          <p:cNvSpPr/>
          <p:nvPr/>
        </p:nvSpPr>
        <p:spPr>
          <a:xfrm>
            <a:off x="8286750" y="5426609"/>
            <a:ext cx="3429000" cy="5292"/>
          </a:xfrm>
          <a:custGeom>
            <a:avLst/>
            <a:gdLst/>
            <a:ahLst/>
            <a:cxnLst/>
            <a:rect l="l" t="t" r="r" b="b"/>
            <a:pathLst>
              <a:path w="3429000" h="5292">
                <a:moveTo>
                  <a:pt x="0" y="0"/>
                </a:moveTo>
                <a:lnTo>
                  <a:pt x="3429000" y="0"/>
                </a:lnTo>
                <a:lnTo>
                  <a:pt x="3429000" y="5292"/>
                </a:lnTo>
                <a:lnTo>
                  <a:pt x="0" y="5292"/>
                </a:lnTo>
                <a:lnTo>
                  <a:pt x="0" y="0"/>
                </a:lnTo>
                <a:close/>
              </a:path>
            </a:pathLst>
          </a:custGeom>
          <a:solidFill>
            <a:srgbClr val="5E7A91">
              <a:alpha val="20000"/>
            </a:srgbClr>
          </a:solidFill>
          <a:ln/>
        </p:spPr>
      </p:sp>
      <p:sp>
        <p:nvSpPr>
          <p:cNvPr id="33" name="Shape 28"/>
          <p:cNvSpPr/>
          <p:nvPr/>
        </p:nvSpPr>
        <p:spPr>
          <a:xfrm>
            <a:off x="8134856" y="5542931"/>
            <a:ext cx="3746500" cy="1079500"/>
          </a:xfrm>
          <a:custGeom>
            <a:avLst/>
            <a:gdLst/>
            <a:ahLst/>
            <a:cxnLst/>
            <a:rect l="l" t="t" r="r" b="b"/>
            <a:pathLst>
              <a:path w="3746500" h="1079500">
                <a:moveTo>
                  <a:pt x="63496" y="0"/>
                </a:moveTo>
                <a:lnTo>
                  <a:pt x="3683004" y="0"/>
                </a:lnTo>
                <a:cubicBezTo>
                  <a:pt x="3718072" y="0"/>
                  <a:pt x="3746500" y="28428"/>
                  <a:pt x="3746500" y="63496"/>
                </a:cubicBezTo>
                <a:lnTo>
                  <a:pt x="3746500" y="1016004"/>
                </a:lnTo>
                <a:cubicBezTo>
                  <a:pt x="3746500" y="1051072"/>
                  <a:pt x="3718072" y="1079500"/>
                  <a:pt x="3683004" y="1079500"/>
                </a:cubicBezTo>
                <a:lnTo>
                  <a:pt x="63496" y="1079500"/>
                </a:lnTo>
                <a:cubicBezTo>
                  <a:pt x="28428" y="1079500"/>
                  <a:pt x="0" y="1051072"/>
                  <a:pt x="0" y="1016004"/>
                </a:cubicBezTo>
                <a:lnTo>
                  <a:pt x="0" y="63496"/>
                </a:lnTo>
                <a:cubicBezTo>
                  <a:pt x="0" y="28452"/>
                  <a:pt x="28452" y="0"/>
                  <a:pt x="63496" y="0"/>
                </a:cubicBezTo>
                <a:close/>
              </a:path>
            </a:pathLst>
          </a:custGeom>
          <a:solidFill>
            <a:srgbClr val="1A3A52"/>
          </a:solidFill>
          <a:ln/>
        </p:spPr>
      </p:sp>
      <p:sp>
        <p:nvSpPr>
          <p:cNvPr id="36" name="Text 31"/>
          <p:cNvSpPr/>
          <p:nvPr/>
        </p:nvSpPr>
        <p:spPr>
          <a:xfrm>
            <a:off x="8223250" y="5897839"/>
            <a:ext cx="3556000" cy="571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The process shows </a:t>
            </a:r>
            <a:r>
              <a:rPr lang="en-US" sz="1000" b="1" dirty="0">
                <a:solidFill>
                  <a:srgbClr val="FFFFFF"/>
                </a:solidFill>
                <a:latin typeface="Liter" pitchFamily="34" charset="0"/>
                <a:ea typeface="Liter" pitchFamily="34" charset="-122"/>
                <a:cs typeface="Liter" pitchFamily="34" charset="-120"/>
              </a:rPr>
              <a:t>special cause variation</a:t>
            </a:r>
            <a:r>
              <a:rPr lang="en-US" sz="1000" dirty="0">
                <a:solidFill>
                  <a:srgbClr val="FFFFFF"/>
                </a:solidFill>
                <a:latin typeface="Liter" pitchFamily="34" charset="0"/>
                <a:ea typeface="Liter" pitchFamily="34" charset="-122"/>
                <a:cs typeface="Liter" pitchFamily="34" charset="-120"/>
              </a:rPr>
              <a:t> at Month 3 (September), indicating an assignable cause requiring investigation.</a:t>
            </a:r>
            <a:endParaRPr lang="en-US" sz="1600" dirty="0"/>
          </a:p>
        </p:txBody>
      </p:sp>
      <p:pic>
        <p:nvPicPr>
          <p:cNvPr id="7" name="Picture 6">
            <a:extLst>
              <a:ext uri="{FF2B5EF4-FFF2-40B4-BE49-F238E27FC236}">
                <a16:creationId xmlns:a16="http://schemas.microsoft.com/office/drawing/2014/main" id="{7AAC881B-B3B5-E0A5-3131-40BB7E41D79C}"/>
              </a:ext>
            </a:extLst>
          </p:cNvPr>
          <p:cNvPicPr>
            <a:picLocks noChangeAspect="1"/>
          </p:cNvPicPr>
          <p:nvPr/>
        </p:nvPicPr>
        <p:blipFill>
          <a:blip r:embed="rId5"/>
          <a:srcRect t="7407" r="37275" b="51543"/>
          <a:stretch>
            <a:fillRect/>
          </a:stretch>
        </p:blipFill>
        <p:spPr>
          <a:xfrm>
            <a:off x="708657" y="1780333"/>
            <a:ext cx="6979450" cy="3426667"/>
          </a:xfrm>
          <a:prstGeom prst="rect">
            <a:avLst/>
          </a:prstGeom>
        </p:spPr>
      </p:pic>
      <p:sp>
        <p:nvSpPr>
          <p:cNvPr id="8" name="Shape 6">
            <a:extLst>
              <a:ext uri="{FF2B5EF4-FFF2-40B4-BE49-F238E27FC236}">
                <a16:creationId xmlns:a16="http://schemas.microsoft.com/office/drawing/2014/main" id="{B34E3DE9-79E0-513E-A55A-754FE27955FA}"/>
              </a:ext>
            </a:extLst>
          </p:cNvPr>
          <p:cNvSpPr/>
          <p:nvPr/>
        </p:nvSpPr>
        <p:spPr>
          <a:xfrm>
            <a:off x="8333294" y="1203856"/>
            <a:ext cx="238125" cy="238125"/>
          </a:xfrm>
          <a:custGeom>
            <a:avLst/>
            <a:gdLst/>
            <a:ahLst/>
            <a:cxnLst/>
            <a:rect l="l" t="t" r="r" b="b"/>
            <a:pathLst>
              <a:path w="238125" h="238125">
                <a:moveTo>
                  <a:pt x="29766" y="29766"/>
                </a:moveTo>
                <a:cubicBezTo>
                  <a:pt x="29766" y="21534"/>
                  <a:pt x="23115" y="14883"/>
                  <a:pt x="14883" y="14883"/>
                </a:cubicBezTo>
                <a:cubicBezTo>
                  <a:pt x="6651" y="14883"/>
                  <a:pt x="0" y="21534"/>
                  <a:pt x="0" y="29766"/>
                </a:cubicBezTo>
                <a:lnTo>
                  <a:pt x="0" y="186035"/>
                </a:lnTo>
                <a:cubicBezTo>
                  <a:pt x="0" y="206592"/>
                  <a:pt x="16650" y="223242"/>
                  <a:pt x="37207" y="223242"/>
                </a:cubicBezTo>
                <a:lnTo>
                  <a:pt x="223242" y="223242"/>
                </a:lnTo>
                <a:cubicBezTo>
                  <a:pt x="231474" y="223242"/>
                  <a:pt x="238125" y="216591"/>
                  <a:pt x="238125" y="208359"/>
                </a:cubicBezTo>
                <a:cubicBezTo>
                  <a:pt x="238125" y="200127"/>
                  <a:pt x="231474" y="193477"/>
                  <a:pt x="223242" y="193477"/>
                </a:cubicBezTo>
                <a:lnTo>
                  <a:pt x="37207" y="193477"/>
                </a:lnTo>
                <a:cubicBezTo>
                  <a:pt x="33114" y="193477"/>
                  <a:pt x="29766" y="190128"/>
                  <a:pt x="29766" y="186035"/>
                </a:cubicBezTo>
                <a:lnTo>
                  <a:pt x="29766" y="29766"/>
                </a:lnTo>
                <a:close/>
                <a:moveTo>
                  <a:pt x="218870" y="70042"/>
                </a:moveTo>
                <a:cubicBezTo>
                  <a:pt x="224684" y="64229"/>
                  <a:pt x="224684" y="54787"/>
                  <a:pt x="218870" y="48974"/>
                </a:cubicBezTo>
                <a:cubicBezTo>
                  <a:pt x="213057" y="43160"/>
                  <a:pt x="203615" y="43160"/>
                  <a:pt x="197802" y="48974"/>
                </a:cubicBezTo>
                <a:lnTo>
                  <a:pt x="148828" y="97994"/>
                </a:lnTo>
                <a:lnTo>
                  <a:pt x="122132" y="71344"/>
                </a:lnTo>
                <a:cubicBezTo>
                  <a:pt x="116318" y="65531"/>
                  <a:pt x="106877" y="65531"/>
                  <a:pt x="101064" y="71344"/>
                </a:cubicBezTo>
                <a:lnTo>
                  <a:pt x="56415" y="115993"/>
                </a:lnTo>
                <a:cubicBezTo>
                  <a:pt x="50602" y="121807"/>
                  <a:pt x="50602" y="131248"/>
                  <a:pt x="56415" y="137061"/>
                </a:cubicBezTo>
                <a:cubicBezTo>
                  <a:pt x="62229" y="142875"/>
                  <a:pt x="71670" y="142875"/>
                  <a:pt x="77484" y="137061"/>
                </a:cubicBezTo>
                <a:lnTo>
                  <a:pt x="111621" y="102924"/>
                </a:lnTo>
                <a:lnTo>
                  <a:pt x="138317" y="129620"/>
                </a:lnTo>
                <a:cubicBezTo>
                  <a:pt x="144131" y="135434"/>
                  <a:pt x="153572" y="135434"/>
                  <a:pt x="159386" y="129620"/>
                </a:cubicBezTo>
                <a:lnTo>
                  <a:pt x="218917" y="70089"/>
                </a:lnTo>
                <a:close/>
              </a:path>
            </a:pathLst>
          </a:custGeom>
          <a:solidFill>
            <a:srgbClr val="1A3A52"/>
          </a:solidFill>
          <a:ln/>
        </p:spPr>
      </p:sp>
      <p:sp>
        <p:nvSpPr>
          <p:cNvPr id="38" name="Text 7">
            <a:extLst>
              <a:ext uri="{FF2B5EF4-FFF2-40B4-BE49-F238E27FC236}">
                <a16:creationId xmlns:a16="http://schemas.microsoft.com/office/drawing/2014/main" id="{BE47B1E4-B20F-DCC1-19CC-931C0756337C}"/>
              </a:ext>
            </a:extLst>
          </p:cNvPr>
          <p:cNvSpPr/>
          <p:nvPr/>
        </p:nvSpPr>
        <p:spPr>
          <a:xfrm>
            <a:off x="8694450" y="1211794"/>
            <a:ext cx="936625" cy="222250"/>
          </a:xfrm>
          <a:prstGeom prst="rect">
            <a:avLst/>
          </a:prstGeom>
          <a:noFill/>
          <a:ln/>
        </p:spPr>
        <p:txBody>
          <a:bodyPr wrap="square" lIns="0" tIns="0" rIns="0" bIns="0" rtlCol="0" anchor="ctr"/>
          <a:lstStyle/>
          <a:p>
            <a:pPr>
              <a:lnSpc>
                <a:spcPct val="120000"/>
              </a:lnSpc>
            </a:pPr>
            <a:r>
              <a:rPr lang="en-US" sz="1250" b="1" dirty="0">
                <a:solidFill>
                  <a:srgbClr val="1A3A52"/>
                </a:solidFill>
                <a:latin typeface="Liter" pitchFamily="34" charset="0"/>
                <a:ea typeface="Liter" pitchFamily="34" charset="-122"/>
                <a:cs typeface="Liter" pitchFamily="34" charset="-120"/>
              </a:rPr>
              <a:t>Test Results</a:t>
            </a:r>
            <a:endParaRPr lang="en-US" sz="1600" dirty="0"/>
          </a:p>
        </p:txBody>
      </p:sp>
      <p:sp>
        <p:nvSpPr>
          <p:cNvPr id="41" name="Shape 9">
            <a:extLst>
              <a:ext uri="{FF2B5EF4-FFF2-40B4-BE49-F238E27FC236}">
                <a16:creationId xmlns:a16="http://schemas.microsoft.com/office/drawing/2014/main" id="{5DD1783F-921C-638D-2C3D-91652420B69B}"/>
              </a:ext>
            </a:extLst>
          </p:cNvPr>
          <p:cNvSpPr/>
          <p:nvPr/>
        </p:nvSpPr>
        <p:spPr>
          <a:xfrm>
            <a:off x="8365044" y="1691084"/>
            <a:ext cx="127000" cy="127000"/>
          </a:xfrm>
          <a:custGeom>
            <a:avLst/>
            <a:gdLst/>
            <a:ahLst/>
            <a:cxnLst/>
            <a:rect l="l" t="t" r="r" b="b"/>
            <a:pathLst>
              <a:path w="127000" h="127000">
                <a:moveTo>
                  <a:pt x="63500" y="0"/>
                </a:moveTo>
                <a:cubicBezTo>
                  <a:pt x="67146" y="0"/>
                  <a:pt x="70495" y="2009"/>
                  <a:pt x="72231" y="5209"/>
                </a:cubicBezTo>
                <a:lnTo>
                  <a:pt x="125809" y="104428"/>
                </a:lnTo>
                <a:cubicBezTo>
                  <a:pt x="127471" y="107504"/>
                  <a:pt x="127397" y="111224"/>
                  <a:pt x="125611" y="114226"/>
                </a:cubicBezTo>
                <a:cubicBezTo>
                  <a:pt x="123825" y="117227"/>
                  <a:pt x="120576" y="119063"/>
                  <a:pt x="117078" y="119063"/>
                </a:cubicBezTo>
                <a:lnTo>
                  <a:pt x="9922" y="119063"/>
                </a:lnTo>
                <a:cubicBezTo>
                  <a:pt x="6424" y="119063"/>
                  <a:pt x="3200" y="117227"/>
                  <a:pt x="1389" y="114226"/>
                </a:cubicBezTo>
                <a:cubicBezTo>
                  <a:pt x="-422" y="111224"/>
                  <a:pt x="-471" y="107504"/>
                  <a:pt x="1191" y="104428"/>
                </a:cubicBezTo>
                <a:lnTo>
                  <a:pt x="54769" y="5209"/>
                </a:lnTo>
                <a:cubicBezTo>
                  <a:pt x="56505" y="2009"/>
                  <a:pt x="59854" y="0"/>
                  <a:pt x="63500" y="0"/>
                </a:cubicBezTo>
                <a:close/>
                <a:moveTo>
                  <a:pt x="63500" y="41672"/>
                </a:moveTo>
                <a:cubicBezTo>
                  <a:pt x="60201" y="41672"/>
                  <a:pt x="57547" y="44326"/>
                  <a:pt x="57547" y="47625"/>
                </a:cubicBezTo>
                <a:lnTo>
                  <a:pt x="57547" y="75406"/>
                </a:lnTo>
                <a:cubicBezTo>
                  <a:pt x="57547" y="78705"/>
                  <a:pt x="60201" y="81359"/>
                  <a:pt x="63500" y="81359"/>
                </a:cubicBezTo>
                <a:cubicBezTo>
                  <a:pt x="66799" y="81359"/>
                  <a:pt x="69453" y="78705"/>
                  <a:pt x="69453" y="75406"/>
                </a:cubicBezTo>
                <a:lnTo>
                  <a:pt x="69453" y="47625"/>
                </a:lnTo>
                <a:cubicBezTo>
                  <a:pt x="69453" y="44326"/>
                  <a:pt x="66799" y="41672"/>
                  <a:pt x="63500" y="41672"/>
                </a:cubicBezTo>
                <a:close/>
                <a:moveTo>
                  <a:pt x="70123" y="95250"/>
                </a:moveTo>
                <a:cubicBezTo>
                  <a:pt x="70274" y="92792"/>
                  <a:pt x="69048" y="90453"/>
                  <a:pt x="66940" y="89178"/>
                </a:cubicBezTo>
                <a:cubicBezTo>
                  <a:pt x="64833" y="87903"/>
                  <a:pt x="62192" y="87903"/>
                  <a:pt x="60085" y="89178"/>
                </a:cubicBezTo>
                <a:cubicBezTo>
                  <a:pt x="57977" y="90453"/>
                  <a:pt x="56751" y="92792"/>
                  <a:pt x="56902" y="95250"/>
                </a:cubicBezTo>
                <a:cubicBezTo>
                  <a:pt x="56751" y="97708"/>
                  <a:pt x="57977" y="100047"/>
                  <a:pt x="60085" y="101322"/>
                </a:cubicBezTo>
                <a:cubicBezTo>
                  <a:pt x="62192" y="102597"/>
                  <a:pt x="64833" y="102597"/>
                  <a:pt x="66940" y="101322"/>
                </a:cubicBezTo>
                <a:cubicBezTo>
                  <a:pt x="69048" y="100047"/>
                  <a:pt x="70274" y="97708"/>
                  <a:pt x="70123" y="95250"/>
                </a:cubicBezTo>
                <a:close/>
              </a:path>
            </a:pathLst>
          </a:custGeom>
          <a:solidFill>
            <a:srgbClr val="E7000B"/>
          </a:solidFill>
          <a:ln/>
        </p:spPr>
      </p:sp>
      <p:sp>
        <p:nvSpPr>
          <p:cNvPr id="42" name="Text 10">
            <a:extLst>
              <a:ext uri="{FF2B5EF4-FFF2-40B4-BE49-F238E27FC236}">
                <a16:creationId xmlns:a16="http://schemas.microsoft.com/office/drawing/2014/main" id="{96B68140-4854-9586-9213-E48E37B42227}"/>
              </a:ext>
            </a:extLst>
          </p:cNvPr>
          <p:cNvSpPr/>
          <p:nvPr/>
        </p:nvSpPr>
        <p:spPr>
          <a:xfrm>
            <a:off x="8571419" y="1659334"/>
            <a:ext cx="896938" cy="190500"/>
          </a:xfrm>
          <a:prstGeom prst="rect">
            <a:avLst/>
          </a:prstGeom>
          <a:noFill/>
          <a:ln/>
        </p:spPr>
        <p:txBody>
          <a:bodyPr wrap="square" lIns="0" tIns="0" rIns="0" bIns="0" rtlCol="0" anchor="ctr"/>
          <a:lstStyle/>
          <a:p>
            <a:pPr>
              <a:lnSpc>
                <a:spcPct val="130000"/>
              </a:lnSpc>
            </a:pPr>
            <a:r>
              <a:rPr lang="en-US" sz="1000" b="1" dirty="0">
                <a:solidFill>
                  <a:srgbClr val="C10007"/>
                </a:solidFill>
                <a:latin typeface="Liter" pitchFamily="34" charset="0"/>
                <a:ea typeface="Liter" pitchFamily="34" charset="-122"/>
                <a:cs typeface="Liter" pitchFamily="34" charset="-120"/>
              </a:rPr>
              <a:t>TEST 1 FAILED</a:t>
            </a:r>
            <a:endParaRPr lang="en-US" sz="1600" dirty="0"/>
          </a:p>
        </p:txBody>
      </p:sp>
      <p:sp>
        <p:nvSpPr>
          <p:cNvPr id="46" name="Shape 17">
            <a:extLst>
              <a:ext uri="{FF2B5EF4-FFF2-40B4-BE49-F238E27FC236}">
                <a16:creationId xmlns:a16="http://schemas.microsoft.com/office/drawing/2014/main" id="{3E43492E-7993-F21B-F46D-B32FCB48E77A}"/>
              </a:ext>
            </a:extLst>
          </p:cNvPr>
          <p:cNvSpPr/>
          <p:nvPr/>
        </p:nvSpPr>
        <p:spPr>
          <a:xfrm>
            <a:off x="8255000" y="3781319"/>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C5A56A"/>
          </a:solidFill>
          <a:ln/>
        </p:spPr>
        <p:txBody>
          <a:bodyPr/>
          <a:lstStyle/>
          <a:p>
            <a:endParaRPr lang="en-IN" dirty="0"/>
          </a:p>
        </p:txBody>
      </p:sp>
      <p:sp>
        <p:nvSpPr>
          <p:cNvPr id="47" name="Text 18">
            <a:extLst>
              <a:ext uri="{FF2B5EF4-FFF2-40B4-BE49-F238E27FC236}">
                <a16:creationId xmlns:a16="http://schemas.microsoft.com/office/drawing/2014/main" id="{6CAFEA47-D25D-0FB6-2901-7C0DB16FBF91}"/>
              </a:ext>
            </a:extLst>
          </p:cNvPr>
          <p:cNvSpPr/>
          <p:nvPr/>
        </p:nvSpPr>
        <p:spPr>
          <a:xfrm>
            <a:off x="8540750" y="3765444"/>
            <a:ext cx="1039812" cy="222250"/>
          </a:xfrm>
          <a:prstGeom prst="rect">
            <a:avLst/>
          </a:prstGeom>
          <a:noFill/>
          <a:ln/>
        </p:spPr>
        <p:txBody>
          <a:bodyPr wrap="square" lIns="0" tIns="0" rIns="0" bIns="0" rtlCol="0" anchor="ctr"/>
          <a:lstStyle/>
          <a:p>
            <a:pPr>
              <a:lnSpc>
                <a:spcPct val="130000"/>
              </a:lnSpc>
            </a:pPr>
            <a:r>
              <a:rPr lang="en-US" sz="1125" b="1" dirty="0">
                <a:solidFill>
                  <a:srgbClr val="1A3A52"/>
                </a:solidFill>
                <a:latin typeface="Liter" pitchFamily="34" charset="0"/>
                <a:ea typeface="Liter" pitchFamily="34" charset="-122"/>
                <a:cs typeface="Liter" pitchFamily="34" charset="-120"/>
              </a:rPr>
              <a:t>Chart Statistics</a:t>
            </a:r>
            <a:endParaRPr lang="en-US" sz="1600" dirty="0"/>
          </a:p>
        </p:txBody>
      </p:sp>
      <p:sp>
        <p:nvSpPr>
          <p:cNvPr id="64" name="Text 19">
            <a:extLst>
              <a:ext uri="{FF2B5EF4-FFF2-40B4-BE49-F238E27FC236}">
                <a16:creationId xmlns:a16="http://schemas.microsoft.com/office/drawing/2014/main" id="{BDBBBFFC-A155-CFD7-5F8E-3D694B42C5D8}"/>
              </a:ext>
            </a:extLst>
          </p:cNvPr>
          <p:cNvSpPr/>
          <p:nvPr/>
        </p:nvSpPr>
        <p:spPr>
          <a:xfrm>
            <a:off x="8250119" y="4125072"/>
            <a:ext cx="992188" cy="190500"/>
          </a:xfrm>
          <a:prstGeom prst="rect">
            <a:avLst/>
          </a:prstGeom>
          <a:noFill/>
          <a:ln/>
        </p:spPr>
        <p:txBody>
          <a:bodyPr wrap="square" lIns="0" tIns="0" rIns="0" bIns="0" rtlCol="0" anchor="ctr"/>
          <a:lstStyle/>
          <a:p>
            <a:pPr>
              <a:lnSpc>
                <a:spcPct val="130000"/>
              </a:lnSpc>
            </a:pPr>
            <a:r>
              <a:rPr lang="en-US" sz="1000" dirty="0">
                <a:solidFill>
                  <a:srgbClr val="5E7A91"/>
                </a:solidFill>
                <a:latin typeface="Liter" pitchFamily="34" charset="0"/>
                <a:ea typeface="Liter" pitchFamily="34" charset="-122"/>
                <a:cs typeface="Liter" pitchFamily="34" charset="-120"/>
              </a:rPr>
              <a:t>Center Line (CL)</a:t>
            </a:r>
            <a:endParaRPr lang="en-US" sz="1600" dirty="0"/>
          </a:p>
        </p:txBody>
      </p:sp>
      <p:sp>
        <p:nvSpPr>
          <p:cNvPr id="65" name="Text 20">
            <a:extLst>
              <a:ext uri="{FF2B5EF4-FFF2-40B4-BE49-F238E27FC236}">
                <a16:creationId xmlns:a16="http://schemas.microsoft.com/office/drawing/2014/main" id="{203D78A2-6C6C-364A-9102-211986C39AA1}"/>
              </a:ext>
            </a:extLst>
          </p:cNvPr>
          <p:cNvSpPr/>
          <p:nvPr/>
        </p:nvSpPr>
        <p:spPr>
          <a:xfrm>
            <a:off x="11456869" y="4109197"/>
            <a:ext cx="301625" cy="222250"/>
          </a:xfrm>
          <a:prstGeom prst="rect">
            <a:avLst/>
          </a:prstGeom>
          <a:noFill/>
          <a:ln/>
        </p:spPr>
        <p:txBody>
          <a:bodyPr wrap="square" lIns="0" tIns="0" rIns="0" bIns="0" rtlCol="0" anchor="ctr"/>
          <a:lstStyle/>
          <a:p>
            <a:pPr>
              <a:lnSpc>
                <a:spcPct val="120000"/>
              </a:lnSpc>
            </a:pPr>
            <a:r>
              <a:rPr lang="en-US" sz="1250" b="1" dirty="0">
                <a:solidFill>
                  <a:srgbClr val="1A3A52"/>
                </a:solidFill>
                <a:latin typeface="Liter" pitchFamily="34" charset="0"/>
                <a:ea typeface="Liter" pitchFamily="34" charset="-122"/>
                <a:cs typeface="Liter" pitchFamily="34" charset="-120"/>
              </a:rPr>
              <a:t>4.2</a:t>
            </a:r>
            <a:endParaRPr lang="en-US" sz="1600" dirty="0"/>
          </a:p>
        </p:txBody>
      </p:sp>
      <p:sp>
        <p:nvSpPr>
          <p:cNvPr id="66" name="Text 21">
            <a:extLst>
              <a:ext uri="{FF2B5EF4-FFF2-40B4-BE49-F238E27FC236}">
                <a16:creationId xmlns:a16="http://schemas.microsoft.com/office/drawing/2014/main" id="{84A9F133-C55C-4821-53D8-EFF22CF486AF}"/>
              </a:ext>
            </a:extLst>
          </p:cNvPr>
          <p:cNvSpPr/>
          <p:nvPr/>
        </p:nvSpPr>
        <p:spPr>
          <a:xfrm>
            <a:off x="8250119" y="4410822"/>
            <a:ext cx="1158875" cy="190500"/>
          </a:xfrm>
          <a:prstGeom prst="rect">
            <a:avLst/>
          </a:prstGeom>
          <a:noFill/>
          <a:ln/>
        </p:spPr>
        <p:txBody>
          <a:bodyPr wrap="square" lIns="0" tIns="0" rIns="0" bIns="0" rtlCol="0" anchor="ctr"/>
          <a:lstStyle/>
          <a:p>
            <a:pPr>
              <a:lnSpc>
                <a:spcPct val="130000"/>
              </a:lnSpc>
            </a:pPr>
            <a:r>
              <a:rPr lang="en-US" sz="1000" dirty="0">
                <a:solidFill>
                  <a:srgbClr val="5E7A91"/>
                </a:solidFill>
                <a:latin typeface="Liter" pitchFamily="34" charset="0"/>
                <a:ea typeface="Liter" pitchFamily="34" charset="-122"/>
                <a:cs typeface="Liter" pitchFamily="34" charset="-120"/>
              </a:rPr>
              <a:t>Upper Control Limit</a:t>
            </a:r>
            <a:endParaRPr lang="en-US" sz="1600" dirty="0"/>
          </a:p>
        </p:txBody>
      </p:sp>
      <p:sp>
        <p:nvSpPr>
          <p:cNvPr id="67" name="Text 22">
            <a:extLst>
              <a:ext uri="{FF2B5EF4-FFF2-40B4-BE49-F238E27FC236}">
                <a16:creationId xmlns:a16="http://schemas.microsoft.com/office/drawing/2014/main" id="{06F2D038-68A2-BD76-5EFF-E796284A202E}"/>
              </a:ext>
            </a:extLst>
          </p:cNvPr>
          <p:cNvSpPr/>
          <p:nvPr/>
        </p:nvSpPr>
        <p:spPr>
          <a:xfrm>
            <a:off x="11450172" y="4394947"/>
            <a:ext cx="309563" cy="222250"/>
          </a:xfrm>
          <a:prstGeom prst="rect">
            <a:avLst/>
          </a:prstGeom>
          <a:noFill/>
          <a:ln/>
        </p:spPr>
        <p:txBody>
          <a:bodyPr wrap="square" lIns="0" tIns="0" rIns="0" bIns="0" rtlCol="0" anchor="ctr"/>
          <a:lstStyle/>
          <a:p>
            <a:pPr>
              <a:lnSpc>
                <a:spcPct val="120000"/>
              </a:lnSpc>
            </a:pPr>
            <a:r>
              <a:rPr lang="en-US" sz="1250" b="1" dirty="0">
                <a:solidFill>
                  <a:srgbClr val="C5A56A"/>
                </a:solidFill>
                <a:latin typeface="Liter" pitchFamily="34" charset="0"/>
                <a:ea typeface="Liter" pitchFamily="34" charset="-122"/>
                <a:cs typeface="Liter" pitchFamily="34" charset="-120"/>
              </a:rPr>
              <a:t>9.8</a:t>
            </a:r>
            <a:endParaRPr lang="en-US" sz="1600" dirty="0"/>
          </a:p>
        </p:txBody>
      </p:sp>
      <p:sp>
        <p:nvSpPr>
          <p:cNvPr id="68" name="Text 23">
            <a:extLst>
              <a:ext uri="{FF2B5EF4-FFF2-40B4-BE49-F238E27FC236}">
                <a16:creationId xmlns:a16="http://schemas.microsoft.com/office/drawing/2014/main" id="{9BBF79F8-1D48-BA18-40CC-6F4C433BEFB1}"/>
              </a:ext>
            </a:extLst>
          </p:cNvPr>
          <p:cNvSpPr/>
          <p:nvPr/>
        </p:nvSpPr>
        <p:spPr>
          <a:xfrm>
            <a:off x="8250119" y="4696572"/>
            <a:ext cx="1158875" cy="190500"/>
          </a:xfrm>
          <a:prstGeom prst="rect">
            <a:avLst/>
          </a:prstGeom>
          <a:noFill/>
          <a:ln/>
        </p:spPr>
        <p:txBody>
          <a:bodyPr wrap="square" lIns="0" tIns="0" rIns="0" bIns="0" rtlCol="0" anchor="ctr"/>
          <a:lstStyle/>
          <a:p>
            <a:pPr>
              <a:lnSpc>
                <a:spcPct val="130000"/>
              </a:lnSpc>
            </a:pPr>
            <a:r>
              <a:rPr lang="en-US" sz="1000" dirty="0">
                <a:solidFill>
                  <a:srgbClr val="5E7A91"/>
                </a:solidFill>
                <a:latin typeface="Liter" pitchFamily="34" charset="0"/>
                <a:ea typeface="Liter" pitchFamily="34" charset="-122"/>
                <a:cs typeface="Liter" pitchFamily="34" charset="-120"/>
              </a:rPr>
              <a:t>Lower Control Limit</a:t>
            </a:r>
            <a:endParaRPr lang="en-US" sz="1600" dirty="0"/>
          </a:p>
        </p:txBody>
      </p:sp>
      <p:sp>
        <p:nvSpPr>
          <p:cNvPr id="69" name="Text 24">
            <a:extLst>
              <a:ext uri="{FF2B5EF4-FFF2-40B4-BE49-F238E27FC236}">
                <a16:creationId xmlns:a16="http://schemas.microsoft.com/office/drawing/2014/main" id="{6F4D2126-0D33-61AD-DC4C-61E696D03CA7}"/>
              </a:ext>
            </a:extLst>
          </p:cNvPr>
          <p:cNvSpPr/>
          <p:nvPr/>
        </p:nvSpPr>
        <p:spPr>
          <a:xfrm>
            <a:off x="11577834" y="4680697"/>
            <a:ext cx="182563" cy="222250"/>
          </a:xfrm>
          <a:prstGeom prst="rect">
            <a:avLst/>
          </a:prstGeom>
          <a:noFill/>
          <a:ln/>
        </p:spPr>
        <p:txBody>
          <a:bodyPr wrap="square" lIns="0" tIns="0" rIns="0" bIns="0" rtlCol="0" anchor="ctr"/>
          <a:lstStyle/>
          <a:p>
            <a:pPr>
              <a:lnSpc>
                <a:spcPct val="120000"/>
              </a:lnSpc>
            </a:pPr>
            <a:r>
              <a:rPr lang="en-US" sz="1250" b="1" dirty="0">
                <a:solidFill>
                  <a:srgbClr val="5E7A91"/>
                </a:solidFill>
                <a:latin typeface="Liter" pitchFamily="34" charset="0"/>
                <a:ea typeface="Liter" pitchFamily="34" charset="-122"/>
                <a:cs typeface="Liter" pitchFamily="34" charset="-120"/>
              </a:rPr>
              <a:t>0</a:t>
            </a:r>
            <a:endParaRPr lang="en-US" sz="1600" dirty="0"/>
          </a:p>
        </p:txBody>
      </p:sp>
      <p:sp>
        <p:nvSpPr>
          <p:cNvPr id="70" name="Text 26">
            <a:extLst>
              <a:ext uri="{FF2B5EF4-FFF2-40B4-BE49-F238E27FC236}">
                <a16:creationId xmlns:a16="http://schemas.microsoft.com/office/drawing/2014/main" id="{F8E8EEFB-EA4A-C6CE-E1BD-F5B5465D3C3A}"/>
              </a:ext>
            </a:extLst>
          </p:cNvPr>
          <p:cNvSpPr/>
          <p:nvPr/>
        </p:nvSpPr>
        <p:spPr>
          <a:xfrm>
            <a:off x="8250119" y="4993717"/>
            <a:ext cx="746125" cy="190500"/>
          </a:xfrm>
          <a:prstGeom prst="rect">
            <a:avLst/>
          </a:prstGeom>
          <a:noFill/>
          <a:ln/>
        </p:spPr>
        <p:txBody>
          <a:bodyPr wrap="square" lIns="0" tIns="0" rIns="0" bIns="0" rtlCol="0" anchor="ctr"/>
          <a:lstStyle/>
          <a:p>
            <a:pPr>
              <a:lnSpc>
                <a:spcPct val="130000"/>
              </a:lnSpc>
            </a:pPr>
            <a:r>
              <a:rPr lang="en-US" sz="1000" dirty="0">
                <a:solidFill>
                  <a:srgbClr val="5E7A91"/>
                </a:solidFill>
                <a:latin typeface="Liter" pitchFamily="34" charset="0"/>
                <a:ea typeface="Liter" pitchFamily="34" charset="-122"/>
                <a:cs typeface="Liter" pitchFamily="34" charset="-120"/>
              </a:rPr>
              <a:t>Sigma Level</a:t>
            </a:r>
            <a:endParaRPr lang="en-US" sz="1600" dirty="0"/>
          </a:p>
        </p:txBody>
      </p:sp>
      <p:sp>
        <p:nvSpPr>
          <p:cNvPr id="71" name="Text 27">
            <a:extLst>
              <a:ext uri="{FF2B5EF4-FFF2-40B4-BE49-F238E27FC236}">
                <a16:creationId xmlns:a16="http://schemas.microsoft.com/office/drawing/2014/main" id="{8F558DAE-5EF8-8BA6-628E-273986D4D1C4}"/>
              </a:ext>
            </a:extLst>
          </p:cNvPr>
          <p:cNvSpPr/>
          <p:nvPr/>
        </p:nvSpPr>
        <p:spPr>
          <a:xfrm>
            <a:off x="11400150" y="4984750"/>
            <a:ext cx="357188" cy="222250"/>
          </a:xfrm>
          <a:prstGeom prst="rect">
            <a:avLst/>
          </a:prstGeom>
          <a:noFill/>
          <a:ln/>
        </p:spPr>
        <p:txBody>
          <a:bodyPr wrap="square" lIns="0" tIns="0" rIns="0" bIns="0" rtlCol="0" anchor="ctr"/>
          <a:lstStyle/>
          <a:p>
            <a:pPr>
              <a:lnSpc>
                <a:spcPct val="120000"/>
              </a:lnSpc>
            </a:pPr>
            <a:r>
              <a:rPr lang="en-US" sz="1250" b="1" dirty="0">
                <a:solidFill>
                  <a:srgbClr val="1A3A52"/>
                </a:solidFill>
                <a:latin typeface="Liter" pitchFamily="34" charset="0"/>
                <a:ea typeface="Liter" pitchFamily="34" charset="-122"/>
                <a:cs typeface="Liter" pitchFamily="34" charset="-120"/>
              </a:rPr>
              <a:t>±3σ</a:t>
            </a:r>
            <a:endParaRPr lang="en-US" sz="1600" dirty="0"/>
          </a:p>
        </p:txBody>
      </p:sp>
      <p:sp>
        <p:nvSpPr>
          <p:cNvPr id="72" name="Shape 29">
            <a:extLst>
              <a:ext uri="{FF2B5EF4-FFF2-40B4-BE49-F238E27FC236}">
                <a16:creationId xmlns:a16="http://schemas.microsoft.com/office/drawing/2014/main" id="{E53DC19B-EED7-725F-465B-39A91C5E35A7}"/>
              </a:ext>
            </a:extLst>
          </p:cNvPr>
          <p:cNvSpPr/>
          <p:nvPr/>
        </p:nvSpPr>
        <p:spPr>
          <a:xfrm>
            <a:off x="8208203" y="5663788"/>
            <a:ext cx="95250" cy="127000"/>
          </a:xfrm>
          <a:custGeom>
            <a:avLst/>
            <a:gdLst/>
            <a:ahLst/>
            <a:cxnLst/>
            <a:rect l="l" t="t" r="r" b="b"/>
            <a:pathLst>
              <a:path w="95250" h="127000">
                <a:moveTo>
                  <a:pt x="72653" y="95250"/>
                </a:moveTo>
                <a:cubicBezTo>
                  <a:pt x="74464" y="89719"/>
                  <a:pt x="78085" y="84708"/>
                  <a:pt x="82178" y="80392"/>
                </a:cubicBezTo>
                <a:cubicBezTo>
                  <a:pt x="90289" y="71859"/>
                  <a:pt x="95250" y="60325"/>
                  <a:pt x="95250" y="47625"/>
                </a:cubicBezTo>
                <a:cubicBezTo>
                  <a:pt x="95250" y="21332"/>
                  <a:pt x="73918" y="0"/>
                  <a:pt x="47625" y="0"/>
                </a:cubicBezTo>
                <a:cubicBezTo>
                  <a:pt x="21332" y="0"/>
                  <a:pt x="0" y="21332"/>
                  <a:pt x="0" y="47625"/>
                </a:cubicBezTo>
                <a:cubicBezTo>
                  <a:pt x="0" y="60325"/>
                  <a:pt x="4961" y="71859"/>
                  <a:pt x="13072" y="80392"/>
                </a:cubicBezTo>
                <a:cubicBezTo>
                  <a:pt x="17165" y="84708"/>
                  <a:pt x="20811" y="89719"/>
                  <a:pt x="22597" y="95250"/>
                </a:cubicBezTo>
                <a:lnTo>
                  <a:pt x="72628" y="95250"/>
                </a:lnTo>
                <a:close/>
                <a:moveTo>
                  <a:pt x="71438" y="107156"/>
                </a:moveTo>
                <a:lnTo>
                  <a:pt x="23812" y="107156"/>
                </a:lnTo>
                <a:lnTo>
                  <a:pt x="23812" y="111125"/>
                </a:lnTo>
                <a:cubicBezTo>
                  <a:pt x="23812" y="122089"/>
                  <a:pt x="32693" y="130969"/>
                  <a:pt x="43656" y="130969"/>
                </a:cubicBezTo>
                <a:lnTo>
                  <a:pt x="51594" y="130969"/>
                </a:lnTo>
                <a:cubicBezTo>
                  <a:pt x="62557" y="130969"/>
                  <a:pt x="71438" y="122089"/>
                  <a:pt x="71438" y="111125"/>
                </a:cubicBezTo>
                <a:lnTo>
                  <a:pt x="71438" y="107156"/>
                </a:lnTo>
                <a:close/>
                <a:moveTo>
                  <a:pt x="45641" y="27781"/>
                </a:moveTo>
                <a:cubicBezTo>
                  <a:pt x="35768" y="27781"/>
                  <a:pt x="27781" y="35768"/>
                  <a:pt x="27781" y="45641"/>
                </a:cubicBezTo>
                <a:cubicBezTo>
                  <a:pt x="27781" y="48940"/>
                  <a:pt x="25127" y="51594"/>
                  <a:pt x="21828" y="51594"/>
                </a:cubicBezTo>
                <a:cubicBezTo>
                  <a:pt x="18529" y="51594"/>
                  <a:pt x="15875" y="48940"/>
                  <a:pt x="15875" y="45641"/>
                </a:cubicBezTo>
                <a:cubicBezTo>
                  <a:pt x="15875" y="29195"/>
                  <a:pt x="29195" y="15875"/>
                  <a:pt x="45641" y="15875"/>
                </a:cubicBezTo>
                <a:cubicBezTo>
                  <a:pt x="48940" y="15875"/>
                  <a:pt x="51594" y="18529"/>
                  <a:pt x="51594" y="21828"/>
                </a:cubicBezTo>
                <a:cubicBezTo>
                  <a:pt x="51594" y="25127"/>
                  <a:pt x="48940" y="27781"/>
                  <a:pt x="45641" y="27781"/>
                </a:cubicBezTo>
                <a:close/>
              </a:path>
            </a:pathLst>
          </a:custGeom>
          <a:solidFill>
            <a:srgbClr val="C5A56A"/>
          </a:solidFill>
          <a:ln/>
        </p:spPr>
      </p:sp>
      <p:sp>
        <p:nvSpPr>
          <p:cNvPr id="73" name="Text 30">
            <a:extLst>
              <a:ext uri="{FF2B5EF4-FFF2-40B4-BE49-F238E27FC236}">
                <a16:creationId xmlns:a16="http://schemas.microsoft.com/office/drawing/2014/main" id="{C372E73C-FF3A-CD5A-F799-CBD5A9C15300}"/>
              </a:ext>
            </a:extLst>
          </p:cNvPr>
          <p:cNvSpPr/>
          <p:nvPr/>
        </p:nvSpPr>
        <p:spPr>
          <a:xfrm>
            <a:off x="8398703" y="5632038"/>
            <a:ext cx="82550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Liter" pitchFamily="34" charset="0"/>
                <a:ea typeface="Liter" pitchFamily="34" charset="-122"/>
                <a:cs typeface="Liter" pitchFamily="34" charset="-120"/>
              </a:rPr>
              <a:t>Interpretation</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19371" y="319371"/>
            <a:ext cx="11617132" cy="191623"/>
          </a:xfrm>
          <a:prstGeom prst="rect">
            <a:avLst/>
          </a:prstGeom>
          <a:noFill/>
          <a:ln/>
        </p:spPr>
        <p:txBody>
          <a:bodyPr wrap="square" lIns="0" tIns="0" rIns="0" bIns="0" rtlCol="0" anchor="ctr"/>
          <a:lstStyle/>
          <a:p>
            <a:pPr>
              <a:lnSpc>
                <a:spcPct val="130000"/>
              </a:lnSpc>
            </a:pPr>
            <a:r>
              <a:rPr lang="en-US" sz="1006" b="1" kern="0" spc="101" dirty="0">
                <a:solidFill>
                  <a:srgbClr val="C5A56A"/>
                </a:solidFill>
                <a:latin typeface="Liter" pitchFamily="34" charset="0"/>
                <a:ea typeface="Liter" pitchFamily="34" charset="-122"/>
                <a:cs typeface="Liter" pitchFamily="34" charset="-120"/>
              </a:rPr>
              <a:t>Six Sigma Metrics</a:t>
            </a:r>
            <a:endParaRPr lang="en-US" sz="1600" dirty="0"/>
          </a:p>
        </p:txBody>
      </p:sp>
      <p:sp>
        <p:nvSpPr>
          <p:cNvPr id="3" name="Text 1"/>
          <p:cNvSpPr/>
          <p:nvPr/>
        </p:nvSpPr>
        <p:spPr>
          <a:xfrm>
            <a:off x="319371" y="574868"/>
            <a:ext cx="11744880" cy="383246"/>
          </a:xfrm>
          <a:prstGeom prst="rect">
            <a:avLst/>
          </a:prstGeom>
          <a:noFill/>
          <a:ln/>
        </p:spPr>
        <p:txBody>
          <a:bodyPr wrap="square" lIns="0" tIns="0" rIns="0" bIns="0" rtlCol="0" anchor="ctr"/>
          <a:lstStyle/>
          <a:p>
            <a:pPr>
              <a:lnSpc>
                <a:spcPct val="80000"/>
              </a:lnSpc>
            </a:pPr>
            <a:r>
              <a:rPr lang="en-US" sz="3018" b="1" dirty="0">
                <a:solidFill>
                  <a:srgbClr val="1A3A52"/>
                </a:solidFill>
                <a:latin typeface="Liter" pitchFamily="34" charset="0"/>
                <a:ea typeface="Liter" pitchFamily="34" charset="-122"/>
                <a:cs typeface="Liter" pitchFamily="34" charset="-120"/>
              </a:rPr>
              <a:t>DPMO Analysis</a:t>
            </a:r>
            <a:endParaRPr lang="en-US" sz="1600" dirty="0"/>
          </a:p>
        </p:txBody>
      </p:sp>
      <p:sp>
        <p:nvSpPr>
          <p:cNvPr id="4" name="Text 2"/>
          <p:cNvSpPr/>
          <p:nvPr/>
        </p:nvSpPr>
        <p:spPr>
          <a:xfrm>
            <a:off x="319371" y="1021988"/>
            <a:ext cx="11633100" cy="223560"/>
          </a:xfrm>
          <a:prstGeom prst="rect">
            <a:avLst/>
          </a:prstGeom>
          <a:noFill/>
          <a:ln/>
        </p:spPr>
        <p:txBody>
          <a:bodyPr wrap="square" lIns="0" tIns="0" rIns="0" bIns="0" rtlCol="0" anchor="ctr"/>
          <a:lstStyle/>
          <a:p>
            <a:pPr>
              <a:lnSpc>
                <a:spcPct val="120000"/>
              </a:lnSpc>
            </a:pPr>
            <a:r>
              <a:rPr lang="en-US" sz="1257" dirty="0">
                <a:solidFill>
                  <a:srgbClr val="5E7A91"/>
                </a:solidFill>
                <a:latin typeface="Liter" pitchFamily="34" charset="0"/>
                <a:ea typeface="Liter" pitchFamily="34" charset="-122"/>
                <a:cs typeface="Liter" pitchFamily="34" charset="-120"/>
              </a:rPr>
              <a:t>Defects Per Million Opportunities</a:t>
            </a:r>
            <a:endParaRPr lang="en-US" sz="1600" dirty="0"/>
          </a:p>
        </p:txBody>
      </p:sp>
      <p:sp>
        <p:nvSpPr>
          <p:cNvPr id="5" name="Shape 3"/>
          <p:cNvSpPr/>
          <p:nvPr/>
        </p:nvSpPr>
        <p:spPr>
          <a:xfrm>
            <a:off x="319371" y="1341360"/>
            <a:ext cx="766491" cy="31937"/>
          </a:xfrm>
          <a:custGeom>
            <a:avLst/>
            <a:gdLst/>
            <a:ahLst/>
            <a:cxnLst/>
            <a:rect l="l" t="t" r="r" b="b"/>
            <a:pathLst>
              <a:path w="766491" h="31937">
                <a:moveTo>
                  <a:pt x="0" y="0"/>
                </a:moveTo>
                <a:lnTo>
                  <a:pt x="766491" y="0"/>
                </a:lnTo>
                <a:lnTo>
                  <a:pt x="766491" y="31937"/>
                </a:lnTo>
                <a:lnTo>
                  <a:pt x="0" y="31937"/>
                </a:lnTo>
                <a:lnTo>
                  <a:pt x="0" y="0"/>
                </a:lnTo>
                <a:close/>
              </a:path>
            </a:pathLst>
          </a:custGeom>
          <a:solidFill>
            <a:srgbClr val="C5A56A"/>
          </a:solidFill>
          <a:ln/>
        </p:spPr>
      </p:sp>
      <p:sp>
        <p:nvSpPr>
          <p:cNvPr id="6" name="Shape 4"/>
          <p:cNvSpPr/>
          <p:nvPr/>
        </p:nvSpPr>
        <p:spPr>
          <a:xfrm>
            <a:off x="319371" y="1501045"/>
            <a:ext cx="5700778" cy="3369367"/>
          </a:xfrm>
          <a:custGeom>
            <a:avLst/>
            <a:gdLst/>
            <a:ahLst/>
            <a:cxnLst/>
            <a:rect l="l" t="t" r="r" b="b"/>
            <a:pathLst>
              <a:path w="5700778" h="3369367">
                <a:moveTo>
                  <a:pt x="63883" y="0"/>
                </a:moveTo>
                <a:lnTo>
                  <a:pt x="5636895" y="0"/>
                </a:lnTo>
                <a:cubicBezTo>
                  <a:pt x="5672177" y="0"/>
                  <a:pt x="5700778" y="28601"/>
                  <a:pt x="5700778" y="63883"/>
                </a:cubicBezTo>
                <a:lnTo>
                  <a:pt x="5700778" y="3305484"/>
                </a:lnTo>
                <a:cubicBezTo>
                  <a:pt x="5700778" y="3340766"/>
                  <a:pt x="5672177" y="3369367"/>
                  <a:pt x="5636895" y="3369367"/>
                </a:cubicBezTo>
                <a:lnTo>
                  <a:pt x="63883" y="3369367"/>
                </a:lnTo>
                <a:cubicBezTo>
                  <a:pt x="28601" y="3369367"/>
                  <a:pt x="0" y="3340766"/>
                  <a:pt x="0" y="3305484"/>
                </a:cubicBezTo>
                <a:lnTo>
                  <a:pt x="0" y="63883"/>
                </a:lnTo>
                <a:cubicBezTo>
                  <a:pt x="0" y="28625"/>
                  <a:pt x="28625" y="0"/>
                  <a:pt x="63883" y="0"/>
                </a:cubicBezTo>
                <a:close/>
              </a:path>
            </a:pathLst>
          </a:custGeom>
          <a:solidFill>
            <a:srgbClr val="FFFFFF"/>
          </a:solidFill>
          <a:ln/>
          <a:effectLst>
            <a:outerShdw blurRad="119764" dist="79843" dir="5400000" algn="bl" rotWithShape="0">
              <a:srgbClr val="000000">
                <a:alpha val="10196"/>
              </a:srgbClr>
            </a:outerShdw>
          </a:effectLst>
        </p:spPr>
      </p:sp>
      <p:sp>
        <p:nvSpPr>
          <p:cNvPr id="7" name="Shape 5"/>
          <p:cNvSpPr/>
          <p:nvPr/>
        </p:nvSpPr>
        <p:spPr>
          <a:xfrm>
            <a:off x="510994" y="1660731"/>
            <a:ext cx="239528" cy="239528"/>
          </a:xfrm>
          <a:custGeom>
            <a:avLst/>
            <a:gdLst/>
            <a:ahLst/>
            <a:cxnLst/>
            <a:rect l="l" t="t" r="r" b="b"/>
            <a:pathLst>
              <a:path w="239528" h="239528">
                <a:moveTo>
                  <a:pt x="14971" y="14971"/>
                </a:moveTo>
                <a:cubicBezTo>
                  <a:pt x="23251" y="14971"/>
                  <a:pt x="29941" y="21660"/>
                  <a:pt x="29941" y="29941"/>
                </a:cubicBezTo>
                <a:lnTo>
                  <a:pt x="29941" y="187132"/>
                </a:lnTo>
                <a:cubicBezTo>
                  <a:pt x="29941" y="191249"/>
                  <a:pt x="33309" y="194617"/>
                  <a:pt x="37426" y="194617"/>
                </a:cubicBezTo>
                <a:lnTo>
                  <a:pt x="224558" y="194617"/>
                </a:lnTo>
                <a:cubicBezTo>
                  <a:pt x="232839" y="194617"/>
                  <a:pt x="239528" y="201307"/>
                  <a:pt x="239528" y="209587"/>
                </a:cubicBezTo>
                <a:cubicBezTo>
                  <a:pt x="239528" y="217868"/>
                  <a:pt x="232839" y="224558"/>
                  <a:pt x="224558" y="224558"/>
                </a:cubicBezTo>
                <a:lnTo>
                  <a:pt x="37426" y="224558"/>
                </a:lnTo>
                <a:cubicBezTo>
                  <a:pt x="16748" y="224558"/>
                  <a:pt x="0" y="207810"/>
                  <a:pt x="0" y="187132"/>
                </a:cubicBezTo>
                <a:lnTo>
                  <a:pt x="0" y="29941"/>
                </a:lnTo>
                <a:cubicBezTo>
                  <a:pt x="0" y="21660"/>
                  <a:pt x="6690" y="14971"/>
                  <a:pt x="14971" y="14971"/>
                </a:cubicBezTo>
                <a:close/>
                <a:moveTo>
                  <a:pt x="59882" y="44912"/>
                </a:moveTo>
                <a:cubicBezTo>
                  <a:pt x="59882" y="36631"/>
                  <a:pt x="66572" y="29941"/>
                  <a:pt x="74853" y="29941"/>
                </a:cubicBezTo>
                <a:lnTo>
                  <a:pt x="164676" y="29941"/>
                </a:lnTo>
                <a:cubicBezTo>
                  <a:pt x="172956" y="29941"/>
                  <a:pt x="179646" y="36631"/>
                  <a:pt x="179646" y="44912"/>
                </a:cubicBezTo>
                <a:cubicBezTo>
                  <a:pt x="179646" y="53192"/>
                  <a:pt x="172956" y="59882"/>
                  <a:pt x="164676" y="59882"/>
                </a:cubicBezTo>
                <a:lnTo>
                  <a:pt x="74853" y="59882"/>
                </a:lnTo>
                <a:cubicBezTo>
                  <a:pt x="66572" y="59882"/>
                  <a:pt x="59882" y="53192"/>
                  <a:pt x="59882" y="44912"/>
                </a:cubicBezTo>
                <a:close/>
                <a:moveTo>
                  <a:pt x="74853" y="82338"/>
                </a:moveTo>
                <a:lnTo>
                  <a:pt x="134735" y="82338"/>
                </a:lnTo>
                <a:cubicBezTo>
                  <a:pt x="143015" y="82338"/>
                  <a:pt x="149705" y="89028"/>
                  <a:pt x="149705" y="97308"/>
                </a:cubicBezTo>
                <a:cubicBezTo>
                  <a:pt x="149705" y="105589"/>
                  <a:pt x="143015" y="112279"/>
                  <a:pt x="134735" y="112279"/>
                </a:cubicBezTo>
                <a:lnTo>
                  <a:pt x="74853" y="112279"/>
                </a:lnTo>
                <a:cubicBezTo>
                  <a:pt x="66572" y="112279"/>
                  <a:pt x="59882" y="105589"/>
                  <a:pt x="59882" y="97308"/>
                </a:cubicBezTo>
                <a:cubicBezTo>
                  <a:pt x="59882" y="89028"/>
                  <a:pt x="66572" y="82338"/>
                  <a:pt x="74853" y="82338"/>
                </a:cubicBezTo>
                <a:close/>
                <a:moveTo>
                  <a:pt x="74853" y="134735"/>
                </a:moveTo>
                <a:lnTo>
                  <a:pt x="194617" y="134735"/>
                </a:lnTo>
                <a:cubicBezTo>
                  <a:pt x="202897" y="134735"/>
                  <a:pt x="209587" y="141425"/>
                  <a:pt x="209587" y="149705"/>
                </a:cubicBezTo>
                <a:cubicBezTo>
                  <a:pt x="209587" y="157986"/>
                  <a:pt x="202897" y="164676"/>
                  <a:pt x="194617" y="164676"/>
                </a:cubicBezTo>
                <a:lnTo>
                  <a:pt x="74853" y="164676"/>
                </a:lnTo>
                <a:cubicBezTo>
                  <a:pt x="66572" y="164676"/>
                  <a:pt x="59882" y="157986"/>
                  <a:pt x="59882" y="149705"/>
                </a:cubicBezTo>
                <a:cubicBezTo>
                  <a:pt x="59882" y="141425"/>
                  <a:pt x="66572" y="134735"/>
                  <a:pt x="74853" y="134735"/>
                </a:cubicBezTo>
                <a:close/>
              </a:path>
            </a:pathLst>
          </a:custGeom>
          <a:solidFill>
            <a:srgbClr val="1A3A52"/>
          </a:solidFill>
          <a:ln/>
        </p:spPr>
      </p:sp>
      <p:sp>
        <p:nvSpPr>
          <p:cNvPr id="8" name="Text 6"/>
          <p:cNvSpPr/>
          <p:nvPr/>
        </p:nvSpPr>
        <p:spPr>
          <a:xfrm>
            <a:off x="874279" y="1668715"/>
            <a:ext cx="1117800" cy="223560"/>
          </a:xfrm>
          <a:prstGeom prst="rect">
            <a:avLst/>
          </a:prstGeom>
          <a:noFill/>
          <a:ln/>
        </p:spPr>
        <p:txBody>
          <a:bodyPr wrap="square" lIns="0" tIns="0" rIns="0" bIns="0" rtlCol="0" anchor="ctr"/>
          <a:lstStyle/>
          <a:p>
            <a:pPr>
              <a:lnSpc>
                <a:spcPct val="120000"/>
              </a:lnSpc>
            </a:pPr>
            <a:r>
              <a:rPr lang="en-US" sz="1257" b="1" dirty="0">
                <a:solidFill>
                  <a:srgbClr val="1A3A52"/>
                </a:solidFill>
                <a:latin typeface="Liter" pitchFamily="34" charset="0"/>
                <a:ea typeface="Liter" pitchFamily="34" charset="-122"/>
                <a:cs typeface="Liter" pitchFamily="34" charset="-120"/>
              </a:rPr>
              <a:t>DPMO Metrics</a:t>
            </a:r>
            <a:endParaRPr lang="en-US" sz="1600" dirty="0"/>
          </a:p>
        </p:txBody>
      </p:sp>
      <p:sp>
        <p:nvSpPr>
          <p:cNvPr id="9" name="Shape 7"/>
          <p:cNvSpPr/>
          <p:nvPr/>
        </p:nvSpPr>
        <p:spPr>
          <a:xfrm>
            <a:off x="479057" y="2028008"/>
            <a:ext cx="5381407" cy="958114"/>
          </a:xfrm>
          <a:custGeom>
            <a:avLst/>
            <a:gdLst/>
            <a:ahLst/>
            <a:cxnLst/>
            <a:rect l="l" t="t" r="r" b="b"/>
            <a:pathLst>
              <a:path w="5381407" h="958114">
                <a:moveTo>
                  <a:pt x="63877" y="0"/>
                </a:moveTo>
                <a:lnTo>
                  <a:pt x="5317529" y="0"/>
                </a:lnTo>
                <a:cubicBezTo>
                  <a:pt x="5352808" y="0"/>
                  <a:pt x="5381407" y="28599"/>
                  <a:pt x="5381407" y="63877"/>
                </a:cubicBezTo>
                <a:lnTo>
                  <a:pt x="5381407" y="894236"/>
                </a:lnTo>
                <a:cubicBezTo>
                  <a:pt x="5381407" y="929515"/>
                  <a:pt x="5352808" y="958114"/>
                  <a:pt x="5317529" y="958114"/>
                </a:cubicBezTo>
                <a:lnTo>
                  <a:pt x="63877" y="958114"/>
                </a:lnTo>
                <a:cubicBezTo>
                  <a:pt x="28599" y="958114"/>
                  <a:pt x="0" y="929515"/>
                  <a:pt x="0" y="894236"/>
                </a:cubicBezTo>
                <a:lnTo>
                  <a:pt x="0" y="63877"/>
                </a:lnTo>
                <a:cubicBezTo>
                  <a:pt x="0" y="28623"/>
                  <a:pt x="28623" y="0"/>
                  <a:pt x="63877" y="0"/>
                </a:cubicBezTo>
                <a:close/>
              </a:path>
            </a:pathLst>
          </a:custGeom>
          <a:solidFill>
            <a:srgbClr val="1A3A52"/>
          </a:solidFill>
          <a:ln/>
        </p:spPr>
      </p:sp>
      <p:sp>
        <p:nvSpPr>
          <p:cNvPr id="10" name="Text 8"/>
          <p:cNvSpPr/>
          <p:nvPr/>
        </p:nvSpPr>
        <p:spPr>
          <a:xfrm>
            <a:off x="606806" y="2187694"/>
            <a:ext cx="5125910" cy="191623"/>
          </a:xfrm>
          <a:prstGeom prst="rect">
            <a:avLst/>
          </a:prstGeom>
          <a:noFill/>
          <a:ln/>
        </p:spPr>
        <p:txBody>
          <a:bodyPr wrap="square" lIns="0" tIns="0" rIns="0" bIns="0" rtlCol="0" anchor="ctr"/>
          <a:lstStyle/>
          <a:p>
            <a:pPr algn="ctr">
              <a:lnSpc>
                <a:spcPct val="130000"/>
              </a:lnSpc>
            </a:pPr>
            <a:r>
              <a:rPr lang="en-US" sz="1006" dirty="0">
                <a:solidFill>
                  <a:srgbClr val="FFFFFF"/>
                </a:solidFill>
                <a:latin typeface="Liter" pitchFamily="34" charset="0"/>
                <a:ea typeface="Liter" pitchFamily="34" charset="-122"/>
                <a:cs typeface="Liter" pitchFamily="34" charset="-120"/>
              </a:rPr>
              <a:t>Defects Per Million Opportunities</a:t>
            </a:r>
            <a:endParaRPr lang="en-US" sz="1600" dirty="0"/>
          </a:p>
        </p:txBody>
      </p:sp>
      <p:sp>
        <p:nvSpPr>
          <p:cNvPr id="11" name="Text 9"/>
          <p:cNvSpPr/>
          <p:nvPr/>
        </p:nvSpPr>
        <p:spPr>
          <a:xfrm>
            <a:off x="542931" y="2443191"/>
            <a:ext cx="5253658" cy="383246"/>
          </a:xfrm>
          <a:prstGeom prst="rect">
            <a:avLst/>
          </a:prstGeom>
          <a:noFill/>
          <a:ln/>
        </p:spPr>
        <p:txBody>
          <a:bodyPr wrap="square" lIns="0" tIns="0" rIns="0" bIns="0" rtlCol="0" anchor="ctr"/>
          <a:lstStyle/>
          <a:p>
            <a:pPr algn="ctr">
              <a:lnSpc>
                <a:spcPct val="80000"/>
              </a:lnSpc>
            </a:pPr>
            <a:r>
              <a:rPr lang="en-US" sz="3018" b="1" dirty="0">
                <a:solidFill>
                  <a:srgbClr val="C5A56A"/>
                </a:solidFill>
                <a:latin typeface="Liter" pitchFamily="34" charset="0"/>
                <a:ea typeface="Liter" pitchFamily="34" charset="-122"/>
                <a:cs typeface="Liter" pitchFamily="34" charset="-120"/>
              </a:rPr>
              <a:t>34,300</a:t>
            </a:r>
            <a:endParaRPr lang="en-US" sz="1600" dirty="0"/>
          </a:p>
        </p:txBody>
      </p:sp>
      <p:sp>
        <p:nvSpPr>
          <p:cNvPr id="12" name="Shape 10"/>
          <p:cNvSpPr/>
          <p:nvPr/>
        </p:nvSpPr>
        <p:spPr>
          <a:xfrm>
            <a:off x="479057" y="3113870"/>
            <a:ext cx="2626829" cy="734554"/>
          </a:xfrm>
          <a:custGeom>
            <a:avLst/>
            <a:gdLst/>
            <a:ahLst/>
            <a:cxnLst/>
            <a:rect l="l" t="t" r="r" b="b"/>
            <a:pathLst>
              <a:path w="2626829" h="734554">
                <a:moveTo>
                  <a:pt x="63877" y="0"/>
                </a:moveTo>
                <a:lnTo>
                  <a:pt x="2562952" y="0"/>
                </a:lnTo>
                <a:cubicBezTo>
                  <a:pt x="2598230" y="0"/>
                  <a:pt x="2626829" y="28599"/>
                  <a:pt x="2626829" y="63877"/>
                </a:cubicBezTo>
                <a:lnTo>
                  <a:pt x="2626829" y="670677"/>
                </a:lnTo>
                <a:cubicBezTo>
                  <a:pt x="2626829" y="705955"/>
                  <a:pt x="2598230" y="734554"/>
                  <a:pt x="2562952" y="734554"/>
                </a:cubicBezTo>
                <a:lnTo>
                  <a:pt x="63877" y="734554"/>
                </a:lnTo>
                <a:cubicBezTo>
                  <a:pt x="28599" y="734554"/>
                  <a:pt x="0" y="705955"/>
                  <a:pt x="0" y="670677"/>
                </a:cubicBezTo>
                <a:lnTo>
                  <a:pt x="0" y="63877"/>
                </a:lnTo>
                <a:cubicBezTo>
                  <a:pt x="0" y="28622"/>
                  <a:pt x="28622" y="0"/>
                  <a:pt x="63877" y="0"/>
                </a:cubicBezTo>
                <a:close/>
              </a:path>
            </a:pathLst>
          </a:custGeom>
          <a:solidFill>
            <a:srgbClr val="C5A56A">
              <a:alpha val="10196"/>
            </a:srgbClr>
          </a:solidFill>
          <a:ln/>
        </p:spPr>
      </p:sp>
      <p:sp>
        <p:nvSpPr>
          <p:cNvPr id="13" name="Text 11"/>
          <p:cNvSpPr/>
          <p:nvPr/>
        </p:nvSpPr>
        <p:spPr>
          <a:xfrm>
            <a:off x="578861" y="3241619"/>
            <a:ext cx="2427222" cy="159686"/>
          </a:xfrm>
          <a:prstGeom prst="rect">
            <a:avLst/>
          </a:prstGeom>
          <a:noFill/>
          <a:ln/>
        </p:spPr>
        <p:txBody>
          <a:bodyPr wrap="square" lIns="0" tIns="0" rIns="0" bIns="0" rtlCol="0" anchor="ctr"/>
          <a:lstStyle/>
          <a:p>
            <a:pPr algn="ctr">
              <a:lnSpc>
                <a:spcPct val="120000"/>
              </a:lnSpc>
            </a:pPr>
            <a:r>
              <a:rPr lang="en-US" sz="880" dirty="0">
                <a:solidFill>
                  <a:srgbClr val="5E7A91"/>
                </a:solidFill>
                <a:latin typeface="Liter" pitchFamily="34" charset="0"/>
                <a:ea typeface="Liter" pitchFamily="34" charset="-122"/>
                <a:cs typeface="Liter" pitchFamily="34" charset="-120"/>
              </a:rPr>
              <a:t>Process Yield</a:t>
            </a:r>
            <a:endParaRPr lang="en-US" sz="1600" dirty="0"/>
          </a:p>
        </p:txBody>
      </p:sp>
      <p:sp>
        <p:nvSpPr>
          <p:cNvPr id="14" name="Text 12"/>
          <p:cNvSpPr/>
          <p:nvPr/>
        </p:nvSpPr>
        <p:spPr>
          <a:xfrm>
            <a:off x="546923" y="3433242"/>
            <a:ext cx="2491096" cy="287434"/>
          </a:xfrm>
          <a:prstGeom prst="rect">
            <a:avLst/>
          </a:prstGeom>
          <a:noFill/>
          <a:ln/>
        </p:spPr>
        <p:txBody>
          <a:bodyPr wrap="square" lIns="0" tIns="0" rIns="0" bIns="0" rtlCol="0" anchor="ctr"/>
          <a:lstStyle/>
          <a:p>
            <a:pPr algn="ctr">
              <a:lnSpc>
                <a:spcPct val="100000"/>
              </a:lnSpc>
            </a:pPr>
            <a:r>
              <a:rPr lang="en-US" sz="1886" b="1" dirty="0">
                <a:solidFill>
                  <a:srgbClr val="C5A56A"/>
                </a:solidFill>
                <a:latin typeface="Liter" pitchFamily="34" charset="0"/>
                <a:ea typeface="Liter" pitchFamily="34" charset="-122"/>
                <a:cs typeface="Liter" pitchFamily="34" charset="-120"/>
              </a:rPr>
              <a:t>96.57%</a:t>
            </a:r>
            <a:endParaRPr lang="en-US" sz="1600" dirty="0"/>
          </a:p>
        </p:txBody>
      </p:sp>
      <p:sp>
        <p:nvSpPr>
          <p:cNvPr id="15" name="Shape 13"/>
          <p:cNvSpPr/>
          <p:nvPr/>
        </p:nvSpPr>
        <p:spPr>
          <a:xfrm>
            <a:off x="3231805" y="3113870"/>
            <a:ext cx="2626829" cy="734554"/>
          </a:xfrm>
          <a:custGeom>
            <a:avLst/>
            <a:gdLst/>
            <a:ahLst/>
            <a:cxnLst/>
            <a:rect l="l" t="t" r="r" b="b"/>
            <a:pathLst>
              <a:path w="2626829" h="734554">
                <a:moveTo>
                  <a:pt x="63877" y="0"/>
                </a:moveTo>
                <a:lnTo>
                  <a:pt x="2562952" y="0"/>
                </a:lnTo>
                <a:cubicBezTo>
                  <a:pt x="2598230" y="0"/>
                  <a:pt x="2626829" y="28599"/>
                  <a:pt x="2626829" y="63877"/>
                </a:cubicBezTo>
                <a:lnTo>
                  <a:pt x="2626829" y="670677"/>
                </a:lnTo>
                <a:cubicBezTo>
                  <a:pt x="2626829" y="705955"/>
                  <a:pt x="2598230" y="734554"/>
                  <a:pt x="2562952" y="734554"/>
                </a:cubicBezTo>
                <a:lnTo>
                  <a:pt x="63877" y="734554"/>
                </a:lnTo>
                <a:cubicBezTo>
                  <a:pt x="28599" y="734554"/>
                  <a:pt x="0" y="705955"/>
                  <a:pt x="0" y="670677"/>
                </a:cubicBezTo>
                <a:lnTo>
                  <a:pt x="0" y="63877"/>
                </a:lnTo>
                <a:cubicBezTo>
                  <a:pt x="0" y="28622"/>
                  <a:pt x="28622" y="0"/>
                  <a:pt x="63877" y="0"/>
                </a:cubicBezTo>
                <a:close/>
              </a:path>
            </a:pathLst>
          </a:custGeom>
          <a:solidFill>
            <a:srgbClr val="5E7A91">
              <a:alpha val="10196"/>
            </a:srgbClr>
          </a:solidFill>
          <a:ln/>
        </p:spPr>
      </p:sp>
      <p:sp>
        <p:nvSpPr>
          <p:cNvPr id="16" name="Text 14"/>
          <p:cNvSpPr/>
          <p:nvPr/>
        </p:nvSpPr>
        <p:spPr>
          <a:xfrm>
            <a:off x="3331608" y="3241619"/>
            <a:ext cx="2427222" cy="159686"/>
          </a:xfrm>
          <a:prstGeom prst="rect">
            <a:avLst/>
          </a:prstGeom>
          <a:noFill/>
          <a:ln/>
        </p:spPr>
        <p:txBody>
          <a:bodyPr wrap="square" lIns="0" tIns="0" rIns="0" bIns="0" rtlCol="0" anchor="ctr"/>
          <a:lstStyle/>
          <a:p>
            <a:pPr algn="ctr">
              <a:lnSpc>
                <a:spcPct val="120000"/>
              </a:lnSpc>
            </a:pPr>
            <a:r>
              <a:rPr lang="en-US" sz="880" dirty="0">
                <a:solidFill>
                  <a:srgbClr val="5E7A91"/>
                </a:solidFill>
                <a:latin typeface="Liter" pitchFamily="34" charset="0"/>
                <a:ea typeface="Liter" pitchFamily="34" charset="-122"/>
                <a:cs typeface="Liter" pitchFamily="34" charset="-120"/>
              </a:rPr>
              <a:t>Baseline Z Score</a:t>
            </a:r>
            <a:endParaRPr lang="en-US" sz="1600" dirty="0"/>
          </a:p>
        </p:txBody>
      </p:sp>
      <p:sp>
        <p:nvSpPr>
          <p:cNvPr id="17" name="Text 15"/>
          <p:cNvSpPr/>
          <p:nvPr/>
        </p:nvSpPr>
        <p:spPr>
          <a:xfrm>
            <a:off x="3299671" y="3433242"/>
            <a:ext cx="2491096" cy="287434"/>
          </a:xfrm>
          <a:prstGeom prst="rect">
            <a:avLst/>
          </a:prstGeom>
          <a:noFill/>
          <a:ln/>
        </p:spPr>
        <p:txBody>
          <a:bodyPr wrap="square" lIns="0" tIns="0" rIns="0" bIns="0" rtlCol="0" anchor="ctr"/>
          <a:lstStyle/>
          <a:p>
            <a:pPr algn="ctr">
              <a:lnSpc>
                <a:spcPct val="100000"/>
              </a:lnSpc>
            </a:pPr>
            <a:r>
              <a:rPr lang="en-US" sz="1886" b="1" dirty="0">
                <a:solidFill>
                  <a:srgbClr val="5E7A91"/>
                </a:solidFill>
                <a:latin typeface="Liter" pitchFamily="34" charset="0"/>
                <a:ea typeface="Liter" pitchFamily="34" charset="-122"/>
                <a:cs typeface="Liter" pitchFamily="34" charset="-120"/>
              </a:rPr>
              <a:t>1.8</a:t>
            </a:r>
            <a:endParaRPr lang="en-US" sz="1600" dirty="0"/>
          </a:p>
        </p:txBody>
      </p:sp>
      <p:sp>
        <p:nvSpPr>
          <p:cNvPr id="18" name="Shape 16"/>
          <p:cNvSpPr/>
          <p:nvPr/>
        </p:nvSpPr>
        <p:spPr>
          <a:xfrm>
            <a:off x="479057" y="3976173"/>
            <a:ext cx="5381407" cy="734554"/>
          </a:xfrm>
          <a:custGeom>
            <a:avLst/>
            <a:gdLst/>
            <a:ahLst/>
            <a:cxnLst/>
            <a:rect l="l" t="t" r="r" b="b"/>
            <a:pathLst>
              <a:path w="5381407" h="734554">
                <a:moveTo>
                  <a:pt x="63877" y="0"/>
                </a:moveTo>
                <a:lnTo>
                  <a:pt x="5317530" y="0"/>
                </a:lnTo>
                <a:cubicBezTo>
                  <a:pt x="5352808" y="0"/>
                  <a:pt x="5381407" y="28599"/>
                  <a:pt x="5381407" y="63877"/>
                </a:cubicBezTo>
                <a:lnTo>
                  <a:pt x="5381407" y="670677"/>
                </a:lnTo>
                <a:cubicBezTo>
                  <a:pt x="5381407" y="705955"/>
                  <a:pt x="5352808" y="734554"/>
                  <a:pt x="5317530" y="734554"/>
                </a:cubicBezTo>
                <a:lnTo>
                  <a:pt x="63877" y="734554"/>
                </a:lnTo>
                <a:cubicBezTo>
                  <a:pt x="28599" y="734554"/>
                  <a:pt x="0" y="705955"/>
                  <a:pt x="0" y="670677"/>
                </a:cubicBezTo>
                <a:lnTo>
                  <a:pt x="0" y="63877"/>
                </a:lnTo>
                <a:cubicBezTo>
                  <a:pt x="0" y="28622"/>
                  <a:pt x="28622" y="0"/>
                  <a:pt x="63877" y="0"/>
                </a:cubicBezTo>
                <a:close/>
              </a:path>
            </a:pathLst>
          </a:custGeom>
          <a:solidFill>
            <a:srgbClr val="5E7A91">
              <a:alpha val="10196"/>
            </a:srgbClr>
          </a:solidFill>
          <a:ln/>
        </p:spPr>
      </p:sp>
      <p:sp>
        <p:nvSpPr>
          <p:cNvPr id="19" name="Text 17"/>
          <p:cNvSpPr/>
          <p:nvPr/>
        </p:nvSpPr>
        <p:spPr>
          <a:xfrm>
            <a:off x="578861" y="4103921"/>
            <a:ext cx="5181800" cy="159686"/>
          </a:xfrm>
          <a:prstGeom prst="rect">
            <a:avLst/>
          </a:prstGeom>
          <a:noFill/>
          <a:ln/>
        </p:spPr>
        <p:txBody>
          <a:bodyPr wrap="square" lIns="0" tIns="0" rIns="0" bIns="0" rtlCol="0" anchor="ctr"/>
          <a:lstStyle/>
          <a:p>
            <a:pPr algn="ctr">
              <a:lnSpc>
                <a:spcPct val="120000"/>
              </a:lnSpc>
            </a:pPr>
            <a:r>
              <a:rPr lang="en-US" sz="880" dirty="0">
                <a:solidFill>
                  <a:srgbClr val="5E7A91"/>
                </a:solidFill>
                <a:latin typeface="Liter" pitchFamily="34" charset="0"/>
                <a:ea typeface="Liter" pitchFamily="34" charset="-122"/>
                <a:cs typeface="Liter" pitchFamily="34" charset="-120"/>
              </a:rPr>
              <a:t>Z Score with 1.5σ Shift</a:t>
            </a:r>
            <a:endParaRPr lang="en-US" sz="1600" dirty="0"/>
          </a:p>
        </p:txBody>
      </p:sp>
      <p:sp>
        <p:nvSpPr>
          <p:cNvPr id="20" name="Text 18"/>
          <p:cNvSpPr/>
          <p:nvPr/>
        </p:nvSpPr>
        <p:spPr>
          <a:xfrm>
            <a:off x="546923" y="4295544"/>
            <a:ext cx="5245674" cy="287434"/>
          </a:xfrm>
          <a:prstGeom prst="rect">
            <a:avLst/>
          </a:prstGeom>
          <a:noFill/>
          <a:ln/>
        </p:spPr>
        <p:txBody>
          <a:bodyPr wrap="square" lIns="0" tIns="0" rIns="0" bIns="0" rtlCol="0" anchor="ctr"/>
          <a:lstStyle/>
          <a:p>
            <a:pPr algn="ctr">
              <a:lnSpc>
                <a:spcPct val="100000"/>
              </a:lnSpc>
            </a:pPr>
            <a:r>
              <a:rPr lang="en-US" sz="1886" b="1" dirty="0">
                <a:solidFill>
                  <a:srgbClr val="5E7A91"/>
                </a:solidFill>
                <a:latin typeface="Liter" pitchFamily="34" charset="0"/>
                <a:ea typeface="Liter" pitchFamily="34" charset="-122"/>
                <a:cs typeface="Liter" pitchFamily="34" charset="-120"/>
              </a:rPr>
              <a:t>3.3</a:t>
            </a:r>
            <a:endParaRPr lang="en-US" sz="1600" dirty="0"/>
          </a:p>
        </p:txBody>
      </p:sp>
      <p:sp>
        <p:nvSpPr>
          <p:cNvPr id="21" name="Shape 19"/>
          <p:cNvSpPr/>
          <p:nvPr/>
        </p:nvSpPr>
        <p:spPr>
          <a:xfrm>
            <a:off x="322033" y="5000823"/>
            <a:ext cx="5690132" cy="1410557"/>
          </a:xfrm>
          <a:custGeom>
            <a:avLst/>
            <a:gdLst/>
            <a:ahLst/>
            <a:cxnLst/>
            <a:rect l="l" t="t" r="r" b="b"/>
            <a:pathLst>
              <a:path w="5690132" h="1410557">
                <a:moveTo>
                  <a:pt x="63870" y="0"/>
                </a:moveTo>
                <a:lnTo>
                  <a:pt x="5626262" y="0"/>
                </a:lnTo>
                <a:cubicBezTo>
                  <a:pt x="5661537" y="0"/>
                  <a:pt x="5690132" y="28596"/>
                  <a:pt x="5690132" y="63870"/>
                </a:cubicBezTo>
                <a:lnTo>
                  <a:pt x="5690132" y="1346687"/>
                </a:lnTo>
                <a:cubicBezTo>
                  <a:pt x="5690132" y="1381961"/>
                  <a:pt x="5661537" y="1410557"/>
                  <a:pt x="5626262" y="1410557"/>
                </a:cubicBezTo>
                <a:lnTo>
                  <a:pt x="63870" y="1410557"/>
                </a:lnTo>
                <a:cubicBezTo>
                  <a:pt x="28596" y="1410557"/>
                  <a:pt x="0" y="1381961"/>
                  <a:pt x="0" y="1346687"/>
                </a:cubicBezTo>
                <a:lnTo>
                  <a:pt x="0" y="63870"/>
                </a:lnTo>
                <a:cubicBezTo>
                  <a:pt x="0" y="28619"/>
                  <a:pt x="28619" y="0"/>
                  <a:pt x="63870" y="0"/>
                </a:cubicBezTo>
                <a:close/>
              </a:path>
            </a:pathLst>
          </a:custGeom>
          <a:solidFill>
            <a:srgbClr val="FEF2F2"/>
          </a:solidFill>
          <a:ln w="8467">
            <a:solidFill>
              <a:srgbClr val="FFC9C9"/>
            </a:solidFill>
            <a:prstDash val="solid"/>
          </a:ln>
        </p:spPr>
      </p:sp>
      <p:sp>
        <p:nvSpPr>
          <p:cNvPr id="22" name="Shape 20"/>
          <p:cNvSpPr/>
          <p:nvPr/>
        </p:nvSpPr>
        <p:spPr>
          <a:xfrm>
            <a:off x="508333" y="5179141"/>
            <a:ext cx="191623" cy="191623"/>
          </a:xfrm>
          <a:custGeom>
            <a:avLst/>
            <a:gdLst/>
            <a:ahLst/>
            <a:cxnLst/>
            <a:rect l="l" t="t" r="r" b="b"/>
            <a:pathLst>
              <a:path w="191623" h="191623">
                <a:moveTo>
                  <a:pt x="95811" y="0"/>
                </a:moveTo>
                <a:cubicBezTo>
                  <a:pt x="101313" y="0"/>
                  <a:pt x="106366" y="3032"/>
                  <a:pt x="108985" y="7860"/>
                </a:cubicBezTo>
                <a:lnTo>
                  <a:pt x="189826" y="157565"/>
                </a:lnTo>
                <a:cubicBezTo>
                  <a:pt x="192334" y="162206"/>
                  <a:pt x="192222" y="167820"/>
                  <a:pt x="189527" y="172348"/>
                </a:cubicBezTo>
                <a:cubicBezTo>
                  <a:pt x="186832" y="176877"/>
                  <a:pt x="181929" y="179646"/>
                  <a:pt x="176652" y="179646"/>
                </a:cubicBezTo>
                <a:lnTo>
                  <a:pt x="14971" y="179646"/>
                </a:lnTo>
                <a:cubicBezTo>
                  <a:pt x="9693" y="179646"/>
                  <a:pt x="4828" y="176877"/>
                  <a:pt x="2096" y="172348"/>
                </a:cubicBezTo>
                <a:cubicBezTo>
                  <a:pt x="-636" y="167820"/>
                  <a:pt x="-711" y="162206"/>
                  <a:pt x="1796" y="157565"/>
                </a:cubicBezTo>
                <a:lnTo>
                  <a:pt x="82637" y="7860"/>
                </a:lnTo>
                <a:cubicBezTo>
                  <a:pt x="85257" y="3032"/>
                  <a:pt x="90310" y="0"/>
                  <a:pt x="95811" y="0"/>
                </a:cubicBezTo>
                <a:close/>
                <a:moveTo>
                  <a:pt x="95811" y="62876"/>
                </a:moveTo>
                <a:cubicBezTo>
                  <a:pt x="90834" y="62876"/>
                  <a:pt x="86829" y="66881"/>
                  <a:pt x="86829" y="71859"/>
                </a:cubicBezTo>
                <a:lnTo>
                  <a:pt x="86829" y="113776"/>
                </a:lnTo>
                <a:cubicBezTo>
                  <a:pt x="86829" y="118754"/>
                  <a:pt x="90834" y="122758"/>
                  <a:pt x="95811" y="122758"/>
                </a:cubicBezTo>
                <a:cubicBezTo>
                  <a:pt x="100789" y="122758"/>
                  <a:pt x="104794" y="118754"/>
                  <a:pt x="104794" y="113776"/>
                </a:cubicBezTo>
                <a:lnTo>
                  <a:pt x="104794" y="71859"/>
                </a:lnTo>
                <a:cubicBezTo>
                  <a:pt x="104794" y="66881"/>
                  <a:pt x="100789" y="62876"/>
                  <a:pt x="95811" y="62876"/>
                </a:cubicBezTo>
                <a:close/>
                <a:moveTo>
                  <a:pt x="105804" y="143717"/>
                </a:moveTo>
                <a:cubicBezTo>
                  <a:pt x="106032" y="140008"/>
                  <a:pt x="104182" y="136479"/>
                  <a:pt x="101002" y="134556"/>
                </a:cubicBezTo>
                <a:cubicBezTo>
                  <a:pt x="97822" y="132632"/>
                  <a:pt x="93838" y="132632"/>
                  <a:pt x="90658" y="134556"/>
                </a:cubicBezTo>
                <a:cubicBezTo>
                  <a:pt x="87478" y="136479"/>
                  <a:pt x="85629" y="140008"/>
                  <a:pt x="85856" y="143717"/>
                </a:cubicBezTo>
                <a:cubicBezTo>
                  <a:pt x="85629" y="147426"/>
                  <a:pt x="87478" y="150955"/>
                  <a:pt x="90658" y="152879"/>
                </a:cubicBezTo>
                <a:cubicBezTo>
                  <a:pt x="93838" y="154802"/>
                  <a:pt x="97822" y="154802"/>
                  <a:pt x="101002" y="152879"/>
                </a:cubicBezTo>
                <a:cubicBezTo>
                  <a:pt x="104182" y="150955"/>
                  <a:pt x="106032" y="147426"/>
                  <a:pt x="105804" y="143717"/>
                </a:cubicBezTo>
                <a:close/>
              </a:path>
            </a:pathLst>
          </a:custGeom>
          <a:solidFill>
            <a:srgbClr val="E7000B"/>
          </a:solidFill>
          <a:ln/>
        </p:spPr>
      </p:sp>
      <p:sp>
        <p:nvSpPr>
          <p:cNvPr id="23" name="Text 21"/>
          <p:cNvSpPr/>
          <p:nvPr/>
        </p:nvSpPr>
        <p:spPr>
          <a:xfrm>
            <a:off x="819720" y="5163172"/>
            <a:ext cx="886255" cy="223560"/>
          </a:xfrm>
          <a:prstGeom prst="rect">
            <a:avLst/>
          </a:prstGeom>
          <a:noFill/>
          <a:ln/>
        </p:spPr>
        <p:txBody>
          <a:bodyPr wrap="square" lIns="0" tIns="0" rIns="0" bIns="0" rtlCol="0" anchor="ctr"/>
          <a:lstStyle/>
          <a:p>
            <a:pPr>
              <a:lnSpc>
                <a:spcPct val="130000"/>
              </a:lnSpc>
            </a:pPr>
            <a:r>
              <a:rPr lang="en-US" sz="1132" b="1" dirty="0">
                <a:solidFill>
                  <a:srgbClr val="9F0712"/>
                </a:solidFill>
                <a:latin typeface="Liter" pitchFamily="34" charset="0"/>
                <a:ea typeface="Liter" pitchFamily="34" charset="-122"/>
                <a:cs typeface="Liter" pitchFamily="34" charset="-120"/>
              </a:rPr>
              <a:t>Gap Analysis</a:t>
            </a:r>
            <a:endParaRPr lang="en-US" sz="1600" dirty="0"/>
          </a:p>
        </p:txBody>
      </p:sp>
      <p:sp>
        <p:nvSpPr>
          <p:cNvPr id="24" name="Text 22"/>
          <p:cNvSpPr/>
          <p:nvPr/>
        </p:nvSpPr>
        <p:spPr>
          <a:xfrm>
            <a:off x="484380" y="5482544"/>
            <a:ext cx="974083" cy="191623"/>
          </a:xfrm>
          <a:prstGeom prst="rect">
            <a:avLst/>
          </a:prstGeom>
          <a:noFill/>
          <a:ln/>
        </p:spPr>
        <p:txBody>
          <a:bodyPr wrap="square" lIns="0" tIns="0" rIns="0" bIns="0" rtlCol="0" anchor="ctr"/>
          <a:lstStyle/>
          <a:p>
            <a:pPr>
              <a:lnSpc>
                <a:spcPct val="130000"/>
              </a:lnSpc>
            </a:pPr>
            <a:r>
              <a:rPr lang="en-US" sz="1006" dirty="0">
                <a:solidFill>
                  <a:srgbClr val="C10007"/>
                </a:solidFill>
                <a:latin typeface="Liter" pitchFamily="34" charset="0"/>
                <a:ea typeface="Liter" pitchFamily="34" charset="-122"/>
                <a:cs typeface="Liter" pitchFamily="34" charset="-120"/>
              </a:rPr>
              <a:t>Current (Z = 1.8)</a:t>
            </a:r>
            <a:endParaRPr lang="en-US" sz="1600" dirty="0"/>
          </a:p>
        </p:txBody>
      </p:sp>
      <p:sp>
        <p:nvSpPr>
          <p:cNvPr id="25" name="Shape 23"/>
          <p:cNvSpPr/>
          <p:nvPr/>
        </p:nvSpPr>
        <p:spPr>
          <a:xfrm>
            <a:off x="4829576" y="5530449"/>
            <a:ext cx="1021988" cy="95811"/>
          </a:xfrm>
          <a:custGeom>
            <a:avLst/>
            <a:gdLst/>
            <a:ahLst/>
            <a:cxnLst/>
            <a:rect l="l" t="t" r="r" b="b"/>
            <a:pathLst>
              <a:path w="1021988" h="95811">
                <a:moveTo>
                  <a:pt x="47906" y="0"/>
                </a:moveTo>
                <a:lnTo>
                  <a:pt x="974083" y="0"/>
                </a:lnTo>
                <a:cubicBezTo>
                  <a:pt x="1000540" y="0"/>
                  <a:pt x="1021988" y="21448"/>
                  <a:pt x="1021988" y="47906"/>
                </a:cubicBezTo>
                <a:lnTo>
                  <a:pt x="1021988" y="47906"/>
                </a:lnTo>
                <a:cubicBezTo>
                  <a:pt x="1021988" y="74363"/>
                  <a:pt x="1000540" y="95811"/>
                  <a:pt x="974083" y="95811"/>
                </a:cubicBezTo>
                <a:lnTo>
                  <a:pt x="47906" y="95811"/>
                </a:lnTo>
                <a:cubicBezTo>
                  <a:pt x="21466" y="95811"/>
                  <a:pt x="0" y="74346"/>
                  <a:pt x="0" y="47906"/>
                </a:cubicBezTo>
                <a:lnTo>
                  <a:pt x="0" y="47906"/>
                </a:lnTo>
                <a:cubicBezTo>
                  <a:pt x="0" y="21466"/>
                  <a:pt x="21466" y="0"/>
                  <a:pt x="47906" y="0"/>
                </a:cubicBezTo>
                <a:close/>
              </a:path>
            </a:pathLst>
          </a:custGeom>
          <a:solidFill>
            <a:srgbClr val="FFC9C9"/>
          </a:solidFill>
          <a:ln/>
        </p:spPr>
      </p:sp>
      <p:sp>
        <p:nvSpPr>
          <p:cNvPr id="26" name="Shape 24"/>
          <p:cNvSpPr/>
          <p:nvPr/>
        </p:nvSpPr>
        <p:spPr>
          <a:xfrm>
            <a:off x="4829576" y="5530449"/>
            <a:ext cx="303403" cy="95811"/>
          </a:xfrm>
          <a:custGeom>
            <a:avLst/>
            <a:gdLst/>
            <a:ahLst/>
            <a:cxnLst/>
            <a:rect l="l" t="t" r="r" b="b"/>
            <a:pathLst>
              <a:path w="303403" h="95811">
                <a:moveTo>
                  <a:pt x="47906" y="0"/>
                </a:moveTo>
                <a:lnTo>
                  <a:pt x="255497" y="0"/>
                </a:lnTo>
                <a:cubicBezTo>
                  <a:pt x="281937" y="0"/>
                  <a:pt x="303403" y="21466"/>
                  <a:pt x="303403" y="47906"/>
                </a:cubicBezTo>
                <a:lnTo>
                  <a:pt x="303403" y="47906"/>
                </a:lnTo>
                <a:cubicBezTo>
                  <a:pt x="303403" y="74346"/>
                  <a:pt x="281937" y="95811"/>
                  <a:pt x="255497" y="95811"/>
                </a:cubicBezTo>
                <a:lnTo>
                  <a:pt x="47906" y="95811"/>
                </a:lnTo>
                <a:cubicBezTo>
                  <a:pt x="21466" y="95811"/>
                  <a:pt x="0" y="74346"/>
                  <a:pt x="0" y="47906"/>
                </a:cubicBezTo>
                <a:lnTo>
                  <a:pt x="0" y="47906"/>
                </a:lnTo>
                <a:cubicBezTo>
                  <a:pt x="0" y="21466"/>
                  <a:pt x="21466" y="0"/>
                  <a:pt x="47906" y="0"/>
                </a:cubicBezTo>
                <a:close/>
              </a:path>
            </a:pathLst>
          </a:custGeom>
          <a:solidFill>
            <a:srgbClr val="E7000B"/>
          </a:solidFill>
          <a:ln/>
        </p:spPr>
      </p:sp>
      <p:sp>
        <p:nvSpPr>
          <p:cNvPr id="27" name="Text 25"/>
          <p:cNvSpPr/>
          <p:nvPr/>
        </p:nvSpPr>
        <p:spPr>
          <a:xfrm>
            <a:off x="484380" y="5769978"/>
            <a:ext cx="1413218" cy="191623"/>
          </a:xfrm>
          <a:prstGeom prst="rect">
            <a:avLst/>
          </a:prstGeom>
          <a:noFill/>
          <a:ln/>
        </p:spPr>
        <p:txBody>
          <a:bodyPr wrap="square" lIns="0" tIns="0" rIns="0" bIns="0" rtlCol="0" anchor="ctr"/>
          <a:lstStyle/>
          <a:p>
            <a:pPr>
              <a:lnSpc>
                <a:spcPct val="130000"/>
              </a:lnSpc>
            </a:pPr>
            <a:r>
              <a:rPr lang="en-US" sz="1006" dirty="0">
                <a:solidFill>
                  <a:srgbClr val="008236"/>
                </a:solidFill>
                <a:latin typeface="Liter" pitchFamily="34" charset="0"/>
                <a:ea typeface="Liter" pitchFamily="34" charset="-122"/>
                <a:cs typeface="Liter" pitchFamily="34" charset="-120"/>
              </a:rPr>
              <a:t>Six Sigma Target (Z = 6)</a:t>
            </a:r>
            <a:endParaRPr lang="en-US" sz="1600" dirty="0"/>
          </a:p>
        </p:txBody>
      </p:sp>
      <p:sp>
        <p:nvSpPr>
          <p:cNvPr id="28" name="Shape 26"/>
          <p:cNvSpPr/>
          <p:nvPr/>
        </p:nvSpPr>
        <p:spPr>
          <a:xfrm>
            <a:off x="4829576" y="5817883"/>
            <a:ext cx="1021988" cy="95811"/>
          </a:xfrm>
          <a:custGeom>
            <a:avLst/>
            <a:gdLst/>
            <a:ahLst/>
            <a:cxnLst/>
            <a:rect l="l" t="t" r="r" b="b"/>
            <a:pathLst>
              <a:path w="1021988" h="95811">
                <a:moveTo>
                  <a:pt x="47906" y="0"/>
                </a:moveTo>
                <a:lnTo>
                  <a:pt x="974083" y="0"/>
                </a:lnTo>
                <a:cubicBezTo>
                  <a:pt x="1000540" y="0"/>
                  <a:pt x="1021988" y="21448"/>
                  <a:pt x="1021988" y="47906"/>
                </a:cubicBezTo>
                <a:lnTo>
                  <a:pt x="1021988" y="47906"/>
                </a:lnTo>
                <a:cubicBezTo>
                  <a:pt x="1021988" y="74363"/>
                  <a:pt x="1000540" y="95811"/>
                  <a:pt x="974083" y="95811"/>
                </a:cubicBezTo>
                <a:lnTo>
                  <a:pt x="47906" y="95811"/>
                </a:lnTo>
                <a:cubicBezTo>
                  <a:pt x="21466" y="95811"/>
                  <a:pt x="0" y="74346"/>
                  <a:pt x="0" y="47906"/>
                </a:cubicBezTo>
                <a:lnTo>
                  <a:pt x="0" y="47906"/>
                </a:lnTo>
                <a:cubicBezTo>
                  <a:pt x="0" y="21466"/>
                  <a:pt x="21466" y="0"/>
                  <a:pt x="47906" y="0"/>
                </a:cubicBezTo>
                <a:close/>
              </a:path>
            </a:pathLst>
          </a:custGeom>
          <a:solidFill>
            <a:srgbClr val="B9F8CF"/>
          </a:solidFill>
          <a:ln/>
        </p:spPr>
      </p:sp>
      <p:sp>
        <p:nvSpPr>
          <p:cNvPr id="29" name="Shape 27"/>
          <p:cNvSpPr/>
          <p:nvPr/>
        </p:nvSpPr>
        <p:spPr>
          <a:xfrm>
            <a:off x="4829576" y="5817883"/>
            <a:ext cx="1021988" cy="95811"/>
          </a:xfrm>
          <a:custGeom>
            <a:avLst/>
            <a:gdLst/>
            <a:ahLst/>
            <a:cxnLst/>
            <a:rect l="l" t="t" r="r" b="b"/>
            <a:pathLst>
              <a:path w="1021988" h="95811">
                <a:moveTo>
                  <a:pt x="47906" y="0"/>
                </a:moveTo>
                <a:lnTo>
                  <a:pt x="974083" y="0"/>
                </a:lnTo>
                <a:cubicBezTo>
                  <a:pt x="1000540" y="0"/>
                  <a:pt x="1021988" y="21448"/>
                  <a:pt x="1021988" y="47906"/>
                </a:cubicBezTo>
                <a:lnTo>
                  <a:pt x="1021988" y="47906"/>
                </a:lnTo>
                <a:cubicBezTo>
                  <a:pt x="1021988" y="74363"/>
                  <a:pt x="1000540" y="95811"/>
                  <a:pt x="974083" y="95811"/>
                </a:cubicBezTo>
                <a:lnTo>
                  <a:pt x="47906" y="95811"/>
                </a:lnTo>
                <a:cubicBezTo>
                  <a:pt x="21466" y="95811"/>
                  <a:pt x="0" y="74346"/>
                  <a:pt x="0" y="47906"/>
                </a:cubicBezTo>
                <a:lnTo>
                  <a:pt x="0" y="47906"/>
                </a:lnTo>
                <a:cubicBezTo>
                  <a:pt x="0" y="21466"/>
                  <a:pt x="21466" y="0"/>
                  <a:pt x="47906" y="0"/>
                </a:cubicBezTo>
                <a:close/>
              </a:path>
            </a:pathLst>
          </a:custGeom>
          <a:solidFill>
            <a:srgbClr val="00A63E"/>
          </a:solidFill>
          <a:ln/>
        </p:spPr>
      </p:sp>
      <p:sp>
        <p:nvSpPr>
          <p:cNvPr id="30" name="Text 28"/>
          <p:cNvSpPr/>
          <p:nvPr/>
        </p:nvSpPr>
        <p:spPr>
          <a:xfrm>
            <a:off x="484380" y="6057412"/>
            <a:ext cx="5429312" cy="191623"/>
          </a:xfrm>
          <a:prstGeom prst="rect">
            <a:avLst/>
          </a:prstGeom>
          <a:noFill/>
          <a:ln/>
        </p:spPr>
        <p:txBody>
          <a:bodyPr wrap="square" lIns="0" tIns="0" rIns="0" bIns="0" rtlCol="0" anchor="ctr"/>
          <a:lstStyle/>
          <a:p>
            <a:pPr>
              <a:lnSpc>
                <a:spcPct val="130000"/>
              </a:lnSpc>
            </a:pPr>
            <a:r>
              <a:rPr lang="en-US" sz="1006" dirty="0">
                <a:solidFill>
                  <a:srgbClr val="C10007"/>
                </a:solidFill>
                <a:latin typeface="Liter" pitchFamily="34" charset="0"/>
                <a:ea typeface="Liter" pitchFamily="34" charset="-122"/>
                <a:cs typeface="Liter" pitchFamily="34" charset="-120"/>
              </a:rPr>
              <a:t>Gap: </a:t>
            </a:r>
            <a:r>
              <a:rPr lang="en-US" sz="1006" b="1" dirty="0">
                <a:solidFill>
                  <a:srgbClr val="C10007"/>
                </a:solidFill>
                <a:latin typeface="Liter" pitchFamily="34" charset="0"/>
                <a:ea typeface="Liter" pitchFamily="34" charset="-122"/>
                <a:cs typeface="Liter" pitchFamily="34" charset="-120"/>
              </a:rPr>
              <a:t>4.2 sigma levels</a:t>
            </a:r>
            <a:r>
              <a:rPr lang="en-US" sz="1006" dirty="0">
                <a:solidFill>
                  <a:srgbClr val="C10007"/>
                </a:solidFill>
                <a:latin typeface="Liter" pitchFamily="34" charset="0"/>
                <a:ea typeface="Liter" pitchFamily="34" charset="-122"/>
                <a:cs typeface="Liter" pitchFamily="34" charset="-120"/>
              </a:rPr>
              <a:t> improvement needed</a:t>
            </a:r>
            <a:endParaRPr lang="en-US" sz="1600" dirty="0"/>
          </a:p>
        </p:txBody>
      </p:sp>
      <p:sp>
        <p:nvSpPr>
          <p:cNvPr id="32" name="Text 30"/>
          <p:cNvSpPr/>
          <p:nvPr/>
        </p:nvSpPr>
        <p:spPr>
          <a:xfrm>
            <a:off x="6304008" y="1660731"/>
            <a:ext cx="5445281" cy="191623"/>
          </a:xfrm>
          <a:prstGeom prst="rect">
            <a:avLst/>
          </a:prstGeom>
          <a:noFill/>
          <a:ln/>
        </p:spPr>
        <p:txBody>
          <a:bodyPr wrap="square" lIns="0" tIns="0" rIns="0" bIns="0" rtlCol="0" anchor="ctr"/>
          <a:lstStyle/>
          <a:p>
            <a:pPr algn="ctr">
              <a:lnSpc>
                <a:spcPct val="130000"/>
              </a:lnSpc>
            </a:pPr>
            <a:endParaRPr lang="en-US" sz="1600" dirty="0"/>
          </a:p>
        </p:txBody>
      </p:sp>
      <p:pic>
        <p:nvPicPr>
          <p:cNvPr id="34" name="Image 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335945" y="1948165"/>
            <a:ext cx="4391356" cy="1756542"/>
          </a:xfrm>
          <a:prstGeom prst="roundRect">
            <a:avLst>
              <a:gd name="adj" fmla="val 0"/>
            </a:avLst>
          </a:prstGeom>
        </p:spPr>
      </p:pic>
      <p:pic>
        <p:nvPicPr>
          <p:cNvPr id="35" name="Image 2" descr="preencoded.png"/>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335945" y="1948165"/>
            <a:ext cx="4391356" cy="1756542"/>
          </a:xfrm>
          <a:prstGeom prst="roundRect">
            <a:avLst>
              <a:gd name="adj" fmla="val 0"/>
            </a:avLst>
          </a:prstGeom>
        </p:spPr>
      </p:pic>
      <p:sp>
        <p:nvSpPr>
          <p:cNvPr id="37" name="Text 32"/>
          <p:cNvSpPr/>
          <p:nvPr/>
        </p:nvSpPr>
        <p:spPr>
          <a:xfrm>
            <a:off x="6600518" y="4162528"/>
            <a:ext cx="4852262" cy="170222"/>
          </a:xfrm>
          <a:prstGeom prst="rect">
            <a:avLst/>
          </a:prstGeom>
          <a:noFill/>
          <a:ln/>
        </p:spPr>
        <p:txBody>
          <a:bodyPr wrap="square" lIns="0" tIns="0" rIns="0" bIns="0" rtlCol="0" anchor="ctr"/>
          <a:lstStyle/>
          <a:p>
            <a:pPr algn="ctr">
              <a:lnSpc>
                <a:spcPct val="130000"/>
              </a:lnSpc>
            </a:pPr>
            <a:r>
              <a:rPr lang="en-US" sz="1006" b="1" dirty="0">
                <a:solidFill>
                  <a:srgbClr val="1A3A52"/>
                </a:solidFill>
                <a:latin typeface="Liter" pitchFamily="34" charset="0"/>
                <a:ea typeface="Liter" pitchFamily="34" charset="-122"/>
                <a:cs typeface="Liter" pitchFamily="34" charset="-120"/>
              </a:rPr>
              <a:t>DPMO Scale Reference</a:t>
            </a:r>
            <a:endParaRPr lang="en-US" sz="1600" dirty="0"/>
          </a:p>
        </p:txBody>
      </p:sp>
      <p:graphicFrame>
        <p:nvGraphicFramePr>
          <p:cNvPr id="38" name="Table 0"/>
          <p:cNvGraphicFramePr>
            <a:graphicFrameLocks noGrp="1"/>
          </p:cNvGraphicFramePr>
          <p:nvPr>
            <p:extLst>
              <p:ext uri="{D42A27DB-BD31-4B8C-83A1-F6EECF244321}">
                <p14:modId xmlns:p14="http://schemas.microsoft.com/office/powerpoint/2010/main" val="1596106747"/>
              </p:ext>
            </p:extLst>
          </p:nvPr>
        </p:nvGraphicFramePr>
        <p:xfrm>
          <a:off x="6628977" y="4565450"/>
          <a:ext cx="4795345" cy="2007173"/>
        </p:xfrm>
        <a:graphic>
          <a:graphicData uri="http://schemas.openxmlformats.org/drawingml/2006/table">
            <a:tbl>
              <a:tblPr/>
              <a:tblGrid>
                <a:gridCol w="1788457">
                  <a:extLst>
                    <a:ext uri="{9D8B030D-6E8A-4147-A177-3AD203B41FA5}">
                      <a16:colId xmlns:a16="http://schemas.microsoft.com/office/drawing/2014/main" val="20000"/>
                    </a:ext>
                  </a:extLst>
                </a:gridCol>
                <a:gridCol w="1318185">
                  <a:extLst>
                    <a:ext uri="{9D8B030D-6E8A-4147-A177-3AD203B41FA5}">
                      <a16:colId xmlns:a16="http://schemas.microsoft.com/office/drawing/2014/main" val="20001"/>
                    </a:ext>
                  </a:extLst>
                </a:gridCol>
                <a:gridCol w="1688703">
                  <a:extLst>
                    <a:ext uri="{9D8B030D-6E8A-4147-A177-3AD203B41FA5}">
                      <a16:colId xmlns:a16="http://schemas.microsoft.com/office/drawing/2014/main" val="20002"/>
                    </a:ext>
                  </a:extLst>
                </a:gridCol>
              </a:tblGrid>
              <a:tr h="286739">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Sigma Level</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0" cap="flat" cmpd="sng" algn="ctr">
                      <a:noFill/>
                    </a:lnB>
                    <a:solidFill>
                      <a:srgbClr val="1A3A52"/>
                    </a:solidFill>
                  </a:tcPr>
                </a:tc>
                <a:tc>
                  <a:txBody>
                    <a:bodyPr/>
                    <a:lstStyle/>
                    <a:p>
                      <a:pPr algn="ctr"/>
                      <a:r>
                        <a:rPr lang="en-US" sz="1000" b="1" u="none" dirty="0">
                          <a:solidFill>
                            <a:srgbClr val="FFFFFF"/>
                          </a:solidFill>
                          <a:latin typeface="微软雅黑" pitchFamily="34" charset="0"/>
                          <a:ea typeface="微软雅黑" pitchFamily="34" charset="-122"/>
                          <a:cs typeface="微软雅黑" pitchFamily="34" charset="-120"/>
                        </a:rPr>
                        <a:t>DPMO</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0" cap="flat" cmpd="sng" algn="ctr">
                      <a:noFill/>
                    </a:lnB>
                    <a:solidFill>
                      <a:srgbClr val="1A3A52"/>
                    </a:solidFill>
                  </a:tcPr>
                </a:tc>
                <a:tc>
                  <a:txBody>
                    <a:bodyPr/>
                    <a:lstStyle/>
                    <a:p>
                      <a:pPr algn="ctr"/>
                      <a:r>
                        <a:rPr lang="en-US" sz="1000" b="1" u="none" dirty="0">
                          <a:solidFill>
                            <a:srgbClr val="FFFFFF"/>
                          </a:solidFill>
                          <a:latin typeface="微软雅黑" pitchFamily="34" charset="0"/>
                          <a:ea typeface="微软雅黑" pitchFamily="34" charset="-122"/>
                          <a:cs typeface="微软雅黑" pitchFamily="34" charset="-120"/>
                        </a:rPr>
                        <a:t>Yield</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0" cap="flat" cmpd="sng" algn="ctr">
                      <a:noFill/>
                    </a:lnB>
                    <a:solidFill>
                      <a:srgbClr val="1A3A52"/>
                    </a:solidFill>
                  </a:tcPr>
                </a:tc>
                <a:extLst>
                  <a:ext uri="{0D108BD9-81ED-4DB2-BD59-A6C34878D82A}">
                    <a16:rowId xmlns:a16="http://schemas.microsoft.com/office/drawing/2014/main" val="10000"/>
                  </a:ext>
                </a:extLst>
              </a:tr>
              <a:tr h="286739">
                <a:tc>
                  <a:txBody>
                    <a:bodyPr/>
                    <a:lstStyle/>
                    <a:p>
                      <a:r>
                        <a:rPr lang="en-US" sz="1000" b="1" u="none" dirty="0">
                          <a:solidFill>
                            <a:srgbClr val="C10007"/>
                          </a:solidFill>
                          <a:latin typeface="微软雅黑" pitchFamily="34" charset="0"/>
                          <a:ea typeface="微软雅黑" pitchFamily="34" charset="-122"/>
                          <a:cs typeface="微软雅黑" pitchFamily="34" charset="-120"/>
                        </a:rPr>
                        <a:t>2σ (Current)</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EF2F2"/>
                    </a:solidFill>
                  </a:tcPr>
                </a:tc>
                <a:tc>
                  <a:txBody>
                    <a:bodyPr/>
                    <a:lstStyle/>
                    <a:p>
                      <a:pPr algn="ctr"/>
                      <a:r>
                        <a:rPr lang="en-US" sz="1000" u="none" dirty="0">
                          <a:solidFill>
                            <a:srgbClr val="C10007"/>
                          </a:solidFill>
                          <a:latin typeface="微软雅黑" pitchFamily="34" charset="0"/>
                          <a:ea typeface="微软雅黑" pitchFamily="34" charset="-122"/>
                          <a:cs typeface="微软雅黑" pitchFamily="34" charset="-120"/>
                        </a:rPr>
                        <a:t>308,538</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EF2F2"/>
                    </a:solidFill>
                  </a:tcPr>
                </a:tc>
                <a:tc>
                  <a:txBody>
                    <a:bodyPr/>
                    <a:lstStyle/>
                    <a:p>
                      <a:pPr algn="ctr"/>
                      <a:r>
                        <a:rPr lang="en-US" sz="1000" u="none" dirty="0">
                          <a:solidFill>
                            <a:srgbClr val="C10007"/>
                          </a:solidFill>
                          <a:latin typeface="微软雅黑" pitchFamily="34" charset="0"/>
                          <a:ea typeface="微软雅黑" pitchFamily="34" charset="-122"/>
                          <a:cs typeface="微软雅黑" pitchFamily="34" charset="-120"/>
                        </a:rPr>
                        <a:t>69.15%</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286739">
                <a:tc>
                  <a:txBody>
                    <a:bodyPr/>
                    <a:lstStyle/>
                    <a:p>
                      <a:r>
                        <a:rPr lang="en-US" sz="1000" b="1" u="none" dirty="0">
                          <a:solidFill>
                            <a:srgbClr val="CA3500"/>
                          </a:solidFill>
                          <a:latin typeface="微软雅黑" pitchFamily="34" charset="0"/>
                          <a:ea typeface="微软雅黑" pitchFamily="34" charset="-122"/>
                          <a:cs typeface="微软雅黑" pitchFamily="34" charset="-120"/>
                        </a:rPr>
                        <a:t>3σ</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7ED"/>
                    </a:solidFill>
                  </a:tcPr>
                </a:tc>
                <a:tc>
                  <a:txBody>
                    <a:bodyPr/>
                    <a:lstStyle/>
                    <a:p>
                      <a:pPr algn="ctr"/>
                      <a:r>
                        <a:rPr lang="en-US" sz="1000" u="none" dirty="0">
                          <a:solidFill>
                            <a:srgbClr val="CA3500"/>
                          </a:solidFill>
                          <a:latin typeface="微软雅黑" pitchFamily="34" charset="0"/>
                          <a:ea typeface="微软雅黑" pitchFamily="34" charset="-122"/>
                          <a:cs typeface="微软雅黑" pitchFamily="34" charset="-120"/>
                        </a:rPr>
                        <a:t>66,807</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7ED"/>
                    </a:solidFill>
                  </a:tcPr>
                </a:tc>
                <a:tc>
                  <a:txBody>
                    <a:bodyPr/>
                    <a:lstStyle/>
                    <a:p>
                      <a:pPr algn="ctr"/>
                      <a:r>
                        <a:rPr lang="en-US" sz="1000" u="none" dirty="0">
                          <a:solidFill>
                            <a:srgbClr val="CA3500"/>
                          </a:solidFill>
                          <a:latin typeface="微软雅黑" pitchFamily="34" charset="0"/>
                          <a:ea typeface="微软雅黑" pitchFamily="34" charset="-122"/>
                          <a:cs typeface="微软雅黑" pitchFamily="34" charset="-120"/>
                        </a:rPr>
                        <a:t>93.32%</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7ED"/>
                    </a:solidFill>
                  </a:tcPr>
                </a:tc>
                <a:extLst>
                  <a:ext uri="{0D108BD9-81ED-4DB2-BD59-A6C34878D82A}">
                    <a16:rowId xmlns:a16="http://schemas.microsoft.com/office/drawing/2014/main" val="10002"/>
                  </a:ext>
                </a:extLst>
              </a:tr>
              <a:tr h="286739">
                <a:tc>
                  <a:txBody>
                    <a:bodyPr/>
                    <a:lstStyle/>
                    <a:p>
                      <a:r>
                        <a:rPr lang="en-US" sz="1000" b="1" u="none" dirty="0">
                          <a:solidFill>
                            <a:srgbClr val="C5A56A"/>
                          </a:solidFill>
                          <a:latin typeface="微软雅黑" pitchFamily="34" charset="0"/>
                          <a:ea typeface="微软雅黑" pitchFamily="34" charset="-122"/>
                          <a:cs typeface="微软雅黑" pitchFamily="34" charset="-120"/>
                        </a:rPr>
                        <a:t>3.3σ (RAT)</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C5A56A">
                        <a:alpha val="10000"/>
                      </a:srgbClr>
                    </a:solidFill>
                  </a:tcPr>
                </a:tc>
                <a:tc>
                  <a:txBody>
                    <a:bodyPr/>
                    <a:lstStyle/>
                    <a:p>
                      <a:pPr algn="ctr"/>
                      <a:r>
                        <a:rPr lang="en-US" sz="1000" b="1" u="none" dirty="0">
                          <a:solidFill>
                            <a:srgbClr val="C5A56A"/>
                          </a:solidFill>
                          <a:latin typeface="微软雅黑" pitchFamily="34" charset="0"/>
                          <a:ea typeface="微软雅黑" pitchFamily="34" charset="-122"/>
                          <a:cs typeface="微软雅黑" pitchFamily="34" charset="-120"/>
                        </a:rPr>
                        <a:t>34,300</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C5A56A">
                        <a:alpha val="10000"/>
                      </a:srgbClr>
                    </a:solidFill>
                  </a:tcPr>
                </a:tc>
                <a:tc>
                  <a:txBody>
                    <a:bodyPr/>
                    <a:lstStyle/>
                    <a:p>
                      <a:pPr algn="ctr"/>
                      <a:r>
                        <a:rPr lang="en-US" sz="1000" b="1" u="none" dirty="0">
                          <a:solidFill>
                            <a:srgbClr val="C5A56A"/>
                          </a:solidFill>
                          <a:latin typeface="微软雅黑" pitchFamily="34" charset="0"/>
                          <a:ea typeface="微软雅黑" pitchFamily="34" charset="-122"/>
                          <a:cs typeface="微软雅黑" pitchFamily="34" charset="-120"/>
                        </a:rPr>
                        <a:t>96.57%</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C5A56A">
                        <a:alpha val="10000"/>
                      </a:srgbClr>
                    </a:solidFill>
                  </a:tcPr>
                </a:tc>
                <a:extLst>
                  <a:ext uri="{0D108BD9-81ED-4DB2-BD59-A6C34878D82A}">
                    <a16:rowId xmlns:a16="http://schemas.microsoft.com/office/drawing/2014/main" val="10003"/>
                  </a:ext>
                </a:extLst>
              </a:tr>
              <a:tr h="286739">
                <a:tc>
                  <a:txBody>
                    <a:bodyPr/>
                    <a:lstStyle/>
                    <a:p>
                      <a:r>
                        <a:rPr lang="en-US" sz="1000" b="1" u="none" dirty="0">
                          <a:solidFill>
                            <a:srgbClr val="1A3A52"/>
                          </a:solidFill>
                          <a:latin typeface="微软雅黑" pitchFamily="34" charset="0"/>
                          <a:ea typeface="微软雅黑" pitchFamily="34" charset="-122"/>
                          <a:cs typeface="微软雅黑" pitchFamily="34" charset="-120"/>
                        </a:rPr>
                        <a:t>4σ</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6,210</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99.38%</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286739">
                <a:tc>
                  <a:txBody>
                    <a:bodyPr/>
                    <a:lstStyle/>
                    <a:p>
                      <a:r>
                        <a:rPr lang="en-US" sz="1000" b="1" u="none" dirty="0">
                          <a:solidFill>
                            <a:srgbClr val="1A3A52"/>
                          </a:solidFill>
                          <a:latin typeface="微软雅黑" pitchFamily="34" charset="0"/>
                          <a:ea typeface="微软雅黑" pitchFamily="34" charset="-122"/>
                          <a:cs typeface="微软雅黑" pitchFamily="34" charset="-120"/>
                        </a:rPr>
                        <a:t>5σ</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233</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99.977%</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286739">
                <a:tc>
                  <a:txBody>
                    <a:bodyPr/>
                    <a:lstStyle/>
                    <a:p>
                      <a:r>
                        <a:rPr lang="en-US" sz="1000" b="1" u="none" dirty="0">
                          <a:solidFill>
                            <a:srgbClr val="008236"/>
                          </a:solidFill>
                          <a:latin typeface="微软雅黑" pitchFamily="34" charset="0"/>
                          <a:ea typeface="微软雅黑" pitchFamily="34" charset="-122"/>
                          <a:cs typeface="微软雅黑" pitchFamily="34" charset="-120"/>
                        </a:rPr>
                        <a:t>6σ (Target)</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F0FDF4"/>
                    </a:solidFill>
                  </a:tcPr>
                </a:tc>
                <a:tc>
                  <a:txBody>
                    <a:bodyPr/>
                    <a:lstStyle/>
                    <a:p>
                      <a:pPr algn="ctr"/>
                      <a:r>
                        <a:rPr lang="en-US" sz="1000" u="none" dirty="0">
                          <a:solidFill>
                            <a:srgbClr val="008236"/>
                          </a:solidFill>
                          <a:latin typeface="微软雅黑" pitchFamily="34" charset="0"/>
                          <a:ea typeface="微软雅黑" pitchFamily="34" charset="-122"/>
                          <a:cs typeface="微软雅黑" pitchFamily="34" charset="-120"/>
                        </a:rPr>
                        <a:t>3.4</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F0FDF4"/>
                    </a:solidFill>
                  </a:tcPr>
                </a:tc>
                <a:tc>
                  <a:txBody>
                    <a:bodyPr/>
                    <a:lstStyle/>
                    <a:p>
                      <a:pPr algn="ctr"/>
                      <a:r>
                        <a:rPr lang="en-US" sz="1000" u="none" dirty="0">
                          <a:solidFill>
                            <a:srgbClr val="008236"/>
                          </a:solidFill>
                          <a:latin typeface="微软雅黑" pitchFamily="34" charset="0"/>
                          <a:ea typeface="微软雅黑" pitchFamily="34" charset="-122"/>
                          <a:cs typeface="微软雅黑" pitchFamily="34" charset="-120"/>
                        </a:rPr>
                        <a:t>99.99966%</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F0FDF4"/>
                    </a:solidFill>
                  </a:tcPr>
                </a:tc>
                <a:extLst>
                  <a:ext uri="{0D108BD9-81ED-4DB2-BD59-A6C34878D82A}">
                    <a16:rowId xmlns:a16="http://schemas.microsoft.com/office/drawing/2014/main" val="10006"/>
                  </a:ext>
                </a:extLst>
              </a:tr>
            </a:tbl>
          </a:graphicData>
        </a:graphic>
      </p:graphicFrame>
      <p:pic>
        <p:nvPicPr>
          <p:cNvPr id="39" name="Picture 1">
            <a:extLst>
              <a:ext uri="{FF2B5EF4-FFF2-40B4-BE49-F238E27FC236}">
                <a16:creationId xmlns:a16="http://schemas.microsoft.com/office/drawing/2014/main" id="{52C8783D-CCA3-70F6-0020-3A6EF92DB6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6776" y="248142"/>
            <a:ext cx="4822723" cy="3584312"/>
          </a:xfrm>
          <a:prstGeom prst="rect">
            <a:avLst/>
          </a:prstGeom>
          <a:noFill/>
          <a:extLst>
            <a:ext uri="{909E8E84-426E-40DD-AFC4-6F175D3DCCD1}">
              <a14:hiddenFill xmlns:a14="http://schemas.microsoft.com/office/drawing/2010/main">
                <a:solidFill>
                  <a:srgbClr val="FFFFFF"/>
                </a:solidFill>
              </a14:hiddenFill>
            </a:ext>
          </a:extLst>
        </p:spPr>
      </p:pic>
      <p:sp>
        <p:nvSpPr>
          <p:cNvPr id="31" name="Shape 31">
            <a:extLst>
              <a:ext uri="{FF2B5EF4-FFF2-40B4-BE49-F238E27FC236}">
                <a16:creationId xmlns:a16="http://schemas.microsoft.com/office/drawing/2014/main" id="{2E712157-4399-8DDB-2B28-6A485813D3E5}"/>
              </a:ext>
            </a:extLst>
          </p:cNvPr>
          <p:cNvSpPr/>
          <p:nvPr/>
        </p:nvSpPr>
        <p:spPr>
          <a:xfrm>
            <a:off x="6412161" y="4076276"/>
            <a:ext cx="5079932" cy="2546202"/>
          </a:xfrm>
          <a:custGeom>
            <a:avLst/>
            <a:gdLst/>
            <a:ahLst/>
            <a:cxnLst/>
            <a:rect l="l" t="t" r="r" b="b"/>
            <a:pathLst>
              <a:path w="5700778" h="2866358">
                <a:moveTo>
                  <a:pt x="63862" y="0"/>
                </a:moveTo>
                <a:lnTo>
                  <a:pt x="5636916" y="0"/>
                </a:lnTo>
                <a:cubicBezTo>
                  <a:pt x="5672186" y="0"/>
                  <a:pt x="5700778" y="28592"/>
                  <a:pt x="5700778" y="63862"/>
                </a:cubicBezTo>
                <a:lnTo>
                  <a:pt x="5700778" y="2802495"/>
                </a:lnTo>
                <a:cubicBezTo>
                  <a:pt x="5700778" y="2837765"/>
                  <a:pt x="5672186" y="2866358"/>
                  <a:pt x="5636916" y="2866358"/>
                </a:cubicBezTo>
                <a:lnTo>
                  <a:pt x="63862" y="2866358"/>
                </a:lnTo>
                <a:cubicBezTo>
                  <a:pt x="28592" y="2866358"/>
                  <a:pt x="0" y="2837765"/>
                  <a:pt x="0" y="2802495"/>
                </a:cubicBezTo>
                <a:lnTo>
                  <a:pt x="0" y="63862"/>
                </a:lnTo>
                <a:cubicBezTo>
                  <a:pt x="0" y="28616"/>
                  <a:pt x="28616" y="0"/>
                  <a:pt x="63862" y="0"/>
                </a:cubicBezTo>
                <a:close/>
              </a:path>
            </a:pathLst>
          </a:custGeom>
          <a:solidFill>
            <a:srgbClr val="FFFFFF"/>
          </a:solidFill>
          <a:ln/>
          <a:effectLst>
            <a:outerShdw blurRad="119764" dist="79843" dir="5400000" algn="bl" rotWithShape="0">
              <a:srgbClr val="000000">
                <a:alpha val="10196"/>
              </a:srgbClr>
            </a:outerShdw>
          </a:effectLst>
        </p:spPr>
      </p:sp>
      <p:sp>
        <p:nvSpPr>
          <p:cNvPr id="33" name="Text 32">
            <a:extLst>
              <a:ext uri="{FF2B5EF4-FFF2-40B4-BE49-F238E27FC236}">
                <a16:creationId xmlns:a16="http://schemas.microsoft.com/office/drawing/2014/main" id="{1E894237-BB30-E5F8-70B8-FC3F2500CC3E}"/>
              </a:ext>
            </a:extLst>
          </p:cNvPr>
          <p:cNvSpPr/>
          <p:nvPr/>
        </p:nvSpPr>
        <p:spPr>
          <a:xfrm>
            <a:off x="6525997" y="4086585"/>
            <a:ext cx="4852262" cy="170222"/>
          </a:xfrm>
          <a:prstGeom prst="rect">
            <a:avLst/>
          </a:prstGeom>
          <a:noFill/>
          <a:ln/>
        </p:spPr>
        <p:txBody>
          <a:bodyPr wrap="square" lIns="0" tIns="0" rIns="0" bIns="0" rtlCol="0" anchor="ctr"/>
          <a:lstStyle/>
          <a:p>
            <a:pPr algn="ctr">
              <a:lnSpc>
                <a:spcPct val="130000"/>
              </a:lnSpc>
            </a:pPr>
            <a:r>
              <a:rPr lang="en-US" sz="1006" b="1" dirty="0">
                <a:solidFill>
                  <a:srgbClr val="1A3A52"/>
                </a:solidFill>
                <a:latin typeface="Liter" pitchFamily="34" charset="0"/>
                <a:ea typeface="Liter" pitchFamily="34" charset="-122"/>
                <a:cs typeface="Liter" pitchFamily="34" charset="-120"/>
              </a:rPr>
              <a:t>DPMO Scale Reference</a:t>
            </a:r>
            <a:endParaRPr lang="en-US" sz="1600" dirty="0"/>
          </a:p>
        </p:txBody>
      </p:sp>
      <p:graphicFrame>
        <p:nvGraphicFramePr>
          <p:cNvPr id="40" name="Table 0">
            <a:extLst>
              <a:ext uri="{FF2B5EF4-FFF2-40B4-BE49-F238E27FC236}">
                <a16:creationId xmlns:a16="http://schemas.microsoft.com/office/drawing/2014/main" id="{C3A1F13D-EE60-D48E-BAC8-A3B22B2AC5F4}"/>
              </a:ext>
            </a:extLst>
          </p:cNvPr>
          <p:cNvGraphicFramePr>
            <a:graphicFrameLocks noGrp="1"/>
          </p:cNvGraphicFramePr>
          <p:nvPr>
            <p:extLst>
              <p:ext uri="{D42A27DB-BD31-4B8C-83A1-F6EECF244321}">
                <p14:modId xmlns:p14="http://schemas.microsoft.com/office/powerpoint/2010/main" val="1596106747"/>
              </p:ext>
            </p:extLst>
          </p:nvPr>
        </p:nvGraphicFramePr>
        <p:xfrm>
          <a:off x="6554456" y="4489507"/>
          <a:ext cx="4795345" cy="2007173"/>
        </p:xfrm>
        <a:graphic>
          <a:graphicData uri="http://schemas.openxmlformats.org/drawingml/2006/table">
            <a:tbl>
              <a:tblPr/>
              <a:tblGrid>
                <a:gridCol w="1788457">
                  <a:extLst>
                    <a:ext uri="{9D8B030D-6E8A-4147-A177-3AD203B41FA5}">
                      <a16:colId xmlns:a16="http://schemas.microsoft.com/office/drawing/2014/main" val="20000"/>
                    </a:ext>
                  </a:extLst>
                </a:gridCol>
                <a:gridCol w="1318185">
                  <a:extLst>
                    <a:ext uri="{9D8B030D-6E8A-4147-A177-3AD203B41FA5}">
                      <a16:colId xmlns:a16="http://schemas.microsoft.com/office/drawing/2014/main" val="20001"/>
                    </a:ext>
                  </a:extLst>
                </a:gridCol>
                <a:gridCol w="1688703">
                  <a:extLst>
                    <a:ext uri="{9D8B030D-6E8A-4147-A177-3AD203B41FA5}">
                      <a16:colId xmlns:a16="http://schemas.microsoft.com/office/drawing/2014/main" val="20002"/>
                    </a:ext>
                  </a:extLst>
                </a:gridCol>
              </a:tblGrid>
              <a:tr h="286739">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Sigma Level</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0" cap="flat" cmpd="sng" algn="ctr">
                      <a:noFill/>
                    </a:lnB>
                    <a:solidFill>
                      <a:srgbClr val="1A3A52"/>
                    </a:solidFill>
                  </a:tcPr>
                </a:tc>
                <a:tc>
                  <a:txBody>
                    <a:bodyPr/>
                    <a:lstStyle/>
                    <a:p>
                      <a:pPr algn="ctr"/>
                      <a:r>
                        <a:rPr lang="en-US" sz="1000" b="1" u="none" dirty="0">
                          <a:solidFill>
                            <a:srgbClr val="FFFFFF"/>
                          </a:solidFill>
                          <a:latin typeface="微软雅黑" pitchFamily="34" charset="0"/>
                          <a:ea typeface="微软雅黑" pitchFamily="34" charset="-122"/>
                          <a:cs typeface="微软雅黑" pitchFamily="34" charset="-120"/>
                        </a:rPr>
                        <a:t>DPMO</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0" cap="flat" cmpd="sng" algn="ctr">
                      <a:noFill/>
                    </a:lnB>
                    <a:solidFill>
                      <a:srgbClr val="1A3A52"/>
                    </a:solidFill>
                  </a:tcPr>
                </a:tc>
                <a:tc>
                  <a:txBody>
                    <a:bodyPr/>
                    <a:lstStyle/>
                    <a:p>
                      <a:pPr algn="ctr"/>
                      <a:r>
                        <a:rPr lang="en-US" sz="1000" b="1" u="none" dirty="0">
                          <a:solidFill>
                            <a:srgbClr val="FFFFFF"/>
                          </a:solidFill>
                          <a:latin typeface="微软雅黑" pitchFamily="34" charset="0"/>
                          <a:ea typeface="微软雅黑" pitchFamily="34" charset="-122"/>
                          <a:cs typeface="微软雅黑" pitchFamily="34" charset="-120"/>
                        </a:rPr>
                        <a:t>Yield</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0" cap="flat" cmpd="sng" algn="ctr">
                      <a:noFill/>
                    </a:lnB>
                    <a:solidFill>
                      <a:srgbClr val="1A3A52"/>
                    </a:solidFill>
                  </a:tcPr>
                </a:tc>
                <a:extLst>
                  <a:ext uri="{0D108BD9-81ED-4DB2-BD59-A6C34878D82A}">
                    <a16:rowId xmlns:a16="http://schemas.microsoft.com/office/drawing/2014/main" val="10000"/>
                  </a:ext>
                </a:extLst>
              </a:tr>
              <a:tr h="286739">
                <a:tc>
                  <a:txBody>
                    <a:bodyPr/>
                    <a:lstStyle/>
                    <a:p>
                      <a:r>
                        <a:rPr lang="en-US" sz="1000" b="1" u="none" dirty="0">
                          <a:solidFill>
                            <a:srgbClr val="C10007"/>
                          </a:solidFill>
                          <a:latin typeface="微软雅黑" pitchFamily="34" charset="0"/>
                          <a:ea typeface="微软雅黑" pitchFamily="34" charset="-122"/>
                          <a:cs typeface="微软雅黑" pitchFamily="34" charset="-120"/>
                        </a:rPr>
                        <a:t>2σ (Current)</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EF2F2"/>
                    </a:solidFill>
                  </a:tcPr>
                </a:tc>
                <a:tc>
                  <a:txBody>
                    <a:bodyPr/>
                    <a:lstStyle/>
                    <a:p>
                      <a:pPr algn="ctr"/>
                      <a:r>
                        <a:rPr lang="en-US" sz="1000" u="none" dirty="0">
                          <a:solidFill>
                            <a:srgbClr val="C10007"/>
                          </a:solidFill>
                          <a:latin typeface="微软雅黑" pitchFamily="34" charset="0"/>
                          <a:ea typeface="微软雅黑" pitchFamily="34" charset="-122"/>
                          <a:cs typeface="微软雅黑" pitchFamily="34" charset="-120"/>
                        </a:rPr>
                        <a:t>308,538</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EF2F2"/>
                    </a:solidFill>
                  </a:tcPr>
                </a:tc>
                <a:tc>
                  <a:txBody>
                    <a:bodyPr/>
                    <a:lstStyle/>
                    <a:p>
                      <a:pPr algn="ctr"/>
                      <a:r>
                        <a:rPr lang="en-US" sz="1000" u="none" dirty="0">
                          <a:solidFill>
                            <a:srgbClr val="C10007"/>
                          </a:solidFill>
                          <a:latin typeface="微软雅黑" pitchFamily="34" charset="0"/>
                          <a:ea typeface="微软雅黑" pitchFamily="34" charset="-122"/>
                          <a:cs typeface="微软雅黑" pitchFamily="34" charset="-120"/>
                        </a:rPr>
                        <a:t>69.15%</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286739">
                <a:tc>
                  <a:txBody>
                    <a:bodyPr/>
                    <a:lstStyle/>
                    <a:p>
                      <a:r>
                        <a:rPr lang="en-US" sz="1000" b="1" u="none" dirty="0">
                          <a:solidFill>
                            <a:srgbClr val="CA3500"/>
                          </a:solidFill>
                          <a:latin typeface="微软雅黑" pitchFamily="34" charset="0"/>
                          <a:ea typeface="微软雅黑" pitchFamily="34" charset="-122"/>
                          <a:cs typeface="微软雅黑" pitchFamily="34" charset="-120"/>
                        </a:rPr>
                        <a:t>3σ</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7ED"/>
                    </a:solidFill>
                  </a:tcPr>
                </a:tc>
                <a:tc>
                  <a:txBody>
                    <a:bodyPr/>
                    <a:lstStyle/>
                    <a:p>
                      <a:pPr algn="ctr"/>
                      <a:r>
                        <a:rPr lang="en-US" sz="1000" u="none" dirty="0">
                          <a:solidFill>
                            <a:srgbClr val="CA3500"/>
                          </a:solidFill>
                          <a:latin typeface="微软雅黑" pitchFamily="34" charset="0"/>
                          <a:ea typeface="微软雅黑" pitchFamily="34" charset="-122"/>
                          <a:cs typeface="微软雅黑" pitchFamily="34" charset="-120"/>
                        </a:rPr>
                        <a:t>66,807</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7ED"/>
                    </a:solidFill>
                  </a:tcPr>
                </a:tc>
                <a:tc>
                  <a:txBody>
                    <a:bodyPr/>
                    <a:lstStyle/>
                    <a:p>
                      <a:pPr algn="ctr"/>
                      <a:r>
                        <a:rPr lang="en-US" sz="1000" u="none" dirty="0">
                          <a:solidFill>
                            <a:srgbClr val="CA3500"/>
                          </a:solidFill>
                          <a:latin typeface="微软雅黑" pitchFamily="34" charset="0"/>
                          <a:ea typeface="微软雅黑" pitchFamily="34" charset="-122"/>
                          <a:cs typeface="微软雅黑" pitchFamily="34" charset="-120"/>
                        </a:rPr>
                        <a:t>93.32%</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7ED"/>
                    </a:solidFill>
                  </a:tcPr>
                </a:tc>
                <a:extLst>
                  <a:ext uri="{0D108BD9-81ED-4DB2-BD59-A6C34878D82A}">
                    <a16:rowId xmlns:a16="http://schemas.microsoft.com/office/drawing/2014/main" val="10002"/>
                  </a:ext>
                </a:extLst>
              </a:tr>
              <a:tr h="286739">
                <a:tc>
                  <a:txBody>
                    <a:bodyPr/>
                    <a:lstStyle/>
                    <a:p>
                      <a:r>
                        <a:rPr lang="en-US" sz="1000" b="1" u="none" dirty="0">
                          <a:solidFill>
                            <a:srgbClr val="C5A56A"/>
                          </a:solidFill>
                          <a:latin typeface="微软雅黑" pitchFamily="34" charset="0"/>
                          <a:ea typeface="微软雅黑" pitchFamily="34" charset="-122"/>
                          <a:cs typeface="微软雅黑" pitchFamily="34" charset="-120"/>
                        </a:rPr>
                        <a:t>3.3σ (RAT)</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C5A56A">
                        <a:alpha val="10000"/>
                      </a:srgbClr>
                    </a:solidFill>
                  </a:tcPr>
                </a:tc>
                <a:tc>
                  <a:txBody>
                    <a:bodyPr/>
                    <a:lstStyle/>
                    <a:p>
                      <a:pPr algn="ctr"/>
                      <a:r>
                        <a:rPr lang="en-US" sz="1000" b="1" u="none" dirty="0">
                          <a:solidFill>
                            <a:srgbClr val="C5A56A"/>
                          </a:solidFill>
                          <a:latin typeface="微软雅黑" pitchFamily="34" charset="0"/>
                          <a:ea typeface="微软雅黑" pitchFamily="34" charset="-122"/>
                          <a:cs typeface="微软雅黑" pitchFamily="34" charset="-120"/>
                        </a:rPr>
                        <a:t>34,300</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C5A56A">
                        <a:alpha val="10000"/>
                      </a:srgbClr>
                    </a:solidFill>
                  </a:tcPr>
                </a:tc>
                <a:tc>
                  <a:txBody>
                    <a:bodyPr/>
                    <a:lstStyle/>
                    <a:p>
                      <a:pPr algn="ctr"/>
                      <a:r>
                        <a:rPr lang="en-US" sz="1000" b="1" u="none" dirty="0">
                          <a:solidFill>
                            <a:srgbClr val="C5A56A"/>
                          </a:solidFill>
                          <a:latin typeface="微软雅黑" pitchFamily="34" charset="0"/>
                          <a:ea typeface="微软雅黑" pitchFamily="34" charset="-122"/>
                          <a:cs typeface="微软雅黑" pitchFamily="34" charset="-120"/>
                        </a:rPr>
                        <a:t>96.57%</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C5A56A">
                        <a:alpha val="10000"/>
                      </a:srgbClr>
                    </a:solidFill>
                  </a:tcPr>
                </a:tc>
                <a:extLst>
                  <a:ext uri="{0D108BD9-81ED-4DB2-BD59-A6C34878D82A}">
                    <a16:rowId xmlns:a16="http://schemas.microsoft.com/office/drawing/2014/main" val="10003"/>
                  </a:ext>
                </a:extLst>
              </a:tr>
              <a:tr h="286739">
                <a:tc>
                  <a:txBody>
                    <a:bodyPr/>
                    <a:lstStyle/>
                    <a:p>
                      <a:r>
                        <a:rPr lang="en-US" sz="1000" b="1" u="none" dirty="0">
                          <a:solidFill>
                            <a:srgbClr val="1A3A52"/>
                          </a:solidFill>
                          <a:latin typeface="微软雅黑" pitchFamily="34" charset="0"/>
                          <a:ea typeface="微软雅黑" pitchFamily="34" charset="-122"/>
                          <a:cs typeface="微软雅黑" pitchFamily="34" charset="-120"/>
                        </a:rPr>
                        <a:t>4σ</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6,210</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99.38%</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286739">
                <a:tc>
                  <a:txBody>
                    <a:bodyPr/>
                    <a:lstStyle/>
                    <a:p>
                      <a:r>
                        <a:rPr lang="en-US" sz="1000" b="1" u="none" dirty="0">
                          <a:solidFill>
                            <a:srgbClr val="1A3A52"/>
                          </a:solidFill>
                          <a:latin typeface="微软雅黑" pitchFamily="34" charset="0"/>
                          <a:ea typeface="微软雅黑" pitchFamily="34" charset="-122"/>
                          <a:cs typeface="微软雅黑" pitchFamily="34" charset="-120"/>
                        </a:rPr>
                        <a:t>5σ</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233</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212529"/>
                          </a:solidFill>
                          <a:latin typeface="微软雅黑" pitchFamily="34" charset="0"/>
                          <a:ea typeface="微软雅黑" pitchFamily="34" charset="-122"/>
                          <a:cs typeface="微软雅黑" pitchFamily="34" charset="-120"/>
                        </a:rPr>
                        <a:t>99.977%</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8467"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286739">
                <a:tc>
                  <a:txBody>
                    <a:bodyPr/>
                    <a:lstStyle/>
                    <a:p>
                      <a:r>
                        <a:rPr lang="en-US" sz="1000" b="1" u="none" dirty="0">
                          <a:solidFill>
                            <a:srgbClr val="008236"/>
                          </a:solidFill>
                          <a:latin typeface="微软雅黑" pitchFamily="34" charset="0"/>
                          <a:ea typeface="微软雅黑" pitchFamily="34" charset="-122"/>
                          <a:cs typeface="微软雅黑" pitchFamily="34" charset="-120"/>
                        </a:rPr>
                        <a:t>6σ (Target)</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F0FDF4"/>
                    </a:solidFill>
                  </a:tcPr>
                </a:tc>
                <a:tc>
                  <a:txBody>
                    <a:bodyPr/>
                    <a:lstStyle/>
                    <a:p>
                      <a:pPr algn="ctr"/>
                      <a:r>
                        <a:rPr lang="en-US" sz="1000" u="none" dirty="0">
                          <a:solidFill>
                            <a:srgbClr val="008236"/>
                          </a:solidFill>
                          <a:latin typeface="微软雅黑" pitchFamily="34" charset="0"/>
                          <a:ea typeface="微软雅黑" pitchFamily="34" charset="-122"/>
                          <a:cs typeface="微软雅黑" pitchFamily="34" charset="-120"/>
                        </a:rPr>
                        <a:t>3.4</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F0FDF4"/>
                    </a:solidFill>
                  </a:tcPr>
                </a:tc>
                <a:tc>
                  <a:txBody>
                    <a:bodyPr/>
                    <a:lstStyle/>
                    <a:p>
                      <a:pPr algn="ctr"/>
                      <a:r>
                        <a:rPr lang="en-US" sz="1000" u="none" dirty="0">
                          <a:solidFill>
                            <a:srgbClr val="008236"/>
                          </a:solidFill>
                          <a:latin typeface="微软雅黑" pitchFamily="34" charset="0"/>
                          <a:ea typeface="微软雅黑" pitchFamily="34" charset="-122"/>
                          <a:cs typeface="微软雅黑" pitchFamily="34" charset="-120"/>
                        </a:rPr>
                        <a:t>99.99966%</a:t>
                      </a:r>
                      <a:endParaRPr lang="en-US" sz="1000" dirty="0">
                        <a:latin typeface="微软雅黑" charset="0"/>
                        <a:ea typeface="微软雅黑" charset="0"/>
                        <a:cs typeface="微软雅黑" charset="0"/>
                      </a:endParaRPr>
                    </a:p>
                  </a:txBody>
                  <a:tcPr marL="63874" marR="63874" marT="63874" marB="63874" anchor="ctr">
                    <a:lnL w="0" cap="flat" cmpd="sng" algn="ctr">
                      <a:noFill/>
                    </a:lnL>
                    <a:lnR w="0" cap="flat" cmpd="sng" algn="ctr">
                      <a:noFill/>
                    </a:lnR>
                    <a:lnT w="8467" cap="flat" cmpd="sng" algn="ctr">
                      <a:solidFill>
                        <a:srgbClr val="000000"/>
                      </a:solidFill>
                      <a:prstDash val="solid"/>
                      <a:round/>
                      <a:headEnd type="none" w="med" len="med"/>
                      <a:tailEnd type="none" w="med" len="med"/>
                    </a:lnT>
                    <a:lnB w="0" cap="flat" cmpd="sng" algn="ctr">
                      <a:noFill/>
                    </a:lnB>
                    <a:solidFill>
                      <a:srgbClr val="F0FDF4"/>
                    </a:solidFill>
                  </a:tcPr>
                </a:tc>
                <a:extLst>
                  <a:ext uri="{0D108BD9-81ED-4DB2-BD59-A6C34878D82A}">
                    <a16:rowId xmlns:a16="http://schemas.microsoft.com/office/drawing/2014/main" val="10006"/>
                  </a:ext>
                </a:extLst>
              </a:tr>
            </a:tbl>
          </a:graphicData>
        </a:graphic>
      </p:graphicFrame>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C5A56A"/>
                </a:solidFill>
                <a:latin typeface="Liter" pitchFamily="34" charset="0"/>
                <a:ea typeface="Liter" pitchFamily="34" charset="-122"/>
                <a:cs typeface="Liter" pitchFamily="34" charset="-120"/>
              </a:rPr>
              <a:t>Vital Few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1A3A52"/>
                </a:solidFill>
                <a:latin typeface="Liter" pitchFamily="34" charset="0"/>
                <a:ea typeface="Liter" pitchFamily="34" charset="-122"/>
                <a:cs typeface="Liter" pitchFamily="34" charset="-120"/>
              </a:rPr>
              <a:t>Pareto Chart</a:t>
            </a:r>
            <a:endParaRPr lang="en-US" sz="1600" dirty="0"/>
          </a:p>
        </p:txBody>
      </p:sp>
      <p:sp>
        <p:nvSpPr>
          <p:cNvPr id="4" name="Text 2"/>
          <p:cNvSpPr/>
          <p:nvPr/>
        </p:nvSpPr>
        <p:spPr>
          <a:xfrm>
            <a:off x="317500" y="1016000"/>
            <a:ext cx="11636375" cy="222250"/>
          </a:xfrm>
          <a:prstGeom prst="rect">
            <a:avLst/>
          </a:prstGeom>
          <a:noFill/>
          <a:ln/>
        </p:spPr>
        <p:txBody>
          <a:bodyPr wrap="square" lIns="0" tIns="0" rIns="0" bIns="0" rtlCol="0" anchor="ctr"/>
          <a:lstStyle/>
          <a:p>
            <a:pPr>
              <a:lnSpc>
                <a:spcPct val="120000"/>
              </a:lnSpc>
            </a:pPr>
            <a:r>
              <a:rPr lang="en-US" sz="1250" dirty="0">
                <a:solidFill>
                  <a:srgbClr val="5E7A91"/>
                </a:solidFill>
                <a:latin typeface="Liter" pitchFamily="34" charset="0"/>
                <a:ea typeface="Liter" pitchFamily="34" charset="-122"/>
                <a:cs typeface="Liter" pitchFamily="34" charset="-120"/>
              </a:rPr>
              <a:t>80/20 Rule Application to Attrition Causes</a:t>
            </a:r>
            <a:endParaRPr lang="en-US" sz="1600" dirty="0"/>
          </a:p>
        </p:txBody>
      </p:sp>
      <p:sp>
        <p:nvSpPr>
          <p:cNvPr id="5" name="Shape 3"/>
          <p:cNvSpPr/>
          <p:nvPr/>
        </p:nvSpPr>
        <p:spPr>
          <a:xfrm>
            <a:off x="317500" y="13335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C5A56A"/>
          </a:solidFill>
          <a:ln/>
        </p:spPr>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6250" y="1651000"/>
            <a:ext cx="5334000" cy="3810000"/>
          </a:xfrm>
          <a:prstGeom prst="roundRect">
            <a:avLst>
              <a:gd name="adj" fmla="val 0"/>
            </a:avLst>
          </a:prstGeom>
        </p:spPr>
      </p:pic>
      <p:sp>
        <p:nvSpPr>
          <p:cNvPr id="11" name="Shape 6"/>
          <p:cNvSpPr/>
          <p:nvPr/>
        </p:nvSpPr>
        <p:spPr>
          <a:xfrm>
            <a:off x="7567166" y="1651000"/>
            <a:ext cx="178594" cy="238125"/>
          </a:xfrm>
          <a:custGeom>
            <a:avLst/>
            <a:gdLst/>
            <a:ahLst/>
            <a:cxnLst/>
            <a:rect l="l" t="t" r="r" b="b"/>
            <a:pathLst>
              <a:path w="178594" h="238125">
                <a:moveTo>
                  <a:pt x="136224" y="178594"/>
                </a:moveTo>
                <a:cubicBezTo>
                  <a:pt x="139619" y="168222"/>
                  <a:pt x="146410" y="158828"/>
                  <a:pt x="154084" y="150735"/>
                </a:cubicBezTo>
                <a:cubicBezTo>
                  <a:pt x="169292" y="134736"/>
                  <a:pt x="178594" y="113109"/>
                  <a:pt x="178594" y="89297"/>
                </a:cubicBezTo>
                <a:cubicBezTo>
                  <a:pt x="178594" y="39998"/>
                  <a:pt x="138596" y="0"/>
                  <a:pt x="89297" y="0"/>
                </a:cubicBezTo>
                <a:cubicBezTo>
                  <a:pt x="39998" y="0"/>
                  <a:pt x="0" y="39998"/>
                  <a:pt x="0" y="89297"/>
                </a:cubicBezTo>
                <a:cubicBezTo>
                  <a:pt x="0" y="113109"/>
                  <a:pt x="9302" y="134736"/>
                  <a:pt x="24510" y="150735"/>
                </a:cubicBezTo>
                <a:cubicBezTo>
                  <a:pt x="32184" y="158828"/>
                  <a:pt x="39021" y="168222"/>
                  <a:pt x="42370" y="178594"/>
                </a:cubicBezTo>
                <a:lnTo>
                  <a:pt x="136178" y="178594"/>
                </a:lnTo>
                <a:close/>
                <a:moveTo>
                  <a:pt x="133945" y="200918"/>
                </a:moveTo>
                <a:lnTo>
                  <a:pt x="44648" y="200918"/>
                </a:lnTo>
                <a:lnTo>
                  <a:pt x="44648" y="208359"/>
                </a:lnTo>
                <a:cubicBezTo>
                  <a:pt x="44648" y="228916"/>
                  <a:pt x="61299" y="245566"/>
                  <a:pt x="81855" y="245566"/>
                </a:cubicBezTo>
                <a:lnTo>
                  <a:pt x="96738" y="245566"/>
                </a:lnTo>
                <a:cubicBezTo>
                  <a:pt x="117295" y="245566"/>
                  <a:pt x="133945" y="228916"/>
                  <a:pt x="133945" y="208359"/>
                </a:cubicBezTo>
                <a:lnTo>
                  <a:pt x="133945" y="200918"/>
                </a:lnTo>
                <a:close/>
                <a:moveTo>
                  <a:pt x="85576" y="52090"/>
                </a:moveTo>
                <a:cubicBezTo>
                  <a:pt x="67066" y="52090"/>
                  <a:pt x="52090" y="67066"/>
                  <a:pt x="52090" y="85576"/>
                </a:cubicBezTo>
                <a:cubicBezTo>
                  <a:pt x="52090" y="91762"/>
                  <a:pt x="47113" y="96738"/>
                  <a:pt x="40928" y="96738"/>
                </a:cubicBezTo>
                <a:cubicBezTo>
                  <a:pt x="34742" y="96738"/>
                  <a:pt x="29766" y="91762"/>
                  <a:pt x="29766" y="85576"/>
                </a:cubicBezTo>
                <a:cubicBezTo>
                  <a:pt x="29766" y="54741"/>
                  <a:pt x="54741" y="29766"/>
                  <a:pt x="85576" y="29766"/>
                </a:cubicBezTo>
                <a:cubicBezTo>
                  <a:pt x="91762" y="29766"/>
                  <a:pt x="96738" y="34742"/>
                  <a:pt x="96738" y="40928"/>
                </a:cubicBezTo>
                <a:cubicBezTo>
                  <a:pt x="96738" y="47113"/>
                  <a:pt x="91762" y="52090"/>
                  <a:pt x="85576" y="52090"/>
                </a:cubicBezTo>
                <a:close/>
              </a:path>
            </a:pathLst>
          </a:custGeom>
          <a:solidFill>
            <a:srgbClr val="C5A56A"/>
          </a:solidFill>
          <a:ln/>
        </p:spPr>
      </p:sp>
      <p:sp>
        <p:nvSpPr>
          <p:cNvPr id="12" name="Text 7"/>
          <p:cNvSpPr/>
          <p:nvPr/>
        </p:nvSpPr>
        <p:spPr>
          <a:xfrm>
            <a:off x="7898557" y="1658938"/>
            <a:ext cx="928688" cy="222250"/>
          </a:xfrm>
          <a:prstGeom prst="rect">
            <a:avLst/>
          </a:prstGeom>
          <a:noFill/>
          <a:ln/>
        </p:spPr>
        <p:txBody>
          <a:bodyPr wrap="square" lIns="0" tIns="0" rIns="0" bIns="0" rtlCol="0" anchor="ctr"/>
          <a:lstStyle/>
          <a:p>
            <a:pPr>
              <a:lnSpc>
                <a:spcPct val="120000"/>
              </a:lnSpc>
            </a:pPr>
            <a:r>
              <a:rPr lang="en-US" sz="1250" b="1" dirty="0">
                <a:solidFill>
                  <a:srgbClr val="1A3A52"/>
                </a:solidFill>
                <a:latin typeface="Liter" pitchFamily="34" charset="0"/>
                <a:ea typeface="Liter" pitchFamily="34" charset="-122"/>
                <a:cs typeface="Liter" pitchFamily="34" charset="-120"/>
              </a:rPr>
              <a:t>Key Insights</a:t>
            </a:r>
            <a:endParaRPr lang="en-US" sz="1600" dirty="0"/>
          </a:p>
        </p:txBody>
      </p:sp>
      <p:sp>
        <p:nvSpPr>
          <p:cNvPr id="13" name="Shape 8"/>
          <p:cNvSpPr/>
          <p:nvPr/>
        </p:nvSpPr>
        <p:spPr>
          <a:xfrm>
            <a:off x="7521525" y="2016125"/>
            <a:ext cx="4191000" cy="698500"/>
          </a:xfrm>
          <a:custGeom>
            <a:avLst/>
            <a:gdLst/>
            <a:ahLst/>
            <a:cxnLst/>
            <a:rect l="l" t="t" r="r" b="b"/>
            <a:pathLst>
              <a:path w="4191000" h="698500">
                <a:moveTo>
                  <a:pt x="31750" y="0"/>
                </a:moveTo>
                <a:lnTo>
                  <a:pt x="4127499" y="0"/>
                </a:lnTo>
                <a:cubicBezTo>
                  <a:pt x="4162570" y="0"/>
                  <a:pt x="4191000" y="28430"/>
                  <a:pt x="4191000" y="63501"/>
                </a:cubicBezTo>
                <a:lnTo>
                  <a:pt x="4191000" y="634999"/>
                </a:lnTo>
                <a:cubicBezTo>
                  <a:pt x="4191000" y="670070"/>
                  <a:pt x="4162570" y="698500"/>
                  <a:pt x="4127499" y="698500"/>
                </a:cubicBezTo>
                <a:lnTo>
                  <a:pt x="31750" y="698500"/>
                </a:lnTo>
                <a:cubicBezTo>
                  <a:pt x="14215" y="698500"/>
                  <a:pt x="0" y="684285"/>
                  <a:pt x="0" y="666750"/>
                </a:cubicBezTo>
                <a:lnTo>
                  <a:pt x="0" y="31750"/>
                </a:lnTo>
                <a:cubicBezTo>
                  <a:pt x="0" y="14227"/>
                  <a:pt x="14227" y="0"/>
                  <a:pt x="31750" y="0"/>
                </a:cubicBezTo>
                <a:close/>
              </a:path>
            </a:pathLst>
          </a:custGeom>
          <a:solidFill>
            <a:srgbClr val="C5A56A">
              <a:alpha val="10196"/>
            </a:srgbClr>
          </a:solidFill>
          <a:ln/>
        </p:spPr>
      </p:sp>
      <p:sp>
        <p:nvSpPr>
          <p:cNvPr id="14" name="Shape 9"/>
          <p:cNvSpPr/>
          <p:nvPr/>
        </p:nvSpPr>
        <p:spPr>
          <a:xfrm>
            <a:off x="7521525" y="201612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C5A56A"/>
          </a:solidFill>
          <a:ln/>
        </p:spPr>
      </p:sp>
      <p:sp>
        <p:nvSpPr>
          <p:cNvPr id="15" name="Shape 10"/>
          <p:cNvSpPr/>
          <p:nvPr/>
        </p:nvSpPr>
        <p:spPr>
          <a:xfrm>
            <a:off x="7672338" y="21748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C5A56A"/>
          </a:solidFill>
          <a:ln/>
        </p:spPr>
      </p:sp>
      <p:sp>
        <p:nvSpPr>
          <p:cNvPr id="16" name="Text 11"/>
          <p:cNvSpPr/>
          <p:nvPr/>
        </p:nvSpPr>
        <p:spPr>
          <a:xfrm>
            <a:off x="7886650" y="2143125"/>
            <a:ext cx="952500"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Vital Few (65%)</a:t>
            </a:r>
            <a:endParaRPr lang="en-US" sz="1600" dirty="0"/>
          </a:p>
        </p:txBody>
      </p:sp>
      <p:sp>
        <p:nvSpPr>
          <p:cNvPr id="17" name="Text 12"/>
          <p:cNvSpPr/>
          <p:nvPr/>
        </p:nvSpPr>
        <p:spPr>
          <a:xfrm>
            <a:off x="7664400" y="2397125"/>
            <a:ext cx="3984625" cy="190500"/>
          </a:xfrm>
          <a:prstGeom prst="rect">
            <a:avLst/>
          </a:prstGeom>
          <a:noFill/>
          <a:ln/>
        </p:spPr>
        <p:txBody>
          <a:bodyPr wrap="square" lIns="0" tIns="0" rIns="0" bIns="0" rtlCol="0" anchor="ctr"/>
          <a:lstStyle/>
          <a:p>
            <a:pPr>
              <a:lnSpc>
                <a:spcPct val="130000"/>
              </a:lnSpc>
            </a:pPr>
            <a:r>
              <a:rPr lang="en-US" sz="1000" b="1" dirty="0">
                <a:solidFill>
                  <a:srgbClr val="212529"/>
                </a:solidFill>
                <a:latin typeface="Liter" pitchFamily="34" charset="0"/>
                <a:ea typeface="Liter" pitchFamily="34" charset="-122"/>
                <a:cs typeface="Liter" pitchFamily="34" charset="-120"/>
              </a:rPr>
              <a:t>Higher Studies + Career Growth</a:t>
            </a:r>
            <a:r>
              <a:rPr lang="en-US" sz="1000" dirty="0">
                <a:solidFill>
                  <a:srgbClr val="212529"/>
                </a:solidFill>
                <a:latin typeface="Liter" pitchFamily="34" charset="0"/>
                <a:ea typeface="Liter" pitchFamily="34" charset="-122"/>
                <a:cs typeface="Liter" pitchFamily="34" charset="-120"/>
              </a:rPr>
              <a:t> together account for 65% of attrition</a:t>
            </a:r>
            <a:endParaRPr lang="en-US" sz="1600" dirty="0"/>
          </a:p>
        </p:txBody>
      </p:sp>
      <p:sp>
        <p:nvSpPr>
          <p:cNvPr id="18" name="Shape 13"/>
          <p:cNvSpPr/>
          <p:nvPr/>
        </p:nvSpPr>
        <p:spPr>
          <a:xfrm>
            <a:off x="7521525" y="2809875"/>
            <a:ext cx="4191000" cy="698500"/>
          </a:xfrm>
          <a:custGeom>
            <a:avLst/>
            <a:gdLst/>
            <a:ahLst/>
            <a:cxnLst/>
            <a:rect l="l" t="t" r="r" b="b"/>
            <a:pathLst>
              <a:path w="4191000" h="698500">
                <a:moveTo>
                  <a:pt x="31750" y="0"/>
                </a:moveTo>
                <a:lnTo>
                  <a:pt x="4127499" y="0"/>
                </a:lnTo>
                <a:cubicBezTo>
                  <a:pt x="4162570" y="0"/>
                  <a:pt x="4191000" y="28430"/>
                  <a:pt x="4191000" y="63501"/>
                </a:cubicBezTo>
                <a:lnTo>
                  <a:pt x="4191000" y="634999"/>
                </a:lnTo>
                <a:cubicBezTo>
                  <a:pt x="4191000" y="670070"/>
                  <a:pt x="4162570" y="698500"/>
                  <a:pt x="4127499" y="698500"/>
                </a:cubicBezTo>
                <a:lnTo>
                  <a:pt x="31750" y="698500"/>
                </a:lnTo>
                <a:cubicBezTo>
                  <a:pt x="14215" y="698500"/>
                  <a:pt x="0" y="684285"/>
                  <a:pt x="0" y="666750"/>
                </a:cubicBezTo>
                <a:lnTo>
                  <a:pt x="0" y="31750"/>
                </a:lnTo>
                <a:cubicBezTo>
                  <a:pt x="0" y="14227"/>
                  <a:pt x="14227" y="0"/>
                  <a:pt x="31750" y="0"/>
                </a:cubicBezTo>
                <a:close/>
              </a:path>
            </a:pathLst>
          </a:custGeom>
          <a:solidFill>
            <a:srgbClr val="5E7A91">
              <a:alpha val="10196"/>
            </a:srgbClr>
          </a:solidFill>
          <a:ln/>
        </p:spPr>
      </p:sp>
      <p:sp>
        <p:nvSpPr>
          <p:cNvPr id="19" name="Shape 14"/>
          <p:cNvSpPr/>
          <p:nvPr/>
        </p:nvSpPr>
        <p:spPr>
          <a:xfrm>
            <a:off x="7521525" y="280987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5E7A91"/>
          </a:solidFill>
          <a:ln/>
        </p:spPr>
      </p:sp>
      <p:sp>
        <p:nvSpPr>
          <p:cNvPr id="20" name="Shape 15"/>
          <p:cNvSpPr/>
          <p:nvPr/>
        </p:nvSpPr>
        <p:spPr>
          <a:xfrm>
            <a:off x="7672338" y="2968625"/>
            <a:ext cx="142875" cy="127000"/>
          </a:xfrm>
          <a:custGeom>
            <a:avLst/>
            <a:gdLst/>
            <a:ahLst/>
            <a:cxnLst/>
            <a:rect l="l" t="t" r="r" b="b"/>
            <a:pathLst>
              <a:path w="142875" h="127000">
                <a:moveTo>
                  <a:pt x="127099" y="59531"/>
                </a:moveTo>
                <a:lnTo>
                  <a:pt x="83443" y="59531"/>
                </a:lnTo>
                <a:cubicBezTo>
                  <a:pt x="79053" y="59531"/>
                  <a:pt x="75505" y="55984"/>
                  <a:pt x="75505" y="51594"/>
                </a:cubicBezTo>
                <a:lnTo>
                  <a:pt x="75505" y="7938"/>
                </a:lnTo>
                <a:cubicBezTo>
                  <a:pt x="75505" y="3547"/>
                  <a:pt x="79077" y="-50"/>
                  <a:pt x="83418" y="521"/>
                </a:cubicBezTo>
                <a:cubicBezTo>
                  <a:pt x="109959" y="4043"/>
                  <a:pt x="130994" y="25078"/>
                  <a:pt x="134516" y="51619"/>
                </a:cubicBezTo>
                <a:cubicBezTo>
                  <a:pt x="135086" y="55959"/>
                  <a:pt x="131490" y="59531"/>
                  <a:pt x="127099" y="59531"/>
                </a:cubicBezTo>
                <a:close/>
                <a:moveTo>
                  <a:pt x="55215" y="9227"/>
                </a:moveTo>
                <a:cubicBezTo>
                  <a:pt x="59705" y="8285"/>
                  <a:pt x="63599" y="11956"/>
                  <a:pt x="63599" y="16545"/>
                </a:cubicBezTo>
                <a:lnTo>
                  <a:pt x="63599" y="65484"/>
                </a:lnTo>
                <a:cubicBezTo>
                  <a:pt x="63599" y="66873"/>
                  <a:pt x="64095" y="68213"/>
                  <a:pt x="64963" y="69279"/>
                </a:cubicBezTo>
                <a:lnTo>
                  <a:pt x="97730" y="108818"/>
                </a:lnTo>
                <a:cubicBezTo>
                  <a:pt x="100633" y="112316"/>
                  <a:pt x="100013" y="117599"/>
                  <a:pt x="96019" y="119757"/>
                </a:cubicBezTo>
                <a:cubicBezTo>
                  <a:pt x="87561" y="124371"/>
                  <a:pt x="77862" y="127000"/>
                  <a:pt x="67568" y="127000"/>
                </a:cubicBezTo>
                <a:cubicBezTo>
                  <a:pt x="34702" y="127000"/>
                  <a:pt x="8037" y="100335"/>
                  <a:pt x="8037" y="67469"/>
                </a:cubicBezTo>
                <a:cubicBezTo>
                  <a:pt x="8037" y="38819"/>
                  <a:pt x="28253" y="14908"/>
                  <a:pt x="55215" y="9227"/>
                </a:cubicBezTo>
                <a:close/>
                <a:moveTo>
                  <a:pt x="118517" y="71438"/>
                </a:moveTo>
                <a:lnTo>
                  <a:pt x="134392" y="71438"/>
                </a:lnTo>
                <a:cubicBezTo>
                  <a:pt x="138981" y="71438"/>
                  <a:pt x="142652" y="75332"/>
                  <a:pt x="141709" y="79821"/>
                </a:cubicBezTo>
                <a:cubicBezTo>
                  <a:pt x="139179" y="91827"/>
                  <a:pt x="133028" y="102493"/>
                  <a:pt x="124445" y="110629"/>
                </a:cubicBezTo>
                <a:cubicBezTo>
                  <a:pt x="121394" y="113531"/>
                  <a:pt x="116607" y="112911"/>
                  <a:pt x="113928" y="109662"/>
                </a:cubicBezTo>
                <a:lnTo>
                  <a:pt x="92993" y="84435"/>
                </a:lnTo>
                <a:cubicBezTo>
                  <a:pt x="88702" y="79251"/>
                  <a:pt x="92397" y="71438"/>
                  <a:pt x="99095" y="71438"/>
                </a:cubicBezTo>
                <a:lnTo>
                  <a:pt x="118492" y="71438"/>
                </a:lnTo>
                <a:close/>
              </a:path>
            </a:pathLst>
          </a:custGeom>
          <a:solidFill>
            <a:srgbClr val="5E7A91"/>
          </a:solidFill>
          <a:ln/>
        </p:spPr>
      </p:sp>
      <p:sp>
        <p:nvSpPr>
          <p:cNvPr id="21" name="Text 16"/>
          <p:cNvSpPr/>
          <p:nvPr/>
        </p:nvSpPr>
        <p:spPr>
          <a:xfrm>
            <a:off x="7886650" y="2936875"/>
            <a:ext cx="1484313"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Secondary Causes (30%)</a:t>
            </a:r>
            <a:endParaRPr lang="en-US" sz="1600" dirty="0"/>
          </a:p>
        </p:txBody>
      </p:sp>
      <p:sp>
        <p:nvSpPr>
          <p:cNvPr id="22" name="Text 17"/>
          <p:cNvSpPr/>
          <p:nvPr/>
        </p:nvSpPr>
        <p:spPr>
          <a:xfrm>
            <a:off x="7664400" y="3190875"/>
            <a:ext cx="3984625" cy="190500"/>
          </a:xfrm>
          <a:prstGeom prst="rect">
            <a:avLst/>
          </a:prstGeom>
          <a:noFill/>
          <a:ln/>
        </p:spPr>
        <p:txBody>
          <a:bodyPr wrap="square" lIns="0" tIns="0" rIns="0" bIns="0" rtlCol="0" anchor="ctr"/>
          <a:lstStyle/>
          <a:p>
            <a:pPr>
              <a:lnSpc>
                <a:spcPct val="130000"/>
              </a:lnSpc>
            </a:pPr>
            <a:r>
              <a:rPr lang="en-US" sz="1000" b="1" dirty="0">
                <a:solidFill>
                  <a:srgbClr val="212529"/>
                </a:solidFill>
                <a:latin typeface="Liter" pitchFamily="34" charset="0"/>
                <a:ea typeface="Liter" pitchFamily="34" charset="-122"/>
                <a:cs typeface="Liter" pitchFamily="34" charset="-120"/>
              </a:rPr>
              <a:t>Relocation</a:t>
            </a:r>
            <a:r>
              <a:rPr lang="en-US" sz="1000" dirty="0">
                <a:solidFill>
                  <a:srgbClr val="212529"/>
                </a:solidFill>
                <a:latin typeface="Liter" pitchFamily="34" charset="0"/>
                <a:ea typeface="Liter" pitchFamily="34" charset="-122"/>
                <a:cs typeface="Liter" pitchFamily="34" charset="-120"/>
              </a:rPr>
              <a:t> and </a:t>
            </a:r>
            <a:r>
              <a:rPr lang="en-US" sz="1000" b="1" dirty="0">
                <a:solidFill>
                  <a:srgbClr val="212529"/>
                </a:solidFill>
                <a:latin typeface="Liter" pitchFamily="34" charset="0"/>
                <a:ea typeface="Liter" pitchFamily="34" charset="-122"/>
                <a:cs typeface="Liter" pitchFamily="34" charset="-120"/>
              </a:rPr>
              <a:t>Health Reasons</a:t>
            </a:r>
            <a:r>
              <a:rPr lang="en-US" sz="1000" dirty="0">
                <a:solidFill>
                  <a:srgbClr val="212529"/>
                </a:solidFill>
                <a:latin typeface="Liter" pitchFamily="34" charset="0"/>
                <a:ea typeface="Liter" pitchFamily="34" charset="-122"/>
                <a:cs typeface="Liter" pitchFamily="34" charset="-120"/>
              </a:rPr>
              <a:t> add another 30%</a:t>
            </a:r>
            <a:endParaRPr lang="en-US" sz="1600" dirty="0"/>
          </a:p>
        </p:txBody>
      </p:sp>
      <p:sp>
        <p:nvSpPr>
          <p:cNvPr id="25" name="Shape 20"/>
          <p:cNvSpPr/>
          <p:nvPr/>
        </p:nvSpPr>
        <p:spPr>
          <a:xfrm>
            <a:off x="7680275" y="3762375"/>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41672" y="57547"/>
                </a:moveTo>
                <a:lnTo>
                  <a:pt x="85328" y="57547"/>
                </a:lnTo>
                <a:cubicBezTo>
                  <a:pt x="88627" y="57547"/>
                  <a:pt x="91281" y="60201"/>
                  <a:pt x="91281" y="63500"/>
                </a:cubicBezTo>
                <a:cubicBezTo>
                  <a:pt x="91281" y="66799"/>
                  <a:pt x="88627" y="69453"/>
                  <a:pt x="85328" y="69453"/>
                </a:cubicBezTo>
                <a:lnTo>
                  <a:pt x="41672" y="69453"/>
                </a:lnTo>
                <a:cubicBezTo>
                  <a:pt x="38373" y="69453"/>
                  <a:pt x="35719" y="66799"/>
                  <a:pt x="35719" y="63500"/>
                </a:cubicBezTo>
                <a:cubicBezTo>
                  <a:pt x="35719" y="60201"/>
                  <a:pt x="38373" y="57547"/>
                  <a:pt x="41672" y="57547"/>
                </a:cubicBezTo>
                <a:close/>
              </a:path>
            </a:pathLst>
          </a:custGeom>
          <a:solidFill>
            <a:srgbClr val="1A3A52"/>
          </a:solidFill>
          <a:ln/>
        </p:spPr>
      </p:sp>
      <p:sp>
        <p:nvSpPr>
          <p:cNvPr id="26" name="Text 21"/>
          <p:cNvSpPr/>
          <p:nvPr/>
        </p:nvSpPr>
        <p:spPr>
          <a:xfrm>
            <a:off x="7886650" y="3730625"/>
            <a:ext cx="1420813"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Minor Contributors (5%)</a:t>
            </a:r>
            <a:endParaRPr lang="en-US" sz="1600" dirty="0"/>
          </a:p>
        </p:txBody>
      </p:sp>
      <p:sp>
        <p:nvSpPr>
          <p:cNvPr id="27" name="Text 22"/>
          <p:cNvSpPr/>
          <p:nvPr/>
        </p:nvSpPr>
        <p:spPr>
          <a:xfrm>
            <a:off x="7664400" y="3984625"/>
            <a:ext cx="3984625" cy="190500"/>
          </a:xfrm>
          <a:prstGeom prst="rect">
            <a:avLst/>
          </a:prstGeom>
          <a:noFill/>
          <a:ln/>
        </p:spPr>
        <p:txBody>
          <a:bodyPr wrap="square" lIns="0" tIns="0" rIns="0" bIns="0" rtlCol="0" anchor="ctr"/>
          <a:lstStyle/>
          <a:p>
            <a:pPr>
              <a:lnSpc>
                <a:spcPct val="130000"/>
              </a:lnSpc>
            </a:pPr>
            <a:r>
              <a:rPr lang="en-US" sz="1000" b="1" dirty="0">
                <a:solidFill>
                  <a:srgbClr val="212529"/>
                </a:solidFill>
                <a:latin typeface="Liter" pitchFamily="34" charset="0"/>
                <a:ea typeface="Liter" pitchFamily="34" charset="-122"/>
                <a:cs typeface="Liter" pitchFamily="34" charset="-120"/>
              </a:rPr>
              <a:t>Marriage</a:t>
            </a:r>
            <a:r>
              <a:rPr lang="en-US" sz="1000" dirty="0">
                <a:solidFill>
                  <a:srgbClr val="212529"/>
                </a:solidFill>
                <a:latin typeface="Liter" pitchFamily="34" charset="0"/>
                <a:ea typeface="Liter" pitchFamily="34" charset="-122"/>
                <a:cs typeface="Liter" pitchFamily="34" charset="-120"/>
              </a:rPr>
              <a:t> and </a:t>
            </a:r>
            <a:r>
              <a:rPr lang="en-US" sz="1000" b="1" dirty="0">
                <a:solidFill>
                  <a:srgbClr val="212529"/>
                </a:solidFill>
                <a:latin typeface="Liter" pitchFamily="34" charset="0"/>
                <a:ea typeface="Liter" pitchFamily="34" charset="-122"/>
                <a:cs typeface="Liter" pitchFamily="34" charset="-120"/>
              </a:rPr>
              <a:t>Business</a:t>
            </a:r>
            <a:r>
              <a:rPr lang="en-US" sz="1000" dirty="0">
                <a:solidFill>
                  <a:srgbClr val="212529"/>
                </a:solidFill>
                <a:latin typeface="Liter" pitchFamily="34" charset="0"/>
                <a:ea typeface="Liter" pitchFamily="34" charset="-122"/>
                <a:cs typeface="Liter" pitchFamily="34" charset="-120"/>
              </a:rPr>
              <a:t> are minor contributors (5% each)</a:t>
            </a:r>
            <a:endParaRPr lang="en-US" sz="1600" dirty="0"/>
          </a:p>
        </p:txBody>
      </p:sp>
      <p:sp>
        <p:nvSpPr>
          <p:cNvPr id="33" name="Text 28"/>
          <p:cNvSpPr/>
          <p:nvPr/>
        </p:nvSpPr>
        <p:spPr>
          <a:xfrm>
            <a:off x="7473900" y="5889625"/>
            <a:ext cx="4333875"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Cause Breakdown</a:t>
            </a:r>
            <a:endParaRPr lang="en-US" sz="1600" dirty="0"/>
          </a:p>
        </p:txBody>
      </p:sp>
      <p:sp>
        <p:nvSpPr>
          <p:cNvPr id="34" name="Text 29"/>
          <p:cNvSpPr/>
          <p:nvPr/>
        </p:nvSpPr>
        <p:spPr>
          <a:xfrm>
            <a:off x="7473900" y="6143625"/>
            <a:ext cx="889000"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Higher Studies</a:t>
            </a:r>
            <a:endParaRPr lang="en-US" sz="1600" dirty="0"/>
          </a:p>
        </p:txBody>
      </p:sp>
      <p:sp>
        <p:nvSpPr>
          <p:cNvPr id="35" name="Text 30"/>
          <p:cNvSpPr/>
          <p:nvPr/>
        </p:nvSpPr>
        <p:spPr>
          <a:xfrm>
            <a:off x="11498544" y="6143625"/>
            <a:ext cx="309563"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35%</a:t>
            </a:r>
            <a:endParaRPr lang="en-US" sz="1600" dirty="0"/>
          </a:p>
        </p:txBody>
      </p:sp>
      <p:sp>
        <p:nvSpPr>
          <p:cNvPr id="36" name="Text 31"/>
          <p:cNvSpPr/>
          <p:nvPr/>
        </p:nvSpPr>
        <p:spPr>
          <a:xfrm>
            <a:off x="7473900" y="6365875"/>
            <a:ext cx="881063"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Career Growth</a:t>
            </a:r>
            <a:endParaRPr lang="en-US" sz="1600" dirty="0"/>
          </a:p>
        </p:txBody>
      </p:sp>
      <p:sp>
        <p:nvSpPr>
          <p:cNvPr id="37" name="Text 32"/>
          <p:cNvSpPr/>
          <p:nvPr/>
        </p:nvSpPr>
        <p:spPr>
          <a:xfrm>
            <a:off x="11490689" y="6365875"/>
            <a:ext cx="317500"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30%</a:t>
            </a:r>
            <a:endParaRPr lang="en-US" sz="1600" dirty="0"/>
          </a:p>
        </p:txBody>
      </p:sp>
      <p:sp>
        <p:nvSpPr>
          <p:cNvPr id="38" name="Text 33"/>
          <p:cNvSpPr/>
          <p:nvPr/>
        </p:nvSpPr>
        <p:spPr>
          <a:xfrm>
            <a:off x="7473900" y="6588125"/>
            <a:ext cx="658813"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Relocation</a:t>
            </a:r>
            <a:endParaRPr lang="en-US" sz="1600" dirty="0"/>
          </a:p>
        </p:txBody>
      </p:sp>
      <p:sp>
        <p:nvSpPr>
          <p:cNvPr id="39" name="Text 34"/>
          <p:cNvSpPr/>
          <p:nvPr/>
        </p:nvSpPr>
        <p:spPr>
          <a:xfrm>
            <a:off x="11517892" y="6588125"/>
            <a:ext cx="293688" cy="190500"/>
          </a:xfrm>
          <a:prstGeom prst="rect">
            <a:avLst/>
          </a:prstGeom>
          <a:noFill/>
          <a:ln/>
        </p:spPr>
        <p:txBody>
          <a:bodyPr wrap="square" lIns="0" tIns="0" rIns="0" bIns="0" rtlCol="0" anchor="ctr"/>
          <a:lstStyle/>
          <a:p>
            <a:pPr>
              <a:lnSpc>
                <a:spcPct val="130000"/>
              </a:lnSpc>
            </a:pPr>
            <a:r>
              <a:rPr lang="en-US" sz="1000" b="1" dirty="0">
                <a:solidFill>
                  <a:srgbClr val="5E7A91"/>
                </a:solidFill>
                <a:latin typeface="Liter" pitchFamily="34" charset="0"/>
                <a:ea typeface="Liter" pitchFamily="34" charset="-122"/>
                <a:cs typeface="Liter" pitchFamily="34" charset="-120"/>
              </a:rPr>
              <a:t>18%</a:t>
            </a:r>
            <a:endParaRPr lang="en-US" sz="1600" dirty="0"/>
          </a:p>
        </p:txBody>
      </p:sp>
      <p:pic>
        <p:nvPicPr>
          <p:cNvPr id="46" name="Picture 45">
            <a:extLst>
              <a:ext uri="{FF2B5EF4-FFF2-40B4-BE49-F238E27FC236}">
                <a16:creationId xmlns:a16="http://schemas.microsoft.com/office/drawing/2014/main" id="{FEBC8E6A-4939-3334-C4AB-ED40708DF3EF}"/>
              </a:ext>
            </a:extLst>
          </p:cNvPr>
          <p:cNvPicPr>
            <a:picLocks noChangeAspect="1"/>
          </p:cNvPicPr>
          <p:nvPr/>
        </p:nvPicPr>
        <p:blipFill>
          <a:blip r:embed="rId5"/>
          <a:stretch>
            <a:fillRect/>
          </a:stretch>
        </p:blipFill>
        <p:spPr>
          <a:xfrm>
            <a:off x="788938" y="1889125"/>
            <a:ext cx="5705475" cy="3794760"/>
          </a:xfrm>
          <a:prstGeom prst="rect">
            <a:avLst/>
          </a:prstGeom>
        </p:spPr>
      </p:pic>
      <p:sp>
        <p:nvSpPr>
          <p:cNvPr id="6" name="Shape 5">
            <a:extLst>
              <a:ext uri="{FF2B5EF4-FFF2-40B4-BE49-F238E27FC236}">
                <a16:creationId xmlns:a16="http://schemas.microsoft.com/office/drawing/2014/main" id="{1F790770-7596-2F7C-BAAF-FB8459FEEAFD}"/>
              </a:ext>
            </a:extLst>
          </p:cNvPr>
          <p:cNvSpPr/>
          <p:nvPr/>
        </p:nvSpPr>
        <p:spPr>
          <a:xfrm>
            <a:off x="7346900" y="666750"/>
            <a:ext cx="4524375" cy="2968625"/>
          </a:xfrm>
          <a:custGeom>
            <a:avLst/>
            <a:gdLst/>
            <a:ahLst/>
            <a:cxnLst/>
            <a:rect l="l" t="t" r="r" b="b"/>
            <a:pathLst>
              <a:path w="4524375" h="2968625">
                <a:moveTo>
                  <a:pt x="63499" y="0"/>
                </a:moveTo>
                <a:lnTo>
                  <a:pt x="4460876" y="0"/>
                </a:lnTo>
                <a:cubicBezTo>
                  <a:pt x="4495946" y="0"/>
                  <a:pt x="4524375" y="28429"/>
                  <a:pt x="4524375" y="63499"/>
                </a:cubicBezTo>
                <a:lnTo>
                  <a:pt x="4524375" y="2905126"/>
                </a:lnTo>
                <a:cubicBezTo>
                  <a:pt x="4524375" y="2940196"/>
                  <a:pt x="4495946" y="2968625"/>
                  <a:pt x="4460876" y="2968625"/>
                </a:cubicBezTo>
                <a:lnTo>
                  <a:pt x="63499" y="2968625"/>
                </a:lnTo>
                <a:cubicBezTo>
                  <a:pt x="28429" y="2968625"/>
                  <a:pt x="0" y="2940196"/>
                  <a:pt x="0" y="2905126"/>
                </a:cubicBezTo>
                <a:lnTo>
                  <a:pt x="0" y="63499"/>
                </a:lnTo>
                <a:cubicBezTo>
                  <a:pt x="0" y="28453"/>
                  <a:pt x="28453" y="0"/>
                  <a:pt x="63499" y="0"/>
                </a:cubicBezTo>
                <a:close/>
              </a:path>
            </a:pathLst>
          </a:custGeom>
          <a:solidFill>
            <a:srgbClr val="FFFFFF"/>
          </a:solidFill>
          <a:ln/>
          <a:effectLst>
            <a:outerShdw blurRad="119063" dist="79375" dir="5400000" algn="bl" rotWithShape="0">
              <a:srgbClr val="000000">
                <a:alpha val="10196"/>
              </a:srgbClr>
            </a:outerShdw>
          </a:effectLst>
        </p:spPr>
      </p:sp>
      <p:sp>
        <p:nvSpPr>
          <p:cNvPr id="7" name="Shape 6">
            <a:extLst>
              <a:ext uri="{FF2B5EF4-FFF2-40B4-BE49-F238E27FC236}">
                <a16:creationId xmlns:a16="http://schemas.microsoft.com/office/drawing/2014/main" id="{5DE062FB-570B-3E07-A708-CD910C02E981}"/>
              </a:ext>
            </a:extLst>
          </p:cNvPr>
          <p:cNvSpPr/>
          <p:nvPr/>
        </p:nvSpPr>
        <p:spPr>
          <a:xfrm>
            <a:off x="7567166" y="825500"/>
            <a:ext cx="178594" cy="238125"/>
          </a:xfrm>
          <a:custGeom>
            <a:avLst/>
            <a:gdLst/>
            <a:ahLst/>
            <a:cxnLst/>
            <a:rect l="l" t="t" r="r" b="b"/>
            <a:pathLst>
              <a:path w="178594" h="238125">
                <a:moveTo>
                  <a:pt x="136224" y="178594"/>
                </a:moveTo>
                <a:cubicBezTo>
                  <a:pt x="139619" y="168222"/>
                  <a:pt x="146410" y="158828"/>
                  <a:pt x="154084" y="150735"/>
                </a:cubicBezTo>
                <a:cubicBezTo>
                  <a:pt x="169292" y="134736"/>
                  <a:pt x="178594" y="113109"/>
                  <a:pt x="178594" y="89297"/>
                </a:cubicBezTo>
                <a:cubicBezTo>
                  <a:pt x="178594" y="39998"/>
                  <a:pt x="138596" y="0"/>
                  <a:pt x="89297" y="0"/>
                </a:cubicBezTo>
                <a:cubicBezTo>
                  <a:pt x="39998" y="0"/>
                  <a:pt x="0" y="39998"/>
                  <a:pt x="0" y="89297"/>
                </a:cubicBezTo>
                <a:cubicBezTo>
                  <a:pt x="0" y="113109"/>
                  <a:pt x="9302" y="134736"/>
                  <a:pt x="24510" y="150735"/>
                </a:cubicBezTo>
                <a:cubicBezTo>
                  <a:pt x="32184" y="158828"/>
                  <a:pt x="39021" y="168222"/>
                  <a:pt x="42370" y="178594"/>
                </a:cubicBezTo>
                <a:lnTo>
                  <a:pt x="136178" y="178594"/>
                </a:lnTo>
                <a:close/>
                <a:moveTo>
                  <a:pt x="133945" y="200918"/>
                </a:moveTo>
                <a:lnTo>
                  <a:pt x="44648" y="200918"/>
                </a:lnTo>
                <a:lnTo>
                  <a:pt x="44648" y="208359"/>
                </a:lnTo>
                <a:cubicBezTo>
                  <a:pt x="44648" y="228916"/>
                  <a:pt x="61299" y="245566"/>
                  <a:pt x="81855" y="245566"/>
                </a:cubicBezTo>
                <a:lnTo>
                  <a:pt x="96738" y="245566"/>
                </a:lnTo>
                <a:cubicBezTo>
                  <a:pt x="117295" y="245566"/>
                  <a:pt x="133945" y="228916"/>
                  <a:pt x="133945" y="208359"/>
                </a:cubicBezTo>
                <a:lnTo>
                  <a:pt x="133945" y="200918"/>
                </a:lnTo>
                <a:close/>
                <a:moveTo>
                  <a:pt x="85576" y="52090"/>
                </a:moveTo>
                <a:cubicBezTo>
                  <a:pt x="67066" y="52090"/>
                  <a:pt x="52090" y="67066"/>
                  <a:pt x="52090" y="85576"/>
                </a:cubicBezTo>
                <a:cubicBezTo>
                  <a:pt x="52090" y="91762"/>
                  <a:pt x="47113" y="96738"/>
                  <a:pt x="40928" y="96738"/>
                </a:cubicBezTo>
                <a:cubicBezTo>
                  <a:pt x="34742" y="96738"/>
                  <a:pt x="29766" y="91762"/>
                  <a:pt x="29766" y="85576"/>
                </a:cubicBezTo>
                <a:cubicBezTo>
                  <a:pt x="29766" y="54741"/>
                  <a:pt x="54741" y="29766"/>
                  <a:pt x="85576" y="29766"/>
                </a:cubicBezTo>
                <a:cubicBezTo>
                  <a:pt x="91762" y="29766"/>
                  <a:pt x="96738" y="34742"/>
                  <a:pt x="96738" y="40928"/>
                </a:cubicBezTo>
                <a:cubicBezTo>
                  <a:pt x="96738" y="47113"/>
                  <a:pt x="91762" y="52090"/>
                  <a:pt x="85576" y="52090"/>
                </a:cubicBezTo>
                <a:close/>
              </a:path>
            </a:pathLst>
          </a:custGeom>
          <a:solidFill>
            <a:srgbClr val="C5A56A"/>
          </a:solidFill>
          <a:ln/>
        </p:spPr>
      </p:sp>
      <p:sp>
        <p:nvSpPr>
          <p:cNvPr id="8" name="Text 7">
            <a:extLst>
              <a:ext uri="{FF2B5EF4-FFF2-40B4-BE49-F238E27FC236}">
                <a16:creationId xmlns:a16="http://schemas.microsoft.com/office/drawing/2014/main" id="{E7E770BB-3B30-687B-98EF-F412A5D6C549}"/>
              </a:ext>
            </a:extLst>
          </p:cNvPr>
          <p:cNvSpPr/>
          <p:nvPr/>
        </p:nvSpPr>
        <p:spPr>
          <a:xfrm>
            <a:off x="7898557" y="833438"/>
            <a:ext cx="928688" cy="222250"/>
          </a:xfrm>
          <a:prstGeom prst="rect">
            <a:avLst/>
          </a:prstGeom>
          <a:noFill/>
          <a:ln/>
        </p:spPr>
        <p:txBody>
          <a:bodyPr wrap="square" lIns="0" tIns="0" rIns="0" bIns="0" rtlCol="0" anchor="ctr"/>
          <a:lstStyle/>
          <a:p>
            <a:pPr>
              <a:lnSpc>
                <a:spcPct val="120000"/>
              </a:lnSpc>
            </a:pPr>
            <a:r>
              <a:rPr lang="en-US" sz="1250" b="1" dirty="0">
                <a:solidFill>
                  <a:srgbClr val="1A3A52"/>
                </a:solidFill>
                <a:latin typeface="Liter" pitchFamily="34" charset="0"/>
                <a:ea typeface="Liter" pitchFamily="34" charset="-122"/>
                <a:cs typeface="Liter" pitchFamily="34" charset="-120"/>
              </a:rPr>
              <a:t>Key Insights</a:t>
            </a:r>
            <a:endParaRPr lang="en-US" sz="1600" dirty="0"/>
          </a:p>
        </p:txBody>
      </p:sp>
      <p:sp>
        <p:nvSpPr>
          <p:cNvPr id="47" name="Shape 8">
            <a:extLst>
              <a:ext uri="{FF2B5EF4-FFF2-40B4-BE49-F238E27FC236}">
                <a16:creationId xmlns:a16="http://schemas.microsoft.com/office/drawing/2014/main" id="{448566D2-A863-3372-C855-E81BD833916F}"/>
              </a:ext>
            </a:extLst>
          </p:cNvPr>
          <p:cNvSpPr/>
          <p:nvPr/>
        </p:nvSpPr>
        <p:spPr>
          <a:xfrm>
            <a:off x="7521525" y="1190625"/>
            <a:ext cx="4191000" cy="698500"/>
          </a:xfrm>
          <a:custGeom>
            <a:avLst/>
            <a:gdLst/>
            <a:ahLst/>
            <a:cxnLst/>
            <a:rect l="l" t="t" r="r" b="b"/>
            <a:pathLst>
              <a:path w="4191000" h="698500">
                <a:moveTo>
                  <a:pt x="31750" y="0"/>
                </a:moveTo>
                <a:lnTo>
                  <a:pt x="4127499" y="0"/>
                </a:lnTo>
                <a:cubicBezTo>
                  <a:pt x="4162570" y="0"/>
                  <a:pt x="4191000" y="28430"/>
                  <a:pt x="4191000" y="63501"/>
                </a:cubicBezTo>
                <a:lnTo>
                  <a:pt x="4191000" y="634999"/>
                </a:lnTo>
                <a:cubicBezTo>
                  <a:pt x="4191000" y="670070"/>
                  <a:pt x="4162570" y="698500"/>
                  <a:pt x="4127499" y="698500"/>
                </a:cubicBezTo>
                <a:lnTo>
                  <a:pt x="31750" y="698500"/>
                </a:lnTo>
                <a:cubicBezTo>
                  <a:pt x="14215" y="698500"/>
                  <a:pt x="0" y="684285"/>
                  <a:pt x="0" y="666750"/>
                </a:cubicBezTo>
                <a:lnTo>
                  <a:pt x="0" y="31750"/>
                </a:lnTo>
                <a:cubicBezTo>
                  <a:pt x="0" y="14227"/>
                  <a:pt x="14227" y="0"/>
                  <a:pt x="31750" y="0"/>
                </a:cubicBezTo>
                <a:close/>
              </a:path>
            </a:pathLst>
          </a:custGeom>
          <a:solidFill>
            <a:srgbClr val="C5A56A">
              <a:alpha val="10196"/>
            </a:srgbClr>
          </a:solidFill>
          <a:ln/>
        </p:spPr>
      </p:sp>
      <p:sp>
        <p:nvSpPr>
          <p:cNvPr id="48" name="Shape 9">
            <a:extLst>
              <a:ext uri="{FF2B5EF4-FFF2-40B4-BE49-F238E27FC236}">
                <a16:creationId xmlns:a16="http://schemas.microsoft.com/office/drawing/2014/main" id="{A6C3CEE1-A9AF-2AE5-83F4-A44161BA600C}"/>
              </a:ext>
            </a:extLst>
          </p:cNvPr>
          <p:cNvSpPr/>
          <p:nvPr/>
        </p:nvSpPr>
        <p:spPr>
          <a:xfrm>
            <a:off x="7521525" y="119062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C5A56A"/>
          </a:solidFill>
          <a:ln/>
        </p:spPr>
      </p:sp>
      <p:sp>
        <p:nvSpPr>
          <p:cNvPr id="49" name="Shape 10">
            <a:extLst>
              <a:ext uri="{FF2B5EF4-FFF2-40B4-BE49-F238E27FC236}">
                <a16:creationId xmlns:a16="http://schemas.microsoft.com/office/drawing/2014/main" id="{47BEC7E0-A6F0-DF3C-88D1-277F10855A2A}"/>
              </a:ext>
            </a:extLst>
          </p:cNvPr>
          <p:cNvSpPr/>
          <p:nvPr/>
        </p:nvSpPr>
        <p:spPr>
          <a:xfrm>
            <a:off x="7672338" y="1349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C5A56A"/>
          </a:solidFill>
          <a:ln/>
        </p:spPr>
      </p:sp>
      <p:sp>
        <p:nvSpPr>
          <p:cNvPr id="50" name="Text 11">
            <a:extLst>
              <a:ext uri="{FF2B5EF4-FFF2-40B4-BE49-F238E27FC236}">
                <a16:creationId xmlns:a16="http://schemas.microsoft.com/office/drawing/2014/main" id="{A4FF263F-5677-8609-D232-2A37E811A168}"/>
              </a:ext>
            </a:extLst>
          </p:cNvPr>
          <p:cNvSpPr/>
          <p:nvPr/>
        </p:nvSpPr>
        <p:spPr>
          <a:xfrm>
            <a:off x="7886650" y="1317625"/>
            <a:ext cx="952500"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Vital Few (65%)</a:t>
            </a:r>
            <a:endParaRPr lang="en-US" sz="1600" dirty="0"/>
          </a:p>
        </p:txBody>
      </p:sp>
      <p:sp>
        <p:nvSpPr>
          <p:cNvPr id="51" name="Text 12">
            <a:extLst>
              <a:ext uri="{FF2B5EF4-FFF2-40B4-BE49-F238E27FC236}">
                <a16:creationId xmlns:a16="http://schemas.microsoft.com/office/drawing/2014/main" id="{7B9442BD-05A3-0242-B6D8-ECA01C45B07D}"/>
              </a:ext>
            </a:extLst>
          </p:cNvPr>
          <p:cNvSpPr/>
          <p:nvPr/>
        </p:nvSpPr>
        <p:spPr>
          <a:xfrm>
            <a:off x="7664400" y="1571625"/>
            <a:ext cx="3984625" cy="190500"/>
          </a:xfrm>
          <a:prstGeom prst="rect">
            <a:avLst/>
          </a:prstGeom>
          <a:noFill/>
          <a:ln/>
        </p:spPr>
        <p:txBody>
          <a:bodyPr wrap="square" lIns="0" tIns="0" rIns="0" bIns="0" rtlCol="0" anchor="ctr"/>
          <a:lstStyle/>
          <a:p>
            <a:pPr>
              <a:lnSpc>
                <a:spcPct val="130000"/>
              </a:lnSpc>
            </a:pPr>
            <a:r>
              <a:rPr lang="en-US" sz="1000" b="1" dirty="0">
                <a:solidFill>
                  <a:srgbClr val="212529"/>
                </a:solidFill>
                <a:latin typeface="Liter" pitchFamily="34" charset="0"/>
                <a:ea typeface="Liter" pitchFamily="34" charset="-122"/>
                <a:cs typeface="Liter" pitchFamily="34" charset="-120"/>
              </a:rPr>
              <a:t>Higher Studies + Career Growth</a:t>
            </a:r>
            <a:r>
              <a:rPr lang="en-US" sz="1000" dirty="0">
                <a:solidFill>
                  <a:srgbClr val="212529"/>
                </a:solidFill>
                <a:latin typeface="Liter" pitchFamily="34" charset="0"/>
                <a:ea typeface="Liter" pitchFamily="34" charset="-122"/>
                <a:cs typeface="Liter" pitchFamily="34" charset="-120"/>
              </a:rPr>
              <a:t> together account for 65% of attrition</a:t>
            </a:r>
            <a:endParaRPr lang="en-US" sz="1600" dirty="0"/>
          </a:p>
        </p:txBody>
      </p:sp>
      <p:sp>
        <p:nvSpPr>
          <p:cNvPr id="52" name="Shape 13">
            <a:extLst>
              <a:ext uri="{FF2B5EF4-FFF2-40B4-BE49-F238E27FC236}">
                <a16:creationId xmlns:a16="http://schemas.microsoft.com/office/drawing/2014/main" id="{CC549746-BCCA-3DD2-3BC5-E8DCE6433C70}"/>
              </a:ext>
            </a:extLst>
          </p:cNvPr>
          <p:cNvSpPr/>
          <p:nvPr/>
        </p:nvSpPr>
        <p:spPr>
          <a:xfrm>
            <a:off x="7521525" y="1984375"/>
            <a:ext cx="4191000" cy="698500"/>
          </a:xfrm>
          <a:custGeom>
            <a:avLst/>
            <a:gdLst/>
            <a:ahLst/>
            <a:cxnLst/>
            <a:rect l="l" t="t" r="r" b="b"/>
            <a:pathLst>
              <a:path w="4191000" h="698500">
                <a:moveTo>
                  <a:pt x="31750" y="0"/>
                </a:moveTo>
                <a:lnTo>
                  <a:pt x="4127499" y="0"/>
                </a:lnTo>
                <a:cubicBezTo>
                  <a:pt x="4162570" y="0"/>
                  <a:pt x="4191000" y="28430"/>
                  <a:pt x="4191000" y="63501"/>
                </a:cubicBezTo>
                <a:lnTo>
                  <a:pt x="4191000" y="634999"/>
                </a:lnTo>
                <a:cubicBezTo>
                  <a:pt x="4191000" y="670070"/>
                  <a:pt x="4162570" y="698500"/>
                  <a:pt x="4127499" y="698500"/>
                </a:cubicBezTo>
                <a:lnTo>
                  <a:pt x="31750" y="698500"/>
                </a:lnTo>
                <a:cubicBezTo>
                  <a:pt x="14215" y="698500"/>
                  <a:pt x="0" y="684285"/>
                  <a:pt x="0" y="666750"/>
                </a:cubicBezTo>
                <a:lnTo>
                  <a:pt x="0" y="31750"/>
                </a:lnTo>
                <a:cubicBezTo>
                  <a:pt x="0" y="14227"/>
                  <a:pt x="14227" y="0"/>
                  <a:pt x="31750" y="0"/>
                </a:cubicBezTo>
                <a:close/>
              </a:path>
            </a:pathLst>
          </a:custGeom>
          <a:solidFill>
            <a:srgbClr val="5E7A91">
              <a:alpha val="10196"/>
            </a:srgbClr>
          </a:solidFill>
          <a:ln/>
        </p:spPr>
      </p:sp>
      <p:sp>
        <p:nvSpPr>
          <p:cNvPr id="53" name="Shape 14">
            <a:extLst>
              <a:ext uri="{FF2B5EF4-FFF2-40B4-BE49-F238E27FC236}">
                <a16:creationId xmlns:a16="http://schemas.microsoft.com/office/drawing/2014/main" id="{DCB4AD8F-A13E-6D96-F288-B7C35227D0A6}"/>
              </a:ext>
            </a:extLst>
          </p:cNvPr>
          <p:cNvSpPr/>
          <p:nvPr/>
        </p:nvSpPr>
        <p:spPr>
          <a:xfrm>
            <a:off x="7521525" y="198437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5E7A91"/>
          </a:solidFill>
          <a:ln/>
        </p:spPr>
      </p:sp>
      <p:sp>
        <p:nvSpPr>
          <p:cNvPr id="54" name="Shape 15">
            <a:extLst>
              <a:ext uri="{FF2B5EF4-FFF2-40B4-BE49-F238E27FC236}">
                <a16:creationId xmlns:a16="http://schemas.microsoft.com/office/drawing/2014/main" id="{F466B617-9136-AD3E-4227-19036A93C0A0}"/>
              </a:ext>
            </a:extLst>
          </p:cNvPr>
          <p:cNvSpPr/>
          <p:nvPr/>
        </p:nvSpPr>
        <p:spPr>
          <a:xfrm>
            <a:off x="7672338" y="2143125"/>
            <a:ext cx="142875" cy="127000"/>
          </a:xfrm>
          <a:custGeom>
            <a:avLst/>
            <a:gdLst/>
            <a:ahLst/>
            <a:cxnLst/>
            <a:rect l="l" t="t" r="r" b="b"/>
            <a:pathLst>
              <a:path w="142875" h="127000">
                <a:moveTo>
                  <a:pt x="127099" y="59531"/>
                </a:moveTo>
                <a:lnTo>
                  <a:pt x="83443" y="59531"/>
                </a:lnTo>
                <a:cubicBezTo>
                  <a:pt x="79053" y="59531"/>
                  <a:pt x="75505" y="55984"/>
                  <a:pt x="75505" y="51594"/>
                </a:cubicBezTo>
                <a:lnTo>
                  <a:pt x="75505" y="7938"/>
                </a:lnTo>
                <a:cubicBezTo>
                  <a:pt x="75505" y="3547"/>
                  <a:pt x="79077" y="-50"/>
                  <a:pt x="83418" y="521"/>
                </a:cubicBezTo>
                <a:cubicBezTo>
                  <a:pt x="109959" y="4043"/>
                  <a:pt x="130994" y="25078"/>
                  <a:pt x="134516" y="51619"/>
                </a:cubicBezTo>
                <a:cubicBezTo>
                  <a:pt x="135086" y="55959"/>
                  <a:pt x="131490" y="59531"/>
                  <a:pt x="127099" y="59531"/>
                </a:cubicBezTo>
                <a:close/>
                <a:moveTo>
                  <a:pt x="55215" y="9227"/>
                </a:moveTo>
                <a:cubicBezTo>
                  <a:pt x="59705" y="8285"/>
                  <a:pt x="63599" y="11956"/>
                  <a:pt x="63599" y="16545"/>
                </a:cubicBezTo>
                <a:lnTo>
                  <a:pt x="63599" y="65484"/>
                </a:lnTo>
                <a:cubicBezTo>
                  <a:pt x="63599" y="66873"/>
                  <a:pt x="64095" y="68213"/>
                  <a:pt x="64963" y="69279"/>
                </a:cubicBezTo>
                <a:lnTo>
                  <a:pt x="97730" y="108818"/>
                </a:lnTo>
                <a:cubicBezTo>
                  <a:pt x="100633" y="112316"/>
                  <a:pt x="100013" y="117599"/>
                  <a:pt x="96019" y="119757"/>
                </a:cubicBezTo>
                <a:cubicBezTo>
                  <a:pt x="87561" y="124371"/>
                  <a:pt x="77862" y="127000"/>
                  <a:pt x="67568" y="127000"/>
                </a:cubicBezTo>
                <a:cubicBezTo>
                  <a:pt x="34702" y="127000"/>
                  <a:pt x="8037" y="100335"/>
                  <a:pt x="8037" y="67469"/>
                </a:cubicBezTo>
                <a:cubicBezTo>
                  <a:pt x="8037" y="38819"/>
                  <a:pt x="28253" y="14908"/>
                  <a:pt x="55215" y="9227"/>
                </a:cubicBezTo>
                <a:close/>
                <a:moveTo>
                  <a:pt x="118517" y="71438"/>
                </a:moveTo>
                <a:lnTo>
                  <a:pt x="134392" y="71438"/>
                </a:lnTo>
                <a:cubicBezTo>
                  <a:pt x="138981" y="71438"/>
                  <a:pt x="142652" y="75332"/>
                  <a:pt x="141709" y="79821"/>
                </a:cubicBezTo>
                <a:cubicBezTo>
                  <a:pt x="139179" y="91827"/>
                  <a:pt x="133028" y="102493"/>
                  <a:pt x="124445" y="110629"/>
                </a:cubicBezTo>
                <a:cubicBezTo>
                  <a:pt x="121394" y="113531"/>
                  <a:pt x="116607" y="112911"/>
                  <a:pt x="113928" y="109662"/>
                </a:cubicBezTo>
                <a:lnTo>
                  <a:pt x="92993" y="84435"/>
                </a:lnTo>
                <a:cubicBezTo>
                  <a:pt x="88702" y="79251"/>
                  <a:pt x="92397" y="71438"/>
                  <a:pt x="99095" y="71438"/>
                </a:cubicBezTo>
                <a:lnTo>
                  <a:pt x="118492" y="71438"/>
                </a:lnTo>
                <a:close/>
              </a:path>
            </a:pathLst>
          </a:custGeom>
          <a:solidFill>
            <a:srgbClr val="5E7A91"/>
          </a:solidFill>
          <a:ln/>
        </p:spPr>
      </p:sp>
      <p:sp>
        <p:nvSpPr>
          <p:cNvPr id="55" name="Text 16">
            <a:extLst>
              <a:ext uri="{FF2B5EF4-FFF2-40B4-BE49-F238E27FC236}">
                <a16:creationId xmlns:a16="http://schemas.microsoft.com/office/drawing/2014/main" id="{1749516E-9848-5AC7-397C-E87BAAB27A9B}"/>
              </a:ext>
            </a:extLst>
          </p:cNvPr>
          <p:cNvSpPr/>
          <p:nvPr/>
        </p:nvSpPr>
        <p:spPr>
          <a:xfrm>
            <a:off x="7886650" y="2111375"/>
            <a:ext cx="1484313"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Secondary Causes (30%)</a:t>
            </a:r>
            <a:endParaRPr lang="en-US" sz="1600" dirty="0"/>
          </a:p>
        </p:txBody>
      </p:sp>
      <p:sp>
        <p:nvSpPr>
          <p:cNvPr id="56" name="Text 17">
            <a:extLst>
              <a:ext uri="{FF2B5EF4-FFF2-40B4-BE49-F238E27FC236}">
                <a16:creationId xmlns:a16="http://schemas.microsoft.com/office/drawing/2014/main" id="{AE6A2049-F1F1-3193-27BD-D8AD8E55DECE}"/>
              </a:ext>
            </a:extLst>
          </p:cNvPr>
          <p:cNvSpPr/>
          <p:nvPr/>
        </p:nvSpPr>
        <p:spPr>
          <a:xfrm>
            <a:off x="7664400" y="2365375"/>
            <a:ext cx="3984625" cy="190500"/>
          </a:xfrm>
          <a:prstGeom prst="rect">
            <a:avLst/>
          </a:prstGeom>
          <a:noFill/>
          <a:ln/>
        </p:spPr>
        <p:txBody>
          <a:bodyPr wrap="square" lIns="0" tIns="0" rIns="0" bIns="0" rtlCol="0" anchor="ctr"/>
          <a:lstStyle/>
          <a:p>
            <a:pPr>
              <a:lnSpc>
                <a:spcPct val="130000"/>
              </a:lnSpc>
            </a:pPr>
            <a:r>
              <a:rPr lang="en-US" sz="1000" b="1" dirty="0">
                <a:solidFill>
                  <a:srgbClr val="212529"/>
                </a:solidFill>
                <a:latin typeface="Liter" pitchFamily="34" charset="0"/>
                <a:ea typeface="Liter" pitchFamily="34" charset="-122"/>
                <a:cs typeface="Liter" pitchFamily="34" charset="-120"/>
              </a:rPr>
              <a:t>Relocation</a:t>
            </a:r>
            <a:r>
              <a:rPr lang="en-US" sz="1000" dirty="0">
                <a:solidFill>
                  <a:srgbClr val="212529"/>
                </a:solidFill>
                <a:latin typeface="Liter" pitchFamily="34" charset="0"/>
                <a:ea typeface="Liter" pitchFamily="34" charset="-122"/>
                <a:cs typeface="Liter" pitchFamily="34" charset="-120"/>
              </a:rPr>
              <a:t> and </a:t>
            </a:r>
            <a:r>
              <a:rPr lang="en-US" sz="1000" b="1" dirty="0">
                <a:solidFill>
                  <a:srgbClr val="212529"/>
                </a:solidFill>
                <a:latin typeface="Liter" pitchFamily="34" charset="0"/>
                <a:ea typeface="Liter" pitchFamily="34" charset="-122"/>
                <a:cs typeface="Liter" pitchFamily="34" charset="-120"/>
              </a:rPr>
              <a:t>Health Reasons</a:t>
            </a:r>
            <a:r>
              <a:rPr lang="en-US" sz="1000" dirty="0">
                <a:solidFill>
                  <a:srgbClr val="212529"/>
                </a:solidFill>
                <a:latin typeface="Liter" pitchFamily="34" charset="0"/>
                <a:ea typeface="Liter" pitchFamily="34" charset="-122"/>
                <a:cs typeface="Liter" pitchFamily="34" charset="-120"/>
              </a:rPr>
              <a:t> add another 30%</a:t>
            </a:r>
            <a:endParaRPr lang="en-US" sz="1600" dirty="0"/>
          </a:p>
        </p:txBody>
      </p:sp>
      <p:sp>
        <p:nvSpPr>
          <p:cNvPr id="57" name="Shape 18">
            <a:extLst>
              <a:ext uri="{FF2B5EF4-FFF2-40B4-BE49-F238E27FC236}">
                <a16:creationId xmlns:a16="http://schemas.microsoft.com/office/drawing/2014/main" id="{FCAC1F11-23CE-031A-5C6B-399CF45B2614}"/>
              </a:ext>
            </a:extLst>
          </p:cNvPr>
          <p:cNvSpPr/>
          <p:nvPr/>
        </p:nvSpPr>
        <p:spPr>
          <a:xfrm>
            <a:off x="7521525" y="2778125"/>
            <a:ext cx="4191000" cy="698500"/>
          </a:xfrm>
          <a:custGeom>
            <a:avLst/>
            <a:gdLst/>
            <a:ahLst/>
            <a:cxnLst/>
            <a:rect l="l" t="t" r="r" b="b"/>
            <a:pathLst>
              <a:path w="4191000" h="698500">
                <a:moveTo>
                  <a:pt x="31750" y="0"/>
                </a:moveTo>
                <a:lnTo>
                  <a:pt x="4127499" y="0"/>
                </a:lnTo>
                <a:cubicBezTo>
                  <a:pt x="4162570" y="0"/>
                  <a:pt x="4191000" y="28430"/>
                  <a:pt x="4191000" y="63501"/>
                </a:cubicBezTo>
                <a:lnTo>
                  <a:pt x="4191000" y="634999"/>
                </a:lnTo>
                <a:cubicBezTo>
                  <a:pt x="4191000" y="670070"/>
                  <a:pt x="4162570" y="698500"/>
                  <a:pt x="4127499" y="698500"/>
                </a:cubicBezTo>
                <a:lnTo>
                  <a:pt x="31750" y="698500"/>
                </a:lnTo>
                <a:cubicBezTo>
                  <a:pt x="14215" y="698500"/>
                  <a:pt x="0" y="684285"/>
                  <a:pt x="0" y="666750"/>
                </a:cubicBezTo>
                <a:lnTo>
                  <a:pt x="0" y="31750"/>
                </a:lnTo>
                <a:cubicBezTo>
                  <a:pt x="0" y="14227"/>
                  <a:pt x="14227" y="0"/>
                  <a:pt x="31750" y="0"/>
                </a:cubicBezTo>
                <a:close/>
              </a:path>
            </a:pathLst>
          </a:custGeom>
          <a:solidFill>
            <a:srgbClr val="1A3A52">
              <a:alpha val="5098"/>
            </a:srgbClr>
          </a:solidFill>
          <a:ln/>
        </p:spPr>
      </p:sp>
      <p:sp>
        <p:nvSpPr>
          <p:cNvPr id="58" name="Shape 19">
            <a:extLst>
              <a:ext uri="{FF2B5EF4-FFF2-40B4-BE49-F238E27FC236}">
                <a16:creationId xmlns:a16="http://schemas.microsoft.com/office/drawing/2014/main" id="{A69CF226-DE4D-2465-E323-45DBF010328D}"/>
              </a:ext>
            </a:extLst>
          </p:cNvPr>
          <p:cNvSpPr/>
          <p:nvPr/>
        </p:nvSpPr>
        <p:spPr>
          <a:xfrm>
            <a:off x="7521525" y="277812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1A3A52"/>
          </a:solidFill>
          <a:ln/>
        </p:spPr>
      </p:sp>
      <p:sp>
        <p:nvSpPr>
          <p:cNvPr id="59" name="Shape 20">
            <a:extLst>
              <a:ext uri="{FF2B5EF4-FFF2-40B4-BE49-F238E27FC236}">
                <a16:creationId xmlns:a16="http://schemas.microsoft.com/office/drawing/2014/main" id="{8D28DF74-692D-3EB8-6CD0-E5370045E987}"/>
              </a:ext>
            </a:extLst>
          </p:cNvPr>
          <p:cNvSpPr/>
          <p:nvPr/>
        </p:nvSpPr>
        <p:spPr>
          <a:xfrm>
            <a:off x="7680275" y="2936875"/>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41672" y="57547"/>
                </a:moveTo>
                <a:lnTo>
                  <a:pt x="85328" y="57547"/>
                </a:lnTo>
                <a:cubicBezTo>
                  <a:pt x="88627" y="57547"/>
                  <a:pt x="91281" y="60201"/>
                  <a:pt x="91281" y="63500"/>
                </a:cubicBezTo>
                <a:cubicBezTo>
                  <a:pt x="91281" y="66799"/>
                  <a:pt x="88627" y="69453"/>
                  <a:pt x="85328" y="69453"/>
                </a:cubicBezTo>
                <a:lnTo>
                  <a:pt x="41672" y="69453"/>
                </a:lnTo>
                <a:cubicBezTo>
                  <a:pt x="38373" y="69453"/>
                  <a:pt x="35719" y="66799"/>
                  <a:pt x="35719" y="63500"/>
                </a:cubicBezTo>
                <a:cubicBezTo>
                  <a:pt x="35719" y="60201"/>
                  <a:pt x="38373" y="57547"/>
                  <a:pt x="41672" y="57547"/>
                </a:cubicBezTo>
                <a:close/>
              </a:path>
            </a:pathLst>
          </a:custGeom>
          <a:solidFill>
            <a:srgbClr val="1A3A52"/>
          </a:solidFill>
          <a:ln/>
        </p:spPr>
      </p:sp>
      <p:sp>
        <p:nvSpPr>
          <p:cNvPr id="60" name="Text 21">
            <a:extLst>
              <a:ext uri="{FF2B5EF4-FFF2-40B4-BE49-F238E27FC236}">
                <a16:creationId xmlns:a16="http://schemas.microsoft.com/office/drawing/2014/main" id="{E7F98D6C-71AB-145B-8388-D0F6D88EE805}"/>
              </a:ext>
            </a:extLst>
          </p:cNvPr>
          <p:cNvSpPr/>
          <p:nvPr/>
        </p:nvSpPr>
        <p:spPr>
          <a:xfrm>
            <a:off x="7886650" y="2905125"/>
            <a:ext cx="1420813"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Minor Contributors (5%)</a:t>
            </a:r>
            <a:endParaRPr lang="en-US" sz="1600" dirty="0"/>
          </a:p>
        </p:txBody>
      </p:sp>
      <p:sp>
        <p:nvSpPr>
          <p:cNvPr id="61" name="Text 22">
            <a:extLst>
              <a:ext uri="{FF2B5EF4-FFF2-40B4-BE49-F238E27FC236}">
                <a16:creationId xmlns:a16="http://schemas.microsoft.com/office/drawing/2014/main" id="{DAE7A139-7191-5AFF-D07C-AE73392FAF18}"/>
              </a:ext>
            </a:extLst>
          </p:cNvPr>
          <p:cNvSpPr/>
          <p:nvPr/>
        </p:nvSpPr>
        <p:spPr>
          <a:xfrm>
            <a:off x="7664400" y="3159125"/>
            <a:ext cx="3984625" cy="190500"/>
          </a:xfrm>
          <a:prstGeom prst="rect">
            <a:avLst/>
          </a:prstGeom>
          <a:noFill/>
          <a:ln/>
        </p:spPr>
        <p:txBody>
          <a:bodyPr wrap="square" lIns="0" tIns="0" rIns="0" bIns="0" rtlCol="0" anchor="ctr"/>
          <a:lstStyle/>
          <a:p>
            <a:pPr>
              <a:lnSpc>
                <a:spcPct val="130000"/>
              </a:lnSpc>
            </a:pPr>
            <a:r>
              <a:rPr lang="en-US" sz="1000" b="1" dirty="0">
                <a:solidFill>
                  <a:srgbClr val="212529"/>
                </a:solidFill>
                <a:latin typeface="Liter" pitchFamily="34" charset="0"/>
                <a:ea typeface="Liter" pitchFamily="34" charset="-122"/>
                <a:cs typeface="Liter" pitchFamily="34" charset="-120"/>
              </a:rPr>
              <a:t>Marriage</a:t>
            </a:r>
            <a:r>
              <a:rPr lang="en-US" sz="1000" dirty="0">
                <a:solidFill>
                  <a:srgbClr val="212529"/>
                </a:solidFill>
                <a:latin typeface="Liter" pitchFamily="34" charset="0"/>
                <a:ea typeface="Liter" pitchFamily="34" charset="-122"/>
                <a:cs typeface="Liter" pitchFamily="34" charset="-120"/>
              </a:rPr>
              <a:t> and </a:t>
            </a:r>
            <a:r>
              <a:rPr lang="en-US" sz="1000" b="1" dirty="0">
                <a:solidFill>
                  <a:srgbClr val="212529"/>
                </a:solidFill>
                <a:latin typeface="Liter" pitchFamily="34" charset="0"/>
                <a:ea typeface="Liter" pitchFamily="34" charset="-122"/>
                <a:cs typeface="Liter" pitchFamily="34" charset="-120"/>
              </a:rPr>
              <a:t>Business</a:t>
            </a:r>
            <a:r>
              <a:rPr lang="en-US" sz="1000" dirty="0">
                <a:solidFill>
                  <a:srgbClr val="212529"/>
                </a:solidFill>
                <a:latin typeface="Liter" pitchFamily="34" charset="0"/>
                <a:ea typeface="Liter" pitchFamily="34" charset="-122"/>
                <a:cs typeface="Liter" pitchFamily="34" charset="-120"/>
              </a:rPr>
              <a:t> are minor contributors (5% each)</a:t>
            </a:r>
            <a:endParaRPr lang="en-US" sz="1600" dirty="0"/>
          </a:p>
        </p:txBody>
      </p:sp>
      <p:sp>
        <p:nvSpPr>
          <p:cNvPr id="62" name="Shape 23">
            <a:extLst>
              <a:ext uri="{FF2B5EF4-FFF2-40B4-BE49-F238E27FC236}">
                <a16:creationId xmlns:a16="http://schemas.microsoft.com/office/drawing/2014/main" id="{E007B3A1-A0A5-70DD-EC5D-90976517647F}"/>
              </a:ext>
            </a:extLst>
          </p:cNvPr>
          <p:cNvSpPr/>
          <p:nvPr/>
        </p:nvSpPr>
        <p:spPr>
          <a:xfrm>
            <a:off x="7346900" y="3762375"/>
            <a:ext cx="4524375" cy="1047750"/>
          </a:xfrm>
          <a:custGeom>
            <a:avLst/>
            <a:gdLst/>
            <a:ahLst/>
            <a:cxnLst/>
            <a:rect l="l" t="t" r="r" b="b"/>
            <a:pathLst>
              <a:path w="4524375" h="1047750">
                <a:moveTo>
                  <a:pt x="63504" y="0"/>
                </a:moveTo>
                <a:lnTo>
                  <a:pt x="4460871" y="0"/>
                </a:lnTo>
                <a:cubicBezTo>
                  <a:pt x="4495943" y="0"/>
                  <a:pt x="4524375" y="28432"/>
                  <a:pt x="4524375" y="63504"/>
                </a:cubicBezTo>
                <a:lnTo>
                  <a:pt x="4524375" y="984246"/>
                </a:lnTo>
                <a:cubicBezTo>
                  <a:pt x="4524375" y="1019318"/>
                  <a:pt x="4495943" y="1047750"/>
                  <a:pt x="4460871" y="1047750"/>
                </a:cubicBezTo>
                <a:lnTo>
                  <a:pt x="63504" y="1047750"/>
                </a:lnTo>
                <a:cubicBezTo>
                  <a:pt x="28432" y="1047750"/>
                  <a:pt x="0" y="1019318"/>
                  <a:pt x="0" y="984246"/>
                </a:cubicBezTo>
                <a:lnTo>
                  <a:pt x="0" y="63504"/>
                </a:lnTo>
                <a:cubicBezTo>
                  <a:pt x="0" y="28432"/>
                  <a:pt x="28432" y="0"/>
                  <a:pt x="63504" y="0"/>
                </a:cubicBezTo>
                <a:close/>
              </a:path>
            </a:pathLst>
          </a:custGeom>
          <a:solidFill>
            <a:srgbClr val="1A3A52"/>
          </a:solidFill>
          <a:ln/>
        </p:spPr>
      </p:sp>
      <p:sp>
        <p:nvSpPr>
          <p:cNvPr id="63" name="Shape 24">
            <a:extLst>
              <a:ext uri="{FF2B5EF4-FFF2-40B4-BE49-F238E27FC236}">
                <a16:creationId xmlns:a16="http://schemas.microsoft.com/office/drawing/2014/main" id="{247259E8-BDFF-C7F2-3787-0E2F3867426E}"/>
              </a:ext>
            </a:extLst>
          </p:cNvPr>
          <p:cNvSpPr/>
          <p:nvPr/>
        </p:nvSpPr>
        <p:spPr>
          <a:xfrm>
            <a:off x="7529463" y="3937000"/>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C5A56A"/>
          </a:solidFill>
          <a:ln/>
        </p:spPr>
      </p:sp>
      <p:sp>
        <p:nvSpPr>
          <p:cNvPr id="64" name="Text 25">
            <a:extLst>
              <a:ext uri="{FF2B5EF4-FFF2-40B4-BE49-F238E27FC236}">
                <a16:creationId xmlns:a16="http://schemas.microsoft.com/office/drawing/2014/main" id="{A5B5F365-A177-C6D2-65FB-9BB7E63007C4}"/>
              </a:ext>
            </a:extLst>
          </p:cNvPr>
          <p:cNvSpPr/>
          <p:nvPr/>
        </p:nvSpPr>
        <p:spPr>
          <a:xfrm>
            <a:off x="7839025" y="3921125"/>
            <a:ext cx="9683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Priority Action</a:t>
            </a:r>
            <a:endParaRPr lang="en-US" sz="1600" dirty="0"/>
          </a:p>
        </p:txBody>
      </p:sp>
      <p:sp>
        <p:nvSpPr>
          <p:cNvPr id="65" name="Text 26">
            <a:extLst>
              <a:ext uri="{FF2B5EF4-FFF2-40B4-BE49-F238E27FC236}">
                <a16:creationId xmlns:a16="http://schemas.microsoft.com/office/drawing/2014/main" id="{D9D84BC7-783D-6B87-C691-271616C1F45D}"/>
              </a:ext>
            </a:extLst>
          </p:cNvPr>
          <p:cNvSpPr/>
          <p:nvPr/>
        </p:nvSpPr>
        <p:spPr>
          <a:xfrm>
            <a:off x="7505650" y="4238625"/>
            <a:ext cx="4270375" cy="412750"/>
          </a:xfrm>
          <a:prstGeom prst="rect">
            <a:avLst/>
          </a:prstGeom>
          <a:noFill/>
          <a:ln/>
        </p:spPr>
        <p:txBody>
          <a:bodyPr wrap="square" lIns="0" tIns="0" rIns="0" bIns="0" rtlCol="0" anchor="ctr"/>
          <a:lstStyle/>
          <a:p>
            <a:pPr>
              <a:lnSpc>
                <a:spcPct val="140000"/>
              </a:lnSpc>
            </a:pPr>
            <a:r>
              <a:rPr lang="en-US" sz="1000" dirty="0">
                <a:solidFill>
                  <a:srgbClr val="FFFFFF"/>
                </a:solidFill>
                <a:latin typeface="Liter" pitchFamily="34" charset="0"/>
                <a:ea typeface="Liter" pitchFamily="34" charset="-122"/>
                <a:cs typeface="Liter" pitchFamily="34" charset="-120"/>
              </a:rPr>
              <a:t>Focus improvement efforts on </a:t>
            </a:r>
            <a:r>
              <a:rPr lang="en-US" sz="1000" b="1" dirty="0">
                <a:solidFill>
                  <a:srgbClr val="FFFFFF"/>
                </a:solidFill>
                <a:latin typeface="Liter" pitchFamily="34" charset="0"/>
                <a:ea typeface="Liter" pitchFamily="34" charset="-122"/>
                <a:cs typeface="Liter" pitchFamily="34" charset="-120"/>
              </a:rPr>
              <a:t>Career Growth</a:t>
            </a:r>
            <a:r>
              <a:rPr lang="en-US" sz="1000" dirty="0">
                <a:solidFill>
                  <a:srgbClr val="FFFFFF"/>
                </a:solidFill>
                <a:latin typeface="Liter" pitchFamily="34" charset="0"/>
                <a:ea typeface="Liter" pitchFamily="34" charset="-122"/>
                <a:cs typeface="Liter" pitchFamily="34" charset="-120"/>
              </a:rPr>
              <a:t> and </a:t>
            </a:r>
            <a:r>
              <a:rPr lang="en-US" sz="1000" b="1" dirty="0">
                <a:solidFill>
                  <a:srgbClr val="FFFFFF"/>
                </a:solidFill>
                <a:latin typeface="Liter" pitchFamily="34" charset="0"/>
                <a:ea typeface="Liter" pitchFamily="34" charset="-122"/>
                <a:cs typeface="Liter" pitchFamily="34" charset="-120"/>
              </a:rPr>
              <a:t>Compensation</a:t>
            </a:r>
            <a:r>
              <a:rPr lang="en-US" sz="1000" dirty="0">
                <a:solidFill>
                  <a:srgbClr val="FFFFFF"/>
                </a:solidFill>
                <a:latin typeface="Liter" pitchFamily="34" charset="0"/>
                <a:ea typeface="Liter" pitchFamily="34" charset="-122"/>
                <a:cs typeface="Liter" pitchFamily="34" charset="-120"/>
              </a:rPr>
              <a:t> to address the vital few causes and achieve maximum impact.</a:t>
            </a:r>
            <a:endParaRPr lang="en-US" sz="1600" dirty="0"/>
          </a:p>
        </p:txBody>
      </p:sp>
      <p:sp>
        <p:nvSpPr>
          <p:cNvPr id="66" name="Shape 27">
            <a:extLst>
              <a:ext uri="{FF2B5EF4-FFF2-40B4-BE49-F238E27FC236}">
                <a16:creationId xmlns:a16="http://schemas.microsoft.com/office/drawing/2014/main" id="{5994F887-4060-D4A5-8977-8244BB7A315A}"/>
              </a:ext>
            </a:extLst>
          </p:cNvPr>
          <p:cNvSpPr/>
          <p:nvPr/>
        </p:nvSpPr>
        <p:spPr>
          <a:xfrm>
            <a:off x="7346900" y="4930235"/>
            <a:ext cx="4524375" cy="1809750"/>
          </a:xfrm>
          <a:custGeom>
            <a:avLst/>
            <a:gdLst/>
            <a:ahLst/>
            <a:cxnLst/>
            <a:rect l="l" t="t" r="r" b="b"/>
            <a:pathLst>
              <a:path w="4524375" h="1809750">
                <a:moveTo>
                  <a:pt x="63504" y="0"/>
                </a:moveTo>
                <a:lnTo>
                  <a:pt x="4460871" y="0"/>
                </a:lnTo>
                <a:cubicBezTo>
                  <a:pt x="4495943" y="0"/>
                  <a:pt x="4524375" y="28432"/>
                  <a:pt x="4524375" y="63504"/>
                </a:cubicBezTo>
                <a:lnTo>
                  <a:pt x="4524375" y="1746246"/>
                </a:lnTo>
                <a:cubicBezTo>
                  <a:pt x="4524375" y="1781318"/>
                  <a:pt x="4495943" y="1809750"/>
                  <a:pt x="4460871" y="1809750"/>
                </a:cubicBezTo>
                <a:lnTo>
                  <a:pt x="63504" y="1809750"/>
                </a:lnTo>
                <a:cubicBezTo>
                  <a:pt x="28432" y="1809750"/>
                  <a:pt x="0" y="1781318"/>
                  <a:pt x="0" y="1746246"/>
                </a:cubicBezTo>
                <a:lnTo>
                  <a:pt x="0" y="63504"/>
                </a:lnTo>
                <a:cubicBezTo>
                  <a:pt x="0" y="28432"/>
                  <a:pt x="28432" y="0"/>
                  <a:pt x="63504" y="0"/>
                </a:cubicBezTo>
                <a:close/>
              </a:path>
            </a:pathLst>
          </a:custGeom>
          <a:solidFill>
            <a:srgbClr val="FFFFFF"/>
          </a:solidFill>
          <a:ln/>
          <a:effectLst>
            <a:outerShdw blurRad="119063" dist="79375" dir="5400000" algn="bl" rotWithShape="0">
              <a:srgbClr val="000000">
                <a:alpha val="10196"/>
              </a:srgbClr>
            </a:outerShdw>
          </a:effectLst>
        </p:spPr>
      </p:sp>
      <p:sp>
        <p:nvSpPr>
          <p:cNvPr id="67" name="Text 28">
            <a:extLst>
              <a:ext uri="{FF2B5EF4-FFF2-40B4-BE49-F238E27FC236}">
                <a16:creationId xmlns:a16="http://schemas.microsoft.com/office/drawing/2014/main" id="{2448EE32-4C59-89B3-AB17-D10FA161F5B2}"/>
              </a:ext>
            </a:extLst>
          </p:cNvPr>
          <p:cNvSpPr/>
          <p:nvPr/>
        </p:nvSpPr>
        <p:spPr>
          <a:xfrm>
            <a:off x="7473900" y="5057235"/>
            <a:ext cx="4333875"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Cause Breakdown</a:t>
            </a:r>
            <a:endParaRPr lang="en-US" sz="1600" dirty="0"/>
          </a:p>
        </p:txBody>
      </p:sp>
      <p:sp>
        <p:nvSpPr>
          <p:cNvPr id="68" name="Text 29">
            <a:extLst>
              <a:ext uri="{FF2B5EF4-FFF2-40B4-BE49-F238E27FC236}">
                <a16:creationId xmlns:a16="http://schemas.microsoft.com/office/drawing/2014/main" id="{B1805622-E551-F94D-3CBB-483923B00ACE}"/>
              </a:ext>
            </a:extLst>
          </p:cNvPr>
          <p:cNvSpPr/>
          <p:nvPr/>
        </p:nvSpPr>
        <p:spPr>
          <a:xfrm>
            <a:off x="7473900" y="5311235"/>
            <a:ext cx="889000"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Higher Studies</a:t>
            </a:r>
            <a:endParaRPr lang="en-US" sz="1600" dirty="0"/>
          </a:p>
        </p:txBody>
      </p:sp>
      <p:sp>
        <p:nvSpPr>
          <p:cNvPr id="69" name="Text 30">
            <a:extLst>
              <a:ext uri="{FF2B5EF4-FFF2-40B4-BE49-F238E27FC236}">
                <a16:creationId xmlns:a16="http://schemas.microsoft.com/office/drawing/2014/main" id="{92CDBCE3-F96B-529D-F0E5-DDB6FFAA6CFC}"/>
              </a:ext>
            </a:extLst>
          </p:cNvPr>
          <p:cNvSpPr/>
          <p:nvPr/>
        </p:nvSpPr>
        <p:spPr>
          <a:xfrm>
            <a:off x="11498544" y="5311235"/>
            <a:ext cx="309563"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35%</a:t>
            </a:r>
            <a:endParaRPr lang="en-US" sz="1600" dirty="0"/>
          </a:p>
        </p:txBody>
      </p:sp>
      <p:sp>
        <p:nvSpPr>
          <p:cNvPr id="70" name="Text 31">
            <a:extLst>
              <a:ext uri="{FF2B5EF4-FFF2-40B4-BE49-F238E27FC236}">
                <a16:creationId xmlns:a16="http://schemas.microsoft.com/office/drawing/2014/main" id="{6F67D595-394D-B42E-596A-9B7620B663BF}"/>
              </a:ext>
            </a:extLst>
          </p:cNvPr>
          <p:cNvSpPr/>
          <p:nvPr/>
        </p:nvSpPr>
        <p:spPr>
          <a:xfrm>
            <a:off x="7473900" y="5533485"/>
            <a:ext cx="881063"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Career Growth</a:t>
            </a:r>
            <a:endParaRPr lang="en-US" sz="1600" dirty="0"/>
          </a:p>
        </p:txBody>
      </p:sp>
      <p:sp>
        <p:nvSpPr>
          <p:cNvPr id="71" name="Text 32">
            <a:extLst>
              <a:ext uri="{FF2B5EF4-FFF2-40B4-BE49-F238E27FC236}">
                <a16:creationId xmlns:a16="http://schemas.microsoft.com/office/drawing/2014/main" id="{6CD85B90-9E80-120A-8766-8628FC57AAEC}"/>
              </a:ext>
            </a:extLst>
          </p:cNvPr>
          <p:cNvSpPr/>
          <p:nvPr/>
        </p:nvSpPr>
        <p:spPr>
          <a:xfrm>
            <a:off x="11490689" y="5533485"/>
            <a:ext cx="317500" cy="190500"/>
          </a:xfrm>
          <a:prstGeom prst="rect">
            <a:avLst/>
          </a:prstGeom>
          <a:noFill/>
          <a:ln/>
        </p:spPr>
        <p:txBody>
          <a:bodyPr wrap="square" lIns="0" tIns="0" rIns="0" bIns="0" rtlCol="0" anchor="ctr"/>
          <a:lstStyle/>
          <a:p>
            <a:pPr>
              <a:lnSpc>
                <a:spcPct val="130000"/>
              </a:lnSpc>
            </a:pPr>
            <a:r>
              <a:rPr lang="en-US" sz="1000" b="1" dirty="0">
                <a:solidFill>
                  <a:srgbClr val="1A3A52"/>
                </a:solidFill>
                <a:latin typeface="Liter" pitchFamily="34" charset="0"/>
                <a:ea typeface="Liter" pitchFamily="34" charset="-122"/>
                <a:cs typeface="Liter" pitchFamily="34" charset="-120"/>
              </a:rPr>
              <a:t>30%</a:t>
            </a:r>
            <a:endParaRPr lang="en-US" sz="1600" dirty="0"/>
          </a:p>
        </p:txBody>
      </p:sp>
      <p:sp>
        <p:nvSpPr>
          <p:cNvPr id="72" name="Text 33">
            <a:extLst>
              <a:ext uri="{FF2B5EF4-FFF2-40B4-BE49-F238E27FC236}">
                <a16:creationId xmlns:a16="http://schemas.microsoft.com/office/drawing/2014/main" id="{356988B9-8320-9A16-9462-5D07D61B76F5}"/>
              </a:ext>
            </a:extLst>
          </p:cNvPr>
          <p:cNvSpPr/>
          <p:nvPr/>
        </p:nvSpPr>
        <p:spPr>
          <a:xfrm>
            <a:off x="7473900" y="5755735"/>
            <a:ext cx="658813"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Relocation</a:t>
            </a:r>
            <a:endParaRPr lang="en-US" sz="1600" dirty="0"/>
          </a:p>
        </p:txBody>
      </p:sp>
      <p:sp>
        <p:nvSpPr>
          <p:cNvPr id="73" name="Text 34">
            <a:extLst>
              <a:ext uri="{FF2B5EF4-FFF2-40B4-BE49-F238E27FC236}">
                <a16:creationId xmlns:a16="http://schemas.microsoft.com/office/drawing/2014/main" id="{653095EE-8B5F-3825-50DC-8A96A864488A}"/>
              </a:ext>
            </a:extLst>
          </p:cNvPr>
          <p:cNvSpPr/>
          <p:nvPr/>
        </p:nvSpPr>
        <p:spPr>
          <a:xfrm>
            <a:off x="11517892" y="5755735"/>
            <a:ext cx="293688" cy="190500"/>
          </a:xfrm>
          <a:prstGeom prst="rect">
            <a:avLst/>
          </a:prstGeom>
          <a:noFill/>
          <a:ln/>
        </p:spPr>
        <p:txBody>
          <a:bodyPr wrap="square" lIns="0" tIns="0" rIns="0" bIns="0" rtlCol="0" anchor="ctr"/>
          <a:lstStyle/>
          <a:p>
            <a:pPr>
              <a:lnSpc>
                <a:spcPct val="130000"/>
              </a:lnSpc>
            </a:pPr>
            <a:r>
              <a:rPr lang="en-US" sz="1000" b="1" dirty="0">
                <a:solidFill>
                  <a:srgbClr val="5E7A91"/>
                </a:solidFill>
                <a:latin typeface="Liter" pitchFamily="34" charset="0"/>
                <a:ea typeface="Liter" pitchFamily="34" charset="-122"/>
                <a:cs typeface="Liter" pitchFamily="34" charset="-120"/>
              </a:rPr>
              <a:t>18%</a:t>
            </a:r>
            <a:endParaRPr lang="en-US" sz="1600" dirty="0"/>
          </a:p>
        </p:txBody>
      </p:sp>
      <p:sp>
        <p:nvSpPr>
          <p:cNvPr id="74" name="Text 35">
            <a:extLst>
              <a:ext uri="{FF2B5EF4-FFF2-40B4-BE49-F238E27FC236}">
                <a16:creationId xmlns:a16="http://schemas.microsoft.com/office/drawing/2014/main" id="{4CC5188E-C277-FDED-BB9C-67A3B991DBF5}"/>
              </a:ext>
            </a:extLst>
          </p:cNvPr>
          <p:cNvSpPr/>
          <p:nvPr/>
        </p:nvSpPr>
        <p:spPr>
          <a:xfrm>
            <a:off x="7473900" y="5977985"/>
            <a:ext cx="936625"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Health Reasons</a:t>
            </a:r>
            <a:endParaRPr lang="en-US" sz="1600" dirty="0"/>
          </a:p>
        </p:txBody>
      </p:sp>
      <p:sp>
        <p:nvSpPr>
          <p:cNvPr id="75" name="Text 36">
            <a:extLst>
              <a:ext uri="{FF2B5EF4-FFF2-40B4-BE49-F238E27FC236}">
                <a16:creationId xmlns:a16="http://schemas.microsoft.com/office/drawing/2014/main" id="{E073BC8E-F7AB-3E08-FE99-DA11C163AC94}"/>
              </a:ext>
            </a:extLst>
          </p:cNvPr>
          <p:cNvSpPr/>
          <p:nvPr/>
        </p:nvSpPr>
        <p:spPr>
          <a:xfrm>
            <a:off x="11522109" y="5977985"/>
            <a:ext cx="285750" cy="190500"/>
          </a:xfrm>
          <a:prstGeom prst="rect">
            <a:avLst/>
          </a:prstGeom>
          <a:noFill/>
          <a:ln/>
        </p:spPr>
        <p:txBody>
          <a:bodyPr wrap="square" lIns="0" tIns="0" rIns="0" bIns="0" rtlCol="0" anchor="ctr"/>
          <a:lstStyle/>
          <a:p>
            <a:pPr>
              <a:lnSpc>
                <a:spcPct val="130000"/>
              </a:lnSpc>
            </a:pPr>
            <a:r>
              <a:rPr lang="en-US" sz="1000" b="1" dirty="0">
                <a:solidFill>
                  <a:srgbClr val="5E7A91"/>
                </a:solidFill>
                <a:latin typeface="Liter" pitchFamily="34" charset="0"/>
                <a:ea typeface="Liter" pitchFamily="34" charset="-122"/>
                <a:cs typeface="Liter" pitchFamily="34" charset="-120"/>
              </a:rPr>
              <a:t>12%</a:t>
            </a:r>
            <a:endParaRPr lang="en-US" sz="1600" dirty="0"/>
          </a:p>
        </p:txBody>
      </p:sp>
      <p:sp>
        <p:nvSpPr>
          <p:cNvPr id="76" name="Text 37">
            <a:extLst>
              <a:ext uri="{FF2B5EF4-FFF2-40B4-BE49-F238E27FC236}">
                <a16:creationId xmlns:a16="http://schemas.microsoft.com/office/drawing/2014/main" id="{1F56FC25-20C1-A2D0-63DE-C14C60E0B348}"/>
              </a:ext>
            </a:extLst>
          </p:cNvPr>
          <p:cNvSpPr/>
          <p:nvPr/>
        </p:nvSpPr>
        <p:spPr>
          <a:xfrm>
            <a:off x="7473900" y="6200235"/>
            <a:ext cx="563563"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Marriage</a:t>
            </a:r>
            <a:endParaRPr lang="en-US" sz="1600" dirty="0"/>
          </a:p>
        </p:txBody>
      </p:sp>
      <p:sp>
        <p:nvSpPr>
          <p:cNvPr id="77" name="Text 38">
            <a:extLst>
              <a:ext uri="{FF2B5EF4-FFF2-40B4-BE49-F238E27FC236}">
                <a16:creationId xmlns:a16="http://schemas.microsoft.com/office/drawing/2014/main" id="{11614DA5-B6F7-0FBB-2A13-2207E22A45A2}"/>
              </a:ext>
            </a:extLst>
          </p:cNvPr>
          <p:cNvSpPr/>
          <p:nvPr/>
        </p:nvSpPr>
        <p:spPr>
          <a:xfrm>
            <a:off x="11571718" y="6200235"/>
            <a:ext cx="238125" cy="190500"/>
          </a:xfrm>
          <a:prstGeom prst="rect">
            <a:avLst/>
          </a:prstGeom>
          <a:noFill/>
          <a:ln/>
        </p:spPr>
        <p:txBody>
          <a:bodyPr wrap="square" lIns="0" tIns="0" rIns="0" bIns="0" rtlCol="0" anchor="ctr"/>
          <a:lstStyle/>
          <a:p>
            <a:pPr>
              <a:lnSpc>
                <a:spcPct val="130000"/>
              </a:lnSpc>
            </a:pPr>
            <a:r>
              <a:rPr lang="en-US" sz="1000" b="1" dirty="0">
                <a:solidFill>
                  <a:srgbClr val="5E7A91"/>
                </a:solidFill>
                <a:latin typeface="Liter" pitchFamily="34" charset="0"/>
                <a:ea typeface="Liter" pitchFamily="34" charset="-122"/>
                <a:cs typeface="Liter" pitchFamily="34" charset="-120"/>
              </a:rPr>
              <a:t>3%</a:t>
            </a:r>
            <a:endParaRPr lang="en-US" sz="1600" dirty="0"/>
          </a:p>
        </p:txBody>
      </p:sp>
      <p:sp>
        <p:nvSpPr>
          <p:cNvPr id="78" name="Text 39">
            <a:extLst>
              <a:ext uri="{FF2B5EF4-FFF2-40B4-BE49-F238E27FC236}">
                <a16:creationId xmlns:a16="http://schemas.microsoft.com/office/drawing/2014/main" id="{89A52474-FEDB-8C50-A0C5-D8E445FEB76A}"/>
              </a:ext>
            </a:extLst>
          </p:cNvPr>
          <p:cNvSpPr/>
          <p:nvPr/>
        </p:nvSpPr>
        <p:spPr>
          <a:xfrm>
            <a:off x="7473900" y="6422485"/>
            <a:ext cx="563563" cy="190500"/>
          </a:xfrm>
          <a:prstGeom prst="rect">
            <a:avLst/>
          </a:prstGeom>
          <a:noFill/>
          <a:ln/>
        </p:spPr>
        <p:txBody>
          <a:bodyPr wrap="square" lIns="0" tIns="0" rIns="0" bIns="0" rtlCol="0" anchor="ctr"/>
          <a:lstStyle/>
          <a:p>
            <a:pPr>
              <a:lnSpc>
                <a:spcPct val="130000"/>
              </a:lnSpc>
            </a:pPr>
            <a:r>
              <a:rPr lang="en-US" sz="1000" dirty="0">
                <a:solidFill>
                  <a:srgbClr val="212529"/>
                </a:solidFill>
                <a:latin typeface="Liter" pitchFamily="34" charset="0"/>
                <a:ea typeface="Liter" pitchFamily="34" charset="-122"/>
                <a:cs typeface="Liter" pitchFamily="34" charset="-120"/>
              </a:rPr>
              <a:t>Business</a:t>
            </a:r>
            <a:endParaRPr lang="en-US" sz="1600" dirty="0"/>
          </a:p>
        </p:txBody>
      </p:sp>
      <p:sp>
        <p:nvSpPr>
          <p:cNvPr id="79" name="Text 40">
            <a:extLst>
              <a:ext uri="{FF2B5EF4-FFF2-40B4-BE49-F238E27FC236}">
                <a16:creationId xmlns:a16="http://schemas.microsoft.com/office/drawing/2014/main" id="{BAFFF53C-349A-C8FC-EA23-124C3BDEBB11}"/>
              </a:ext>
            </a:extLst>
          </p:cNvPr>
          <p:cNvSpPr/>
          <p:nvPr/>
        </p:nvSpPr>
        <p:spPr>
          <a:xfrm>
            <a:off x="11572875" y="6422485"/>
            <a:ext cx="238125" cy="190500"/>
          </a:xfrm>
          <a:prstGeom prst="rect">
            <a:avLst/>
          </a:prstGeom>
          <a:noFill/>
          <a:ln/>
        </p:spPr>
        <p:txBody>
          <a:bodyPr wrap="square" lIns="0" tIns="0" rIns="0" bIns="0" rtlCol="0" anchor="ctr"/>
          <a:lstStyle/>
          <a:p>
            <a:pPr>
              <a:lnSpc>
                <a:spcPct val="130000"/>
              </a:lnSpc>
            </a:pPr>
            <a:r>
              <a:rPr lang="en-US" sz="1000" b="1" dirty="0">
                <a:solidFill>
                  <a:srgbClr val="5E7A91"/>
                </a:solidFill>
                <a:latin typeface="Liter" pitchFamily="34" charset="0"/>
                <a:ea typeface="Liter" pitchFamily="34" charset="-122"/>
                <a:cs typeface="Liter" pitchFamily="34" charset="-120"/>
              </a:rPr>
              <a:t>2%</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73977" y="162674"/>
            <a:ext cx="11575551" cy="205483"/>
          </a:xfrm>
          <a:prstGeom prst="rect">
            <a:avLst/>
          </a:prstGeom>
          <a:noFill/>
          <a:ln/>
        </p:spPr>
        <p:txBody>
          <a:bodyPr wrap="square" lIns="0" tIns="0" rIns="0" bIns="0" rtlCol="0" anchor="ctr"/>
          <a:lstStyle/>
          <a:p>
            <a:pPr>
              <a:lnSpc>
                <a:spcPct val="130000"/>
              </a:lnSpc>
            </a:pPr>
            <a:r>
              <a:rPr lang="en-US" sz="1079" b="1" kern="0" spc="108" dirty="0">
                <a:solidFill>
                  <a:srgbClr val="C5A56A"/>
                </a:solidFill>
                <a:latin typeface="Liter" pitchFamily="34" charset="0"/>
                <a:ea typeface="Liter" pitchFamily="34" charset="-122"/>
                <a:cs typeface="Liter" pitchFamily="34" charset="-120"/>
              </a:rPr>
              <a:t>Statistical Hypothesis Testing</a:t>
            </a:r>
            <a:endParaRPr lang="en-US" sz="1600" dirty="0"/>
          </a:p>
        </p:txBody>
      </p:sp>
      <p:sp>
        <p:nvSpPr>
          <p:cNvPr id="3" name="Text 1"/>
          <p:cNvSpPr/>
          <p:nvPr/>
        </p:nvSpPr>
        <p:spPr>
          <a:xfrm>
            <a:off x="239730" y="483203"/>
            <a:ext cx="11712539" cy="410966"/>
          </a:xfrm>
          <a:prstGeom prst="rect">
            <a:avLst/>
          </a:prstGeom>
          <a:noFill/>
          <a:ln/>
        </p:spPr>
        <p:txBody>
          <a:bodyPr wrap="square" lIns="0" tIns="0" rIns="0" bIns="0" rtlCol="0" anchor="ctr"/>
          <a:lstStyle/>
          <a:p>
            <a:pPr>
              <a:lnSpc>
                <a:spcPct val="80000"/>
              </a:lnSpc>
            </a:pPr>
            <a:r>
              <a:rPr lang="en-US" sz="3236" b="1" dirty="0">
                <a:solidFill>
                  <a:srgbClr val="1A3A52"/>
                </a:solidFill>
                <a:latin typeface="Liter" pitchFamily="34" charset="0"/>
                <a:ea typeface="Liter" pitchFamily="34" charset="-122"/>
                <a:cs typeface="Liter" pitchFamily="34" charset="-120"/>
              </a:rPr>
              <a:t>Hypothesis Test </a:t>
            </a:r>
            <a:endParaRPr lang="en-US" sz="1600" dirty="0"/>
          </a:p>
        </p:txBody>
      </p:sp>
      <p:sp>
        <p:nvSpPr>
          <p:cNvPr id="4" name="Text 2"/>
          <p:cNvSpPr/>
          <p:nvPr/>
        </p:nvSpPr>
        <p:spPr>
          <a:xfrm>
            <a:off x="273977" y="971624"/>
            <a:ext cx="11592674" cy="239730"/>
          </a:xfrm>
          <a:prstGeom prst="rect">
            <a:avLst/>
          </a:prstGeom>
          <a:noFill/>
          <a:ln/>
        </p:spPr>
        <p:txBody>
          <a:bodyPr wrap="square" lIns="0" tIns="0" rIns="0" bIns="0" rtlCol="0" anchor="ctr"/>
          <a:lstStyle/>
          <a:p>
            <a:pPr>
              <a:lnSpc>
                <a:spcPct val="120000"/>
              </a:lnSpc>
            </a:pPr>
            <a:r>
              <a:rPr lang="en-US" sz="1348" dirty="0">
                <a:solidFill>
                  <a:srgbClr val="5E7A91"/>
                </a:solidFill>
                <a:latin typeface="Liter" pitchFamily="34" charset="0"/>
                <a:ea typeface="Liter" pitchFamily="34" charset="-122"/>
                <a:cs typeface="Liter" pitchFamily="34" charset="-120"/>
              </a:rPr>
              <a:t>Analysis of Variance for Monthly Attrition</a:t>
            </a:r>
            <a:endParaRPr lang="en-US" sz="1600" dirty="0"/>
          </a:p>
        </p:txBody>
      </p:sp>
      <p:sp>
        <p:nvSpPr>
          <p:cNvPr id="5" name="Shape 3"/>
          <p:cNvSpPr/>
          <p:nvPr/>
        </p:nvSpPr>
        <p:spPr>
          <a:xfrm>
            <a:off x="342472" y="1438382"/>
            <a:ext cx="821933" cy="34247"/>
          </a:xfrm>
          <a:custGeom>
            <a:avLst/>
            <a:gdLst/>
            <a:ahLst/>
            <a:cxnLst/>
            <a:rect l="l" t="t" r="r" b="b"/>
            <a:pathLst>
              <a:path w="821933" h="34247">
                <a:moveTo>
                  <a:pt x="0" y="0"/>
                </a:moveTo>
                <a:lnTo>
                  <a:pt x="821933" y="0"/>
                </a:lnTo>
                <a:lnTo>
                  <a:pt x="821933" y="34247"/>
                </a:lnTo>
                <a:lnTo>
                  <a:pt x="0" y="34247"/>
                </a:lnTo>
                <a:lnTo>
                  <a:pt x="0" y="0"/>
                </a:lnTo>
                <a:close/>
              </a:path>
            </a:pathLst>
          </a:custGeom>
          <a:solidFill>
            <a:srgbClr val="C5A56A"/>
          </a:solidFill>
          <a:ln/>
        </p:spPr>
      </p:sp>
      <p:sp>
        <p:nvSpPr>
          <p:cNvPr id="7" name="Text 5"/>
          <p:cNvSpPr/>
          <p:nvPr/>
        </p:nvSpPr>
        <p:spPr>
          <a:xfrm>
            <a:off x="479461" y="1780854"/>
            <a:ext cx="5393933" cy="205483"/>
          </a:xfrm>
          <a:prstGeom prst="rect">
            <a:avLst/>
          </a:prstGeom>
          <a:noFill/>
          <a:ln/>
        </p:spPr>
        <p:txBody>
          <a:bodyPr wrap="square" lIns="0" tIns="0" rIns="0" bIns="0" rtlCol="0" anchor="ctr"/>
          <a:lstStyle/>
          <a:p>
            <a:pPr algn="ctr">
              <a:lnSpc>
                <a:spcPct val="130000"/>
              </a:lnSpc>
            </a:pPr>
            <a:endParaRPr lang="en-US" sz="160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13708" y="2089079"/>
            <a:ext cx="4708989" cy="2397303"/>
          </a:xfrm>
          <a:prstGeom prst="roundRect">
            <a:avLst>
              <a:gd name="adj" fmla="val 0"/>
            </a:avLst>
          </a:prstGeom>
        </p:spPr>
      </p:pic>
      <p:pic>
        <p:nvPicPr>
          <p:cNvPr id="10" name="Image 2" descr="preencoded.png"/>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13708" y="2089079"/>
            <a:ext cx="4708989" cy="2397303"/>
          </a:xfrm>
          <a:prstGeom prst="roundRect">
            <a:avLst>
              <a:gd name="adj" fmla="val 0"/>
            </a:avLst>
          </a:prstGeom>
        </p:spPr>
      </p:pic>
      <p:sp>
        <p:nvSpPr>
          <p:cNvPr id="11" name="Shape 6"/>
          <p:cNvSpPr/>
          <p:nvPr/>
        </p:nvSpPr>
        <p:spPr>
          <a:xfrm>
            <a:off x="139025" y="4589124"/>
            <a:ext cx="5667910" cy="2063393"/>
          </a:xfrm>
          <a:custGeom>
            <a:avLst/>
            <a:gdLst/>
            <a:ahLst/>
            <a:cxnLst/>
            <a:rect l="l" t="t" r="r" b="b"/>
            <a:pathLst>
              <a:path w="5667910" h="2063393">
                <a:moveTo>
                  <a:pt x="68505" y="0"/>
                </a:moveTo>
                <a:lnTo>
                  <a:pt x="5599405" y="0"/>
                </a:lnTo>
                <a:cubicBezTo>
                  <a:pt x="5637240" y="0"/>
                  <a:pt x="5667910" y="30671"/>
                  <a:pt x="5667910" y="68505"/>
                </a:cubicBezTo>
                <a:lnTo>
                  <a:pt x="5667910" y="1994889"/>
                </a:lnTo>
                <a:cubicBezTo>
                  <a:pt x="5667910" y="2032723"/>
                  <a:pt x="5637240" y="2063393"/>
                  <a:pt x="5599405" y="2063393"/>
                </a:cubicBezTo>
                <a:lnTo>
                  <a:pt x="68505" y="2063393"/>
                </a:lnTo>
                <a:cubicBezTo>
                  <a:pt x="30671" y="2063393"/>
                  <a:pt x="0" y="2032723"/>
                  <a:pt x="0" y="1994889"/>
                </a:cubicBezTo>
                <a:lnTo>
                  <a:pt x="0" y="68505"/>
                </a:lnTo>
                <a:cubicBezTo>
                  <a:pt x="0" y="30671"/>
                  <a:pt x="30671" y="0"/>
                  <a:pt x="68505" y="0"/>
                </a:cubicBezTo>
                <a:close/>
              </a:path>
            </a:pathLst>
          </a:custGeom>
          <a:solidFill>
            <a:srgbClr val="FFFFFF"/>
          </a:solidFill>
          <a:ln/>
          <a:effectLst>
            <a:outerShdw blurRad="128427" dist="85618" dir="5400000" algn="bl" rotWithShape="0">
              <a:srgbClr val="000000">
                <a:alpha val="10196"/>
              </a:srgbClr>
            </a:outerShdw>
          </a:effectLst>
        </p:spPr>
        <p:txBody>
          <a:bodyPr/>
          <a:lstStyle/>
          <a:p>
            <a:endParaRPr lang="en-IN" dirty="0"/>
          </a:p>
        </p:txBody>
      </p:sp>
      <p:sp>
        <p:nvSpPr>
          <p:cNvPr id="12" name="Text 7"/>
          <p:cNvSpPr/>
          <p:nvPr/>
        </p:nvSpPr>
        <p:spPr>
          <a:xfrm>
            <a:off x="273977" y="4743172"/>
            <a:ext cx="5393933" cy="205483"/>
          </a:xfrm>
          <a:prstGeom prst="rect">
            <a:avLst/>
          </a:prstGeom>
          <a:noFill/>
          <a:ln/>
        </p:spPr>
        <p:txBody>
          <a:bodyPr wrap="square" lIns="0" tIns="0" rIns="0" bIns="0" rtlCol="0" anchor="ctr"/>
          <a:lstStyle/>
          <a:p>
            <a:pPr>
              <a:lnSpc>
                <a:spcPct val="130000"/>
              </a:lnSpc>
            </a:pPr>
            <a:r>
              <a:rPr lang="en-US" sz="1079" b="1" dirty="0">
                <a:solidFill>
                  <a:srgbClr val="1A3A52"/>
                </a:solidFill>
                <a:latin typeface="Liter" pitchFamily="34" charset="0"/>
                <a:ea typeface="Liter" pitchFamily="34" charset="-122"/>
                <a:cs typeface="Liter" pitchFamily="34" charset="-120"/>
              </a:rPr>
              <a:t>Descriptive Statistics</a:t>
            </a:r>
            <a:endParaRPr lang="en-US" sz="1600" dirty="0"/>
          </a:p>
        </p:txBody>
      </p:sp>
      <p:sp>
        <p:nvSpPr>
          <p:cNvPr id="13" name="Shape 8"/>
          <p:cNvSpPr/>
          <p:nvPr/>
        </p:nvSpPr>
        <p:spPr>
          <a:xfrm>
            <a:off x="256854" y="5099442"/>
            <a:ext cx="2611348" cy="650697"/>
          </a:xfrm>
          <a:custGeom>
            <a:avLst/>
            <a:gdLst/>
            <a:ahLst/>
            <a:cxnLst/>
            <a:rect l="l" t="t" r="r" b="b"/>
            <a:pathLst>
              <a:path w="2611348" h="650697">
                <a:moveTo>
                  <a:pt x="68492" y="0"/>
                </a:moveTo>
                <a:lnTo>
                  <a:pt x="2542856" y="0"/>
                </a:lnTo>
                <a:cubicBezTo>
                  <a:pt x="2580683" y="0"/>
                  <a:pt x="2611348" y="30665"/>
                  <a:pt x="2611348" y="68492"/>
                </a:cubicBezTo>
                <a:lnTo>
                  <a:pt x="2611348" y="582204"/>
                </a:lnTo>
                <a:cubicBezTo>
                  <a:pt x="2611348" y="620032"/>
                  <a:pt x="2580683" y="650697"/>
                  <a:pt x="2542856" y="650697"/>
                </a:cubicBezTo>
                <a:lnTo>
                  <a:pt x="68492" y="650697"/>
                </a:lnTo>
                <a:cubicBezTo>
                  <a:pt x="30665" y="650697"/>
                  <a:pt x="0" y="620032"/>
                  <a:pt x="0" y="582204"/>
                </a:cubicBezTo>
                <a:lnTo>
                  <a:pt x="0" y="68492"/>
                </a:lnTo>
                <a:cubicBezTo>
                  <a:pt x="0" y="30665"/>
                  <a:pt x="30665" y="0"/>
                  <a:pt x="68492" y="0"/>
                </a:cubicBezTo>
                <a:close/>
              </a:path>
            </a:pathLst>
          </a:custGeom>
          <a:solidFill>
            <a:srgbClr val="1A3A52">
              <a:alpha val="5098"/>
            </a:srgbClr>
          </a:solidFill>
          <a:ln/>
        </p:spPr>
      </p:sp>
      <p:sp>
        <p:nvSpPr>
          <p:cNvPr id="14" name="Text 9"/>
          <p:cNvSpPr/>
          <p:nvPr/>
        </p:nvSpPr>
        <p:spPr>
          <a:xfrm>
            <a:off x="369457" y="5200604"/>
            <a:ext cx="2465798" cy="171236"/>
          </a:xfrm>
          <a:prstGeom prst="rect">
            <a:avLst/>
          </a:prstGeom>
          <a:noFill/>
          <a:ln/>
        </p:spPr>
        <p:txBody>
          <a:bodyPr wrap="square" lIns="0" tIns="0" rIns="0" bIns="0" rtlCol="0" anchor="ctr"/>
          <a:lstStyle/>
          <a:p>
            <a:pPr algn="ctr">
              <a:lnSpc>
                <a:spcPct val="120000"/>
              </a:lnSpc>
            </a:pPr>
            <a:r>
              <a:rPr lang="en-US" sz="944" dirty="0">
                <a:solidFill>
                  <a:srgbClr val="5E7A91"/>
                </a:solidFill>
                <a:latin typeface="Liter" pitchFamily="34" charset="0"/>
                <a:ea typeface="Liter" pitchFamily="34" charset="-122"/>
                <a:cs typeface="Liter" pitchFamily="34" charset="-120"/>
              </a:rPr>
              <a:t>Mean</a:t>
            </a:r>
            <a:endParaRPr lang="en-US" sz="1600" dirty="0"/>
          </a:p>
        </p:txBody>
      </p:sp>
      <p:sp>
        <p:nvSpPr>
          <p:cNvPr id="15" name="Text 10"/>
          <p:cNvSpPr/>
          <p:nvPr/>
        </p:nvSpPr>
        <p:spPr>
          <a:xfrm>
            <a:off x="397746" y="5394601"/>
            <a:ext cx="2508607" cy="273978"/>
          </a:xfrm>
          <a:prstGeom prst="rect">
            <a:avLst/>
          </a:prstGeom>
          <a:noFill/>
          <a:ln/>
        </p:spPr>
        <p:txBody>
          <a:bodyPr wrap="square" lIns="0" tIns="0" rIns="0" bIns="0" rtlCol="0" anchor="ctr"/>
          <a:lstStyle/>
          <a:p>
            <a:pPr algn="ctr">
              <a:lnSpc>
                <a:spcPct val="110000"/>
              </a:lnSpc>
            </a:pPr>
            <a:r>
              <a:rPr lang="en-US" sz="1618" b="1" dirty="0">
                <a:solidFill>
                  <a:srgbClr val="1A3A52"/>
                </a:solidFill>
                <a:latin typeface="Liter" pitchFamily="34" charset="0"/>
                <a:ea typeface="Liter" pitchFamily="34" charset="-122"/>
                <a:cs typeface="Liter" pitchFamily="34" charset="-120"/>
              </a:rPr>
              <a:t>3.43%</a:t>
            </a:r>
            <a:endParaRPr lang="en-US" sz="1600" dirty="0"/>
          </a:p>
        </p:txBody>
      </p:sp>
      <p:sp>
        <p:nvSpPr>
          <p:cNvPr id="16" name="Shape 11"/>
          <p:cNvSpPr/>
          <p:nvPr/>
        </p:nvSpPr>
        <p:spPr>
          <a:xfrm>
            <a:off x="2946156" y="5085083"/>
            <a:ext cx="2611348" cy="650697"/>
          </a:xfrm>
          <a:custGeom>
            <a:avLst/>
            <a:gdLst/>
            <a:ahLst/>
            <a:cxnLst/>
            <a:rect l="l" t="t" r="r" b="b"/>
            <a:pathLst>
              <a:path w="2611348" h="650697">
                <a:moveTo>
                  <a:pt x="68492" y="0"/>
                </a:moveTo>
                <a:lnTo>
                  <a:pt x="2542856" y="0"/>
                </a:lnTo>
                <a:cubicBezTo>
                  <a:pt x="2580683" y="0"/>
                  <a:pt x="2611348" y="30665"/>
                  <a:pt x="2611348" y="68492"/>
                </a:cubicBezTo>
                <a:lnTo>
                  <a:pt x="2611348" y="582204"/>
                </a:lnTo>
                <a:cubicBezTo>
                  <a:pt x="2611348" y="620032"/>
                  <a:pt x="2580683" y="650697"/>
                  <a:pt x="2542856" y="650697"/>
                </a:cubicBezTo>
                <a:lnTo>
                  <a:pt x="68492" y="650697"/>
                </a:lnTo>
                <a:cubicBezTo>
                  <a:pt x="30665" y="650697"/>
                  <a:pt x="0" y="620032"/>
                  <a:pt x="0" y="582204"/>
                </a:cubicBezTo>
                <a:lnTo>
                  <a:pt x="0" y="68492"/>
                </a:lnTo>
                <a:cubicBezTo>
                  <a:pt x="0" y="30665"/>
                  <a:pt x="30665" y="0"/>
                  <a:pt x="68492" y="0"/>
                </a:cubicBezTo>
                <a:close/>
              </a:path>
            </a:pathLst>
          </a:custGeom>
          <a:solidFill>
            <a:srgbClr val="C5A56A">
              <a:alpha val="10196"/>
            </a:srgbClr>
          </a:solidFill>
          <a:ln/>
        </p:spPr>
        <p:txBody>
          <a:bodyPr/>
          <a:lstStyle/>
          <a:p>
            <a:endParaRPr lang="en-IN" dirty="0"/>
          </a:p>
        </p:txBody>
      </p:sp>
      <p:sp>
        <p:nvSpPr>
          <p:cNvPr id="17" name="Text 12"/>
          <p:cNvSpPr/>
          <p:nvPr/>
        </p:nvSpPr>
        <p:spPr>
          <a:xfrm>
            <a:off x="3009094" y="5152106"/>
            <a:ext cx="2465798" cy="171236"/>
          </a:xfrm>
          <a:prstGeom prst="rect">
            <a:avLst/>
          </a:prstGeom>
          <a:noFill/>
          <a:ln/>
        </p:spPr>
        <p:txBody>
          <a:bodyPr wrap="square" lIns="0" tIns="0" rIns="0" bIns="0" rtlCol="0" anchor="ctr"/>
          <a:lstStyle/>
          <a:p>
            <a:pPr algn="ctr">
              <a:lnSpc>
                <a:spcPct val="120000"/>
              </a:lnSpc>
            </a:pPr>
            <a:r>
              <a:rPr lang="en-US" sz="944" dirty="0">
                <a:solidFill>
                  <a:srgbClr val="5E7A91"/>
                </a:solidFill>
                <a:latin typeface="Liter" pitchFamily="34" charset="0"/>
                <a:ea typeface="Liter" pitchFamily="34" charset="-122"/>
                <a:cs typeface="Liter" pitchFamily="34" charset="-120"/>
              </a:rPr>
              <a:t>Std Dev</a:t>
            </a:r>
            <a:endParaRPr lang="en-US" sz="1600" dirty="0"/>
          </a:p>
        </p:txBody>
      </p:sp>
      <p:sp>
        <p:nvSpPr>
          <p:cNvPr id="18" name="Text 13"/>
          <p:cNvSpPr/>
          <p:nvPr/>
        </p:nvSpPr>
        <p:spPr>
          <a:xfrm>
            <a:off x="2987689" y="5393866"/>
            <a:ext cx="2508607" cy="273978"/>
          </a:xfrm>
          <a:prstGeom prst="rect">
            <a:avLst/>
          </a:prstGeom>
          <a:noFill/>
          <a:ln/>
        </p:spPr>
        <p:txBody>
          <a:bodyPr wrap="square" lIns="0" tIns="0" rIns="0" bIns="0" rtlCol="0" anchor="ctr"/>
          <a:lstStyle/>
          <a:p>
            <a:pPr algn="ctr">
              <a:lnSpc>
                <a:spcPct val="110000"/>
              </a:lnSpc>
            </a:pPr>
            <a:r>
              <a:rPr lang="en-US" sz="1618" b="1" dirty="0">
                <a:solidFill>
                  <a:srgbClr val="C5A56A"/>
                </a:solidFill>
                <a:latin typeface="Liter" pitchFamily="34" charset="0"/>
                <a:ea typeface="Liter" pitchFamily="34" charset="-122"/>
                <a:cs typeface="Liter" pitchFamily="34" charset="-120"/>
              </a:rPr>
              <a:t>1.85%</a:t>
            </a:r>
            <a:endParaRPr lang="en-US" sz="1600" dirty="0"/>
          </a:p>
        </p:txBody>
      </p:sp>
      <p:sp>
        <p:nvSpPr>
          <p:cNvPr id="19" name="Shape 14"/>
          <p:cNvSpPr/>
          <p:nvPr/>
        </p:nvSpPr>
        <p:spPr>
          <a:xfrm>
            <a:off x="256854" y="5822734"/>
            <a:ext cx="2611348" cy="659258"/>
          </a:xfrm>
          <a:custGeom>
            <a:avLst/>
            <a:gdLst/>
            <a:ahLst/>
            <a:cxnLst/>
            <a:rect l="l" t="t" r="r" b="b"/>
            <a:pathLst>
              <a:path w="2611348" h="659258">
                <a:moveTo>
                  <a:pt x="68497" y="0"/>
                </a:moveTo>
                <a:lnTo>
                  <a:pt x="2542851" y="0"/>
                </a:lnTo>
                <a:cubicBezTo>
                  <a:pt x="2580681" y="0"/>
                  <a:pt x="2611348" y="30667"/>
                  <a:pt x="2611348" y="68497"/>
                </a:cubicBezTo>
                <a:lnTo>
                  <a:pt x="2611348" y="590761"/>
                </a:lnTo>
                <a:cubicBezTo>
                  <a:pt x="2611348" y="628591"/>
                  <a:pt x="2580681" y="659258"/>
                  <a:pt x="2542851" y="659258"/>
                </a:cubicBezTo>
                <a:lnTo>
                  <a:pt x="68497" y="659258"/>
                </a:lnTo>
                <a:cubicBezTo>
                  <a:pt x="30667" y="659258"/>
                  <a:pt x="0" y="628591"/>
                  <a:pt x="0" y="590761"/>
                </a:cubicBezTo>
                <a:lnTo>
                  <a:pt x="0" y="68497"/>
                </a:lnTo>
                <a:cubicBezTo>
                  <a:pt x="0" y="30667"/>
                  <a:pt x="30667" y="0"/>
                  <a:pt x="68497" y="0"/>
                </a:cubicBezTo>
                <a:close/>
              </a:path>
            </a:pathLst>
          </a:custGeom>
          <a:solidFill>
            <a:srgbClr val="5E7A91">
              <a:alpha val="10196"/>
            </a:srgbClr>
          </a:solidFill>
          <a:ln/>
        </p:spPr>
      </p:sp>
      <p:sp>
        <p:nvSpPr>
          <p:cNvPr id="20" name="Text 15"/>
          <p:cNvSpPr/>
          <p:nvPr/>
        </p:nvSpPr>
        <p:spPr>
          <a:xfrm>
            <a:off x="369457" y="5983807"/>
            <a:ext cx="2465798" cy="171236"/>
          </a:xfrm>
          <a:prstGeom prst="rect">
            <a:avLst/>
          </a:prstGeom>
          <a:noFill/>
          <a:ln/>
        </p:spPr>
        <p:txBody>
          <a:bodyPr wrap="square" lIns="0" tIns="0" rIns="0" bIns="0" rtlCol="0" anchor="ctr"/>
          <a:lstStyle/>
          <a:p>
            <a:pPr algn="ctr">
              <a:lnSpc>
                <a:spcPct val="120000"/>
              </a:lnSpc>
            </a:pPr>
            <a:r>
              <a:rPr lang="en-US" sz="944" dirty="0">
                <a:solidFill>
                  <a:srgbClr val="5E7A91"/>
                </a:solidFill>
                <a:latin typeface="Liter" pitchFamily="34" charset="0"/>
                <a:ea typeface="Liter" pitchFamily="34" charset="-122"/>
                <a:cs typeface="Liter" pitchFamily="34" charset="-120"/>
              </a:rPr>
              <a:t>Min</a:t>
            </a:r>
            <a:endParaRPr lang="en-US" sz="1600" dirty="0"/>
          </a:p>
        </p:txBody>
      </p:sp>
      <p:sp>
        <p:nvSpPr>
          <p:cNvPr id="21" name="Text 16"/>
          <p:cNvSpPr/>
          <p:nvPr/>
        </p:nvSpPr>
        <p:spPr>
          <a:xfrm>
            <a:off x="369457" y="6150323"/>
            <a:ext cx="2508607" cy="273978"/>
          </a:xfrm>
          <a:prstGeom prst="rect">
            <a:avLst/>
          </a:prstGeom>
          <a:noFill/>
          <a:ln/>
        </p:spPr>
        <p:txBody>
          <a:bodyPr wrap="square" lIns="0" tIns="0" rIns="0" bIns="0" rtlCol="0" anchor="ctr"/>
          <a:lstStyle/>
          <a:p>
            <a:pPr algn="ctr">
              <a:lnSpc>
                <a:spcPct val="110000"/>
              </a:lnSpc>
            </a:pPr>
            <a:r>
              <a:rPr lang="en-US" sz="1618" b="1" dirty="0">
                <a:solidFill>
                  <a:srgbClr val="5E7A91"/>
                </a:solidFill>
                <a:latin typeface="Liter" pitchFamily="34" charset="0"/>
                <a:ea typeface="Liter" pitchFamily="34" charset="-122"/>
                <a:cs typeface="Liter" pitchFamily="34" charset="-120"/>
              </a:rPr>
              <a:t>2.11%</a:t>
            </a:r>
            <a:endParaRPr lang="en-US" sz="1600" dirty="0"/>
          </a:p>
        </p:txBody>
      </p:sp>
      <p:sp>
        <p:nvSpPr>
          <p:cNvPr id="22" name="Shape 17"/>
          <p:cNvSpPr/>
          <p:nvPr/>
        </p:nvSpPr>
        <p:spPr>
          <a:xfrm>
            <a:off x="2948118" y="5826841"/>
            <a:ext cx="2608494" cy="656404"/>
          </a:xfrm>
          <a:custGeom>
            <a:avLst/>
            <a:gdLst/>
            <a:ahLst/>
            <a:cxnLst/>
            <a:rect l="l" t="t" r="r" b="b"/>
            <a:pathLst>
              <a:path w="2608494" h="656404">
                <a:moveTo>
                  <a:pt x="68496" y="0"/>
                </a:moveTo>
                <a:lnTo>
                  <a:pt x="2539999" y="0"/>
                </a:lnTo>
                <a:cubicBezTo>
                  <a:pt x="2577828" y="0"/>
                  <a:pt x="2608494" y="30667"/>
                  <a:pt x="2608494" y="68496"/>
                </a:cubicBezTo>
                <a:lnTo>
                  <a:pt x="2608494" y="587909"/>
                </a:lnTo>
                <a:cubicBezTo>
                  <a:pt x="2608494" y="625738"/>
                  <a:pt x="2577828" y="656404"/>
                  <a:pt x="2539999" y="656404"/>
                </a:cubicBezTo>
                <a:lnTo>
                  <a:pt x="68496" y="656404"/>
                </a:lnTo>
                <a:cubicBezTo>
                  <a:pt x="30667" y="656404"/>
                  <a:pt x="0" y="625738"/>
                  <a:pt x="0" y="587909"/>
                </a:cubicBezTo>
                <a:lnTo>
                  <a:pt x="0" y="68496"/>
                </a:lnTo>
                <a:cubicBezTo>
                  <a:pt x="0" y="30667"/>
                  <a:pt x="30667" y="0"/>
                  <a:pt x="68496" y="0"/>
                </a:cubicBezTo>
                <a:close/>
              </a:path>
            </a:pathLst>
          </a:custGeom>
          <a:solidFill>
            <a:srgbClr val="FEF2F2"/>
          </a:solidFill>
          <a:ln w="8467">
            <a:solidFill>
              <a:srgbClr val="FFC9C9"/>
            </a:solidFill>
            <a:prstDash val="solid"/>
          </a:ln>
        </p:spPr>
        <p:txBody>
          <a:bodyPr/>
          <a:lstStyle/>
          <a:p>
            <a:endParaRPr lang="en-IN" dirty="0"/>
          </a:p>
        </p:txBody>
      </p:sp>
      <p:sp>
        <p:nvSpPr>
          <p:cNvPr id="23" name="Text 18"/>
          <p:cNvSpPr/>
          <p:nvPr/>
        </p:nvSpPr>
        <p:spPr>
          <a:xfrm>
            <a:off x="2980805" y="5938590"/>
            <a:ext cx="2457236" cy="171236"/>
          </a:xfrm>
          <a:prstGeom prst="rect">
            <a:avLst/>
          </a:prstGeom>
          <a:noFill/>
          <a:ln/>
        </p:spPr>
        <p:txBody>
          <a:bodyPr wrap="square" lIns="0" tIns="0" rIns="0" bIns="0" rtlCol="0" anchor="ctr"/>
          <a:lstStyle/>
          <a:p>
            <a:pPr algn="ctr">
              <a:lnSpc>
                <a:spcPct val="120000"/>
              </a:lnSpc>
            </a:pPr>
            <a:r>
              <a:rPr lang="en-US" sz="944" dirty="0">
                <a:solidFill>
                  <a:srgbClr val="C10007"/>
                </a:solidFill>
                <a:latin typeface="Liter" pitchFamily="34" charset="0"/>
                <a:ea typeface="Liter" pitchFamily="34" charset="-122"/>
                <a:cs typeface="Liter" pitchFamily="34" charset="-120"/>
              </a:rPr>
              <a:t>Max</a:t>
            </a:r>
            <a:endParaRPr lang="en-US" sz="1600" dirty="0"/>
          </a:p>
        </p:txBody>
      </p:sp>
      <p:sp>
        <p:nvSpPr>
          <p:cNvPr id="24" name="Text 19"/>
          <p:cNvSpPr/>
          <p:nvPr/>
        </p:nvSpPr>
        <p:spPr>
          <a:xfrm>
            <a:off x="3001807" y="6135573"/>
            <a:ext cx="2500045" cy="273978"/>
          </a:xfrm>
          <a:prstGeom prst="rect">
            <a:avLst/>
          </a:prstGeom>
          <a:noFill/>
          <a:ln/>
        </p:spPr>
        <p:txBody>
          <a:bodyPr wrap="square" lIns="0" tIns="0" rIns="0" bIns="0" rtlCol="0" anchor="ctr"/>
          <a:lstStyle/>
          <a:p>
            <a:pPr algn="ctr">
              <a:lnSpc>
                <a:spcPct val="110000"/>
              </a:lnSpc>
            </a:pPr>
            <a:r>
              <a:rPr lang="en-US" sz="1618" b="1" dirty="0">
                <a:solidFill>
                  <a:srgbClr val="C10007"/>
                </a:solidFill>
                <a:latin typeface="Liter" pitchFamily="34" charset="0"/>
                <a:ea typeface="Liter" pitchFamily="34" charset="-122"/>
                <a:cs typeface="Liter" pitchFamily="34" charset="-120"/>
              </a:rPr>
              <a:t>6.19%</a:t>
            </a:r>
            <a:endParaRPr lang="en-US" sz="1600" dirty="0"/>
          </a:p>
        </p:txBody>
      </p:sp>
      <p:sp>
        <p:nvSpPr>
          <p:cNvPr id="25" name="Shape 20"/>
          <p:cNvSpPr/>
          <p:nvPr/>
        </p:nvSpPr>
        <p:spPr>
          <a:xfrm>
            <a:off x="6078877" y="1316950"/>
            <a:ext cx="5667910" cy="2690025"/>
          </a:xfrm>
          <a:custGeom>
            <a:avLst/>
            <a:gdLst/>
            <a:ahLst/>
            <a:cxnLst/>
            <a:rect l="l" t="t" r="r" b="b"/>
            <a:pathLst>
              <a:path w="5667910" h="3022315">
                <a:moveTo>
                  <a:pt x="68486" y="0"/>
                </a:moveTo>
                <a:lnTo>
                  <a:pt x="5599424" y="0"/>
                </a:lnTo>
                <a:cubicBezTo>
                  <a:pt x="5637248" y="0"/>
                  <a:pt x="5667910" y="30662"/>
                  <a:pt x="5667910" y="68486"/>
                </a:cubicBezTo>
                <a:lnTo>
                  <a:pt x="5667910" y="2953829"/>
                </a:lnTo>
                <a:cubicBezTo>
                  <a:pt x="5667910" y="2991653"/>
                  <a:pt x="5637248" y="3022315"/>
                  <a:pt x="5599424" y="3022315"/>
                </a:cubicBezTo>
                <a:lnTo>
                  <a:pt x="68486" y="3022315"/>
                </a:lnTo>
                <a:cubicBezTo>
                  <a:pt x="30662" y="3022315"/>
                  <a:pt x="0" y="2991653"/>
                  <a:pt x="0" y="2953829"/>
                </a:cubicBezTo>
                <a:lnTo>
                  <a:pt x="0" y="68486"/>
                </a:lnTo>
                <a:cubicBezTo>
                  <a:pt x="0" y="30662"/>
                  <a:pt x="30662" y="0"/>
                  <a:pt x="68486" y="0"/>
                </a:cubicBezTo>
                <a:close/>
              </a:path>
            </a:pathLst>
          </a:custGeom>
          <a:solidFill>
            <a:srgbClr val="FFFFFF"/>
          </a:solidFill>
          <a:ln/>
          <a:effectLst>
            <a:outerShdw blurRad="128427" dist="85618" dir="5400000" algn="bl" rotWithShape="0">
              <a:srgbClr val="000000">
                <a:alpha val="10196"/>
              </a:srgbClr>
            </a:outerShdw>
          </a:effectLst>
        </p:spPr>
      </p:sp>
      <p:sp>
        <p:nvSpPr>
          <p:cNvPr id="26" name="Shape 21"/>
          <p:cNvSpPr/>
          <p:nvPr/>
        </p:nvSpPr>
        <p:spPr>
          <a:xfrm>
            <a:off x="6403154" y="1780854"/>
            <a:ext cx="224747" cy="256854"/>
          </a:xfrm>
          <a:custGeom>
            <a:avLst/>
            <a:gdLst/>
            <a:ahLst/>
            <a:cxnLst/>
            <a:rect l="l" t="t" r="r" b="b"/>
            <a:pathLst>
              <a:path w="224747" h="256854">
                <a:moveTo>
                  <a:pt x="128427" y="80267"/>
                </a:moveTo>
                <a:lnTo>
                  <a:pt x="128427" y="128427"/>
                </a:lnTo>
                <a:lnTo>
                  <a:pt x="192640" y="128427"/>
                </a:lnTo>
                <a:lnTo>
                  <a:pt x="192640" y="80267"/>
                </a:lnTo>
                <a:lnTo>
                  <a:pt x="128427" y="80267"/>
                </a:lnTo>
                <a:close/>
                <a:moveTo>
                  <a:pt x="96320" y="80267"/>
                </a:moveTo>
                <a:lnTo>
                  <a:pt x="32107" y="80267"/>
                </a:lnTo>
                <a:lnTo>
                  <a:pt x="32107" y="128427"/>
                </a:lnTo>
                <a:lnTo>
                  <a:pt x="96320" y="128427"/>
                </a:lnTo>
                <a:lnTo>
                  <a:pt x="96320" y="80267"/>
                </a:lnTo>
                <a:close/>
                <a:moveTo>
                  <a:pt x="0" y="160534"/>
                </a:moveTo>
                <a:lnTo>
                  <a:pt x="0" y="48160"/>
                </a:lnTo>
                <a:cubicBezTo>
                  <a:pt x="0" y="30451"/>
                  <a:pt x="14398" y="16053"/>
                  <a:pt x="32107" y="16053"/>
                </a:cubicBezTo>
                <a:lnTo>
                  <a:pt x="192640" y="16053"/>
                </a:lnTo>
                <a:cubicBezTo>
                  <a:pt x="210349" y="16053"/>
                  <a:pt x="224747" y="30451"/>
                  <a:pt x="224747" y="48160"/>
                </a:cubicBezTo>
                <a:lnTo>
                  <a:pt x="224747" y="208694"/>
                </a:lnTo>
                <a:cubicBezTo>
                  <a:pt x="224747" y="226403"/>
                  <a:pt x="210349" y="240801"/>
                  <a:pt x="192640" y="240801"/>
                </a:cubicBezTo>
                <a:lnTo>
                  <a:pt x="32107" y="240801"/>
                </a:lnTo>
                <a:cubicBezTo>
                  <a:pt x="14398" y="240801"/>
                  <a:pt x="0" y="226403"/>
                  <a:pt x="0" y="208694"/>
                </a:cubicBezTo>
                <a:lnTo>
                  <a:pt x="0" y="160534"/>
                </a:lnTo>
                <a:close/>
                <a:moveTo>
                  <a:pt x="192640" y="160534"/>
                </a:moveTo>
                <a:lnTo>
                  <a:pt x="128427" y="160534"/>
                </a:lnTo>
                <a:lnTo>
                  <a:pt x="128427" y="208694"/>
                </a:lnTo>
                <a:lnTo>
                  <a:pt x="192640" y="208694"/>
                </a:lnTo>
                <a:lnTo>
                  <a:pt x="192640" y="160534"/>
                </a:lnTo>
                <a:close/>
                <a:moveTo>
                  <a:pt x="96320" y="208694"/>
                </a:moveTo>
                <a:lnTo>
                  <a:pt x="96320" y="160534"/>
                </a:lnTo>
                <a:lnTo>
                  <a:pt x="32107" y="160534"/>
                </a:lnTo>
                <a:lnTo>
                  <a:pt x="32107" y="208694"/>
                </a:lnTo>
                <a:lnTo>
                  <a:pt x="96320" y="208694"/>
                </a:lnTo>
                <a:close/>
              </a:path>
            </a:pathLst>
          </a:custGeom>
          <a:solidFill>
            <a:srgbClr val="1A3A52"/>
          </a:solidFill>
          <a:ln/>
        </p:spPr>
      </p:sp>
      <p:sp>
        <p:nvSpPr>
          <p:cNvPr id="27" name="Text 22"/>
          <p:cNvSpPr/>
          <p:nvPr/>
        </p:nvSpPr>
        <p:spPr>
          <a:xfrm>
            <a:off x="6776663" y="1789416"/>
            <a:ext cx="1267146" cy="239730"/>
          </a:xfrm>
          <a:prstGeom prst="rect">
            <a:avLst/>
          </a:prstGeom>
          <a:noFill/>
          <a:ln/>
        </p:spPr>
        <p:txBody>
          <a:bodyPr wrap="square" lIns="0" tIns="0" rIns="0" bIns="0" rtlCol="0" anchor="ctr"/>
          <a:lstStyle/>
          <a:p>
            <a:pPr>
              <a:lnSpc>
                <a:spcPct val="120000"/>
              </a:lnSpc>
            </a:pPr>
            <a:r>
              <a:rPr lang="en-US" sz="1348" b="1" dirty="0">
                <a:solidFill>
                  <a:srgbClr val="1A3A52"/>
                </a:solidFill>
                <a:latin typeface="Liter" pitchFamily="34" charset="0"/>
                <a:ea typeface="Liter" pitchFamily="34" charset="-122"/>
                <a:cs typeface="Liter" pitchFamily="34" charset="-120"/>
              </a:rPr>
              <a:t>Results</a:t>
            </a:r>
            <a:endParaRPr lang="en-US" sz="1600" dirty="0"/>
          </a:p>
        </p:txBody>
      </p:sp>
      <p:sp>
        <p:nvSpPr>
          <p:cNvPr id="29" name="Shape 23"/>
          <p:cNvSpPr/>
          <p:nvPr/>
        </p:nvSpPr>
        <p:spPr>
          <a:xfrm>
            <a:off x="6246776" y="2908157"/>
            <a:ext cx="5322584" cy="759146"/>
          </a:xfrm>
          <a:custGeom>
            <a:avLst/>
            <a:gdLst/>
            <a:ahLst/>
            <a:cxnLst/>
            <a:rect l="l" t="t" r="r" b="b"/>
            <a:pathLst>
              <a:path w="5322584" h="759146">
                <a:moveTo>
                  <a:pt x="68498" y="0"/>
                </a:moveTo>
                <a:lnTo>
                  <a:pt x="5254087" y="0"/>
                </a:lnTo>
                <a:cubicBezTo>
                  <a:pt x="5291917" y="0"/>
                  <a:pt x="5322584" y="30667"/>
                  <a:pt x="5322584" y="68498"/>
                </a:cubicBezTo>
                <a:lnTo>
                  <a:pt x="5322584" y="690648"/>
                </a:lnTo>
                <a:cubicBezTo>
                  <a:pt x="5322584" y="728479"/>
                  <a:pt x="5291917" y="759146"/>
                  <a:pt x="5254087" y="759146"/>
                </a:cubicBezTo>
                <a:lnTo>
                  <a:pt x="68498" y="759146"/>
                </a:lnTo>
                <a:cubicBezTo>
                  <a:pt x="30667" y="759146"/>
                  <a:pt x="0" y="728479"/>
                  <a:pt x="0" y="690648"/>
                </a:cubicBezTo>
                <a:lnTo>
                  <a:pt x="0" y="68498"/>
                </a:lnTo>
                <a:cubicBezTo>
                  <a:pt x="0" y="30693"/>
                  <a:pt x="30693" y="0"/>
                  <a:pt x="68498" y="0"/>
                </a:cubicBezTo>
                <a:close/>
              </a:path>
            </a:pathLst>
          </a:custGeom>
          <a:solidFill>
            <a:srgbClr val="F0FDF4"/>
          </a:solidFill>
          <a:ln w="8467">
            <a:solidFill>
              <a:srgbClr val="B9F8CF"/>
            </a:solidFill>
            <a:prstDash val="solid"/>
          </a:ln>
        </p:spPr>
      </p:sp>
      <p:sp>
        <p:nvSpPr>
          <p:cNvPr id="34" name="Shape 28"/>
          <p:cNvSpPr/>
          <p:nvPr/>
        </p:nvSpPr>
        <p:spPr>
          <a:xfrm>
            <a:off x="6363769" y="4645895"/>
            <a:ext cx="154112" cy="205483"/>
          </a:xfrm>
          <a:custGeom>
            <a:avLst/>
            <a:gdLst/>
            <a:ahLst/>
            <a:cxnLst/>
            <a:rect l="l" t="t" r="r" b="b"/>
            <a:pathLst>
              <a:path w="154112" h="205483">
                <a:moveTo>
                  <a:pt x="117551" y="154112"/>
                </a:moveTo>
                <a:cubicBezTo>
                  <a:pt x="120481" y="145163"/>
                  <a:pt x="126340" y="137056"/>
                  <a:pt x="132962" y="130072"/>
                </a:cubicBezTo>
                <a:cubicBezTo>
                  <a:pt x="146086" y="116267"/>
                  <a:pt x="154112" y="97604"/>
                  <a:pt x="154112" y="77056"/>
                </a:cubicBezTo>
                <a:cubicBezTo>
                  <a:pt x="154112" y="34515"/>
                  <a:pt x="119598" y="0"/>
                  <a:pt x="77056" y="0"/>
                </a:cubicBezTo>
                <a:cubicBezTo>
                  <a:pt x="34515" y="0"/>
                  <a:pt x="0" y="34515"/>
                  <a:pt x="0" y="77056"/>
                </a:cubicBezTo>
                <a:cubicBezTo>
                  <a:pt x="0" y="97604"/>
                  <a:pt x="8027" y="116267"/>
                  <a:pt x="21150" y="130072"/>
                </a:cubicBezTo>
                <a:cubicBezTo>
                  <a:pt x="27772" y="137056"/>
                  <a:pt x="33672" y="145163"/>
                  <a:pt x="36562" y="154112"/>
                </a:cubicBezTo>
                <a:lnTo>
                  <a:pt x="117511" y="154112"/>
                </a:lnTo>
                <a:close/>
                <a:moveTo>
                  <a:pt x="115584" y="173376"/>
                </a:moveTo>
                <a:lnTo>
                  <a:pt x="38528" y="173376"/>
                </a:lnTo>
                <a:lnTo>
                  <a:pt x="38528" y="179798"/>
                </a:lnTo>
                <a:cubicBezTo>
                  <a:pt x="38528" y="197537"/>
                  <a:pt x="52896" y="211904"/>
                  <a:pt x="70635" y="211904"/>
                </a:cubicBezTo>
                <a:lnTo>
                  <a:pt x="83478" y="211904"/>
                </a:lnTo>
                <a:cubicBezTo>
                  <a:pt x="101217" y="211904"/>
                  <a:pt x="115584" y="197537"/>
                  <a:pt x="115584" y="179798"/>
                </a:cubicBezTo>
                <a:lnTo>
                  <a:pt x="115584" y="173376"/>
                </a:lnTo>
                <a:close/>
                <a:moveTo>
                  <a:pt x="73846" y="44949"/>
                </a:moveTo>
                <a:cubicBezTo>
                  <a:pt x="57872" y="44949"/>
                  <a:pt x="44949" y="57872"/>
                  <a:pt x="44949" y="73846"/>
                </a:cubicBezTo>
                <a:cubicBezTo>
                  <a:pt x="44949" y="79183"/>
                  <a:pt x="40655" y="83478"/>
                  <a:pt x="35317" y="83478"/>
                </a:cubicBezTo>
                <a:cubicBezTo>
                  <a:pt x="29980" y="83478"/>
                  <a:pt x="25685" y="79183"/>
                  <a:pt x="25685" y="73846"/>
                </a:cubicBezTo>
                <a:cubicBezTo>
                  <a:pt x="25685" y="47237"/>
                  <a:pt x="47237" y="25685"/>
                  <a:pt x="73846" y="25685"/>
                </a:cubicBezTo>
                <a:cubicBezTo>
                  <a:pt x="79183" y="25685"/>
                  <a:pt x="83478" y="29980"/>
                  <a:pt x="83478" y="35317"/>
                </a:cubicBezTo>
                <a:cubicBezTo>
                  <a:pt x="83478" y="40655"/>
                  <a:pt x="79183" y="44949"/>
                  <a:pt x="73846" y="44949"/>
                </a:cubicBezTo>
                <a:close/>
              </a:path>
            </a:pathLst>
          </a:custGeom>
          <a:solidFill>
            <a:srgbClr val="C5A56A"/>
          </a:solidFill>
          <a:ln/>
        </p:spPr>
        <p:txBody>
          <a:bodyPr/>
          <a:lstStyle/>
          <a:p>
            <a:endParaRPr lang="en-IN" dirty="0"/>
          </a:p>
        </p:txBody>
      </p:sp>
      <p:sp>
        <p:nvSpPr>
          <p:cNvPr id="35" name="Text 29"/>
          <p:cNvSpPr/>
          <p:nvPr/>
        </p:nvSpPr>
        <p:spPr>
          <a:xfrm>
            <a:off x="6660295" y="4606183"/>
            <a:ext cx="839056" cy="239730"/>
          </a:xfrm>
          <a:prstGeom prst="rect">
            <a:avLst/>
          </a:prstGeom>
          <a:noFill/>
          <a:ln/>
        </p:spPr>
        <p:txBody>
          <a:bodyPr wrap="square" lIns="0" tIns="0" rIns="0" bIns="0" rtlCol="0" anchor="ctr"/>
          <a:lstStyle/>
          <a:p>
            <a:pPr>
              <a:lnSpc>
                <a:spcPct val="130000"/>
              </a:lnSpc>
            </a:pPr>
            <a:r>
              <a:rPr lang="en-US" sz="1213" b="1" dirty="0">
                <a:solidFill>
                  <a:srgbClr val="FFFFFF"/>
                </a:solidFill>
                <a:latin typeface="Liter" pitchFamily="34" charset="0"/>
                <a:ea typeface="Liter" pitchFamily="34" charset="-122"/>
                <a:cs typeface="Liter" pitchFamily="34" charset="-120"/>
              </a:rPr>
              <a:t>Conclusion</a:t>
            </a:r>
            <a:endParaRPr lang="en-US" sz="1600" dirty="0"/>
          </a:p>
        </p:txBody>
      </p:sp>
      <p:sp>
        <p:nvSpPr>
          <p:cNvPr id="36" name="Text 30"/>
          <p:cNvSpPr/>
          <p:nvPr/>
        </p:nvSpPr>
        <p:spPr>
          <a:xfrm>
            <a:off x="6394847" y="4901838"/>
            <a:ext cx="5393933" cy="445213"/>
          </a:xfrm>
          <a:prstGeom prst="rect">
            <a:avLst/>
          </a:prstGeom>
          <a:noFill/>
          <a:ln/>
        </p:spPr>
        <p:txBody>
          <a:bodyPr wrap="square" lIns="0" tIns="0" rIns="0" bIns="0" rtlCol="0" anchor="ctr"/>
          <a:lstStyle/>
          <a:p>
            <a:pPr>
              <a:lnSpc>
                <a:spcPct val="140000"/>
              </a:lnSpc>
            </a:pPr>
            <a:r>
              <a:rPr lang="en-IN" sz="1100" kern="100" dirty="0">
                <a:solidFill>
                  <a:schemeClr val="bg1"/>
                </a:solidFill>
                <a:latin typeface="Aptos" panose="020B0004020202020204" pitchFamily="34" charset="0"/>
                <a:ea typeface="Aptos" panose="020B0004020202020204" pitchFamily="34" charset="0"/>
                <a:cs typeface="Cordia New" panose="020B0304020202020204" pitchFamily="34" charset="-34"/>
              </a:rPr>
              <a:t>Age of employees is correlated to the attrition rate due to career growth &amp; compensation</a:t>
            </a:r>
            <a:endParaRPr lang="en-US" sz="1600" dirty="0">
              <a:solidFill>
                <a:schemeClr val="bg1"/>
              </a:solidFill>
            </a:endParaRPr>
          </a:p>
        </p:txBody>
      </p:sp>
      <p:pic>
        <p:nvPicPr>
          <p:cNvPr id="37" name="Picture 36">
            <a:extLst>
              <a:ext uri="{FF2B5EF4-FFF2-40B4-BE49-F238E27FC236}">
                <a16:creationId xmlns:a16="http://schemas.microsoft.com/office/drawing/2014/main" id="{061A1877-0AA2-F245-C572-B9F7645E14A9}"/>
              </a:ext>
            </a:extLst>
          </p:cNvPr>
          <p:cNvPicPr>
            <a:picLocks noChangeAspect="1"/>
          </p:cNvPicPr>
          <p:nvPr/>
        </p:nvPicPr>
        <p:blipFill>
          <a:blip r:embed="rId7"/>
          <a:stretch>
            <a:fillRect/>
          </a:stretch>
        </p:blipFill>
        <p:spPr>
          <a:xfrm>
            <a:off x="139025" y="1316950"/>
            <a:ext cx="4948541" cy="3196321"/>
          </a:xfrm>
          <a:prstGeom prst="rect">
            <a:avLst/>
          </a:prstGeom>
        </p:spPr>
      </p:pic>
      <p:pic>
        <p:nvPicPr>
          <p:cNvPr id="6" name="Picture 5">
            <a:extLst>
              <a:ext uri="{FF2B5EF4-FFF2-40B4-BE49-F238E27FC236}">
                <a16:creationId xmlns:a16="http://schemas.microsoft.com/office/drawing/2014/main" id="{DCB5419A-FF32-F6B4-B595-5097AEC2C04C}"/>
              </a:ext>
            </a:extLst>
          </p:cNvPr>
          <p:cNvPicPr>
            <a:picLocks noChangeAspect="1"/>
          </p:cNvPicPr>
          <p:nvPr/>
        </p:nvPicPr>
        <p:blipFill rotWithShape="1">
          <a:blip r:embed="rId8"/>
          <a:srcRect l="931"/>
          <a:stretch>
            <a:fillRect/>
          </a:stretch>
        </p:blipFill>
        <p:spPr bwMode="auto">
          <a:xfrm>
            <a:off x="6210735" y="2109771"/>
            <a:ext cx="5467557" cy="789378"/>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686CBCF5-9985-9592-9735-A57C31DEC426}"/>
              </a:ext>
            </a:extLst>
          </p:cNvPr>
          <p:cNvSpPr txBox="1"/>
          <p:nvPr/>
        </p:nvSpPr>
        <p:spPr>
          <a:xfrm>
            <a:off x="6558337" y="3093953"/>
            <a:ext cx="4699462" cy="369332"/>
          </a:xfrm>
          <a:prstGeom prst="rect">
            <a:avLst/>
          </a:prstGeom>
          <a:noFill/>
        </p:spPr>
        <p:txBody>
          <a:bodyPr wrap="square" rtlCol="0">
            <a:spAutoFit/>
          </a:bodyPr>
          <a:lstStyle/>
          <a:p>
            <a:r>
              <a:rPr lang="en-IN" b="1" kern="100" dirty="0">
                <a:latin typeface="Aptos" panose="020B0004020202020204" pitchFamily="34" charset="0"/>
                <a:ea typeface="Aptos" panose="020B0004020202020204" pitchFamily="34" charset="0"/>
                <a:cs typeface="Cordia New" panose="020B0304020202020204" pitchFamily="34" charset="-34"/>
              </a:rPr>
              <a:t>P&gt;0.005 = H</a:t>
            </a:r>
            <a:r>
              <a:rPr lang="en-IN" b="1" kern="100" baseline="-25000" dirty="0">
                <a:latin typeface="Aptos" panose="020B0004020202020204" pitchFamily="34" charset="0"/>
                <a:ea typeface="Aptos" panose="020B0004020202020204" pitchFamily="34" charset="0"/>
                <a:cs typeface="Cordia New" panose="020B0304020202020204" pitchFamily="34" charset="-34"/>
              </a:rPr>
              <a:t>a </a:t>
            </a:r>
            <a:endParaRPr lang="en-IN" dirty="0"/>
          </a:p>
        </p:txBody>
      </p:sp>
      <p:sp>
        <p:nvSpPr>
          <p:cNvPr id="40" name="Shape 27">
            <a:extLst>
              <a:ext uri="{FF2B5EF4-FFF2-40B4-BE49-F238E27FC236}">
                <a16:creationId xmlns:a16="http://schemas.microsoft.com/office/drawing/2014/main" id="{83AAE1B0-39D8-E7D9-1BED-3A887A9F0E9D}"/>
              </a:ext>
            </a:extLst>
          </p:cNvPr>
          <p:cNvSpPr/>
          <p:nvPr/>
        </p:nvSpPr>
        <p:spPr>
          <a:xfrm>
            <a:off x="6120870" y="4574870"/>
            <a:ext cx="5667910" cy="1130157"/>
          </a:xfrm>
          <a:custGeom>
            <a:avLst/>
            <a:gdLst/>
            <a:ahLst/>
            <a:cxnLst/>
            <a:rect l="l" t="t" r="r" b="b"/>
            <a:pathLst>
              <a:path w="5667910" h="1130157">
                <a:moveTo>
                  <a:pt x="68499" y="0"/>
                </a:moveTo>
                <a:lnTo>
                  <a:pt x="5599411" y="0"/>
                </a:lnTo>
                <a:cubicBezTo>
                  <a:pt x="5637242" y="0"/>
                  <a:pt x="5667910" y="30668"/>
                  <a:pt x="5667910" y="68499"/>
                </a:cubicBezTo>
                <a:lnTo>
                  <a:pt x="5667910" y="1061658"/>
                </a:lnTo>
                <a:cubicBezTo>
                  <a:pt x="5667910" y="1099489"/>
                  <a:pt x="5637242" y="1130157"/>
                  <a:pt x="5599411" y="1130157"/>
                </a:cubicBezTo>
                <a:lnTo>
                  <a:pt x="68499" y="1130157"/>
                </a:lnTo>
                <a:cubicBezTo>
                  <a:pt x="30668" y="1130157"/>
                  <a:pt x="0" y="1099489"/>
                  <a:pt x="0" y="1061658"/>
                </a:cubicBezTo>
                <a:lnTo>
                  <a:pt x="0" y="68499"/>
                </a:lnTo>
                <a:cubicBezTo>
                  <a:pt x="0" y="30693"/>
                  <a:pt x="30693" y="0"/>
                  <a:pt x="68499" y="0"/>
                </a:cubicBezTo>
                <a:close/>
              </a:path>
            </a:pathLst>
          </a:custGeom>
          <a:solidFill>
            <a:srgbClr val="1A3A52"/>
          </a:solidFill>
          <a:ln/>
        </p:spPr>
      </p:sp>
      <p:sp>
        <p:nvSpPr>
          <p:cNvPr id="41" name="Shape 28">
            <a:extLst>
              <a:ext uri="{FF2B5EF4-FFF2-40B4-BE49-F238E27FC236}">
                <a16:creationId xmlns:a16="http://schemas.microsoft.com/office/drawing/2014/main" id="{6EE7A264-48AF-3CF7-76D3-6ECE4E51D791}"/>
              </a:ext>
            </a:extLst>
          </p:cNvPr>
          <p:cNvSpPr/>
          <p:nvPr/>
        </p:nvSpPr>
        <p:spPr>
          <a:xfrm>
            <a:off x="6303021" y="4781719"/>
            <a:ext cx="154112" cy="205483"/>
          </a:xfrm>
          <a:custGeom>
            <a:avLst/>
            <a:gdLst/>
            <a:ahLst/>
            <a:cxnLst/>
            <a:rect l="l" t="t" r="r" b="b"/>
            <a:pathLst>
              <a:path w="154112" h="205483">
                <a:moveTo>
                  <a:pt x="117551" y="154112"/>
                </a:moveTo>
                <a:cubicBezTo>
                  <a:pt x="120481" y="145163"/>
                  <a:pt x="126340" y="137056"/>
                  <a:pt x="132962" y="130072"/>
                </a:cubicBezTo>
                <a:cubicBezTo>
                  <a:pt x="146086" y="116267"/>
                  <a:pt x="154112" y="97604"/>
                  <a:pt x="154112" y="77056"/>
                </a:cubicBezTo>
                <a:cubicBezTo>
                  <a:pt x="154112" y="34515"/>
                  <a:pt x="119598" y="0"/>
                  <a:pt x="77056" y="0"/>
                </a:cubicBezTo>
                <a:cubicBezTo>
                  <a:pt x="34515" y="0"/>
                  <a:pt x="0" y="34515"/>
                  <a:pt x="0" y="77056"/>
                </a:cubicBezTo>
                <a:cubicBezTo>
                  <a:pt x="0" y="97604"/>
                  <a:pt x="8027" y="116267"/>
                  <a:pt x="21150" y="130072"/>
                </a:cubicBezTo>
                <a:cubicBezTo>
                  <a:pt x="27772" y="137056"/>
                  <a:pt x="33672" y="145163"/>
                  <a:pt x="36562" y="154112"/>
                </a:cubicBezTo>
                <a:lnTo>
                  <a:pt x="117511" y="154112"/>
                </a:lnTo>
                <a:close/>
                <a:moveTo>
                  <a:pt x="115584" y="173376"/>
                </a:moveTo>
                <a:lnTo>
                  <a:pt x="38528" y="173376"/>
                </a:lnTo>
                <a:lnTo>
                  <a:pt x="38528" y="179798"/>
                </a:lnTo>
                <a:cubicBezTo>
                  <a:pt x="38528" y="197537"/>
                  <a:pt x="52896" y="211904"/>
                  <a:pt x="70635" y="211904"/>
                </a:cubicBezTo>
                <a:lnTo>
                  <a:pt x="83478" y="211904"/>
                </a:lnTo>
                <a:cubicBezTo>
                  <a:pt x="101217" y="211904"/>
                  <a:pt x="115584" y="197537"/>
                  <a:pt x="115584" y="179798"/>
                </a:cubicBezTo>
                <a:lnTo>
                  <a:pt x="115584" y="173376"/>
                </a:lnTo>
                <a:close/>
                <a:moveTo>
                  <a:pt x="73846" y="44949"/>
                </a:moveTo>
                <a:cubicBezTo>
                  <a:pt x="57872" y="44949"/>
                  <a:pt x="44949" y="57872"/>
                  <a:pt x="44949" y="73846"/>
                </a:cubicBezTo>
                <a:cubicBezTo>
                  <a:pt x="44949" y="79183"/>
                  <a:pt x="40655" y="83478"/>
                  <a:pt x="35317" y="83478"/>
                </a:cubicBezTo>
                <a:cubicBezTo>
                  <a:pt x="29980" y="83478"/>
                  <a:pt x="25685" y="79183"/>
                  <a:pt x="25685" y="73846"/>
                </a:cubicBezTo>
                <a:cubicBezTo>
                  <a:pt x="25685" y="47237"/>
                  <a:pt x="47237" y="25685"/>
                  <a:pt x="73846" y="25685"/>
                </a:cubicBezTo>
                <a:cubicBezTo>
                  <a:pt x="79183" y="25685"/>
                  <a:pt x="83478" y="29980"/>
                  <a:pt x="83478" y="35317"/>
                </a:cubicBezTo>
                <a:cubicBezTo>
                  <a:pt x="83478" y="40655"/>
                  <a:pt x="79183" y="44949"/>
                  <a:pt x="73846" y="44949"/>
                </a:cubicBezTo>
                <a:close/>
              </a:path>
            </a:pathLst>
          </a:custGeom>
          <a:solidFill>
            <a:srgbClr val="C5A56A"/>
          </a:solidFill>
          <a:ln/>
        </p:spPr>
        <p:txBody>
          <a:bodyPr/>
          <a:lstStyle/>
          <a:p>
            <a:endParaRPr lang="en-IN" dirty="0"/>
          </a:p>
        </p:txBody>
      </p:sp>
      <p:sp>
        <p:nvSpPr>
          <p:cNvPr id="42" name="Text 29">
            <a:extLst>
              <a:ext uri="{FF2B5EF4-FFF2-40B4-BE49-F238E27FC236}">
                <a16:creationId xmlns:a16="http://schemas.microsoft.com/office/drawing/2014/main" id="{8DA48B83-5EF7-4A75-34B9-128816D73D4D}"/>
              </a:ext>
            </a:extLst>
          </p:cNvPr>
          <p:cNvSpPr/>
          <p:nvPr/>
        </p:nvSpPr>
        <p:spPr>
          <a:xfrm>
            <a:off x="6599547" y="4742007"/>
            <a:ext cx="839056" cy="239730"/>
          </a:xfrm>
          <a:prstGeom prst="rect">
            <a:avLst/>
          </a:prstGeom>
          <a:noFill/>
          <a:ln/>
        </p:spPr>
        <p:txBody>
          <a:bodyPr wrap="square" lIns="0" tIns="0" rIns="0" bIns="0" rtlCol="0" anchor="ctr"/>
          <a:lstStyle/>
          <a:p>
            <a:pPr>
              <a:lnSpc>
                <a:spcPct val="130000"/>
              </a:lnSpc>
            </a:pPr>
            <a:r>
              <a:rPr lang="en-US" sz="1213" b="1" dirty="0">
                <a:solidFill>
                  <a:srgbClr val="FFFFFF"/>
                </a:solidFill>
                <a:latin typeface="Liter" pitchFamily="34" charset="0"/>
                <a:ea typeface="Liter" pitchFamily="34" charset="-122"/>
                <a:cs typeface="Liter" pitchFamily="34" charset="-120"/>
              </a:rPr>
              <a:t>Conclusion</a:t>
            </a:r>
            <a:endParaRPr lang="en-US" sz="1600" dirty="0"/>
          </a:p>
        </p:txBody>
      </p:sp>
      <p:sp>
        <p:nvSpPr>
          <p:cNvPr id="43" name="Text 30">
            <a:extLst>
              <a:ext uri="{FF2B5EF4-FFF2-40B4-BE49-F238E27FC236}">
                <a16:creationId xmlns:a16="http://schemas.microsoft.com/office/drawing/2014/main" id="{2E25C6A2-324A-59EF-EB58-D4B4F5B222F9}"/>
              </a:ext>
            </a:extLst>
          </p:cNvPr>
          <p:cNvSpPr/>
          <p:nvPr/>
        </p:nvSpPr>
        <p:spPr>
          <a:xfrm>
            <a:off x="6334099" y="5037662"/>
            <a:ext cx="5393933" cy="445213"/>
          </a:xfrm>
          <a:prstGeom prst="rect">
            <a:avLst/>
          </a:prstGeom>
          <a:noFill/>
          <a:ln/>
        </p:spPr>
        <p:txBody>
          <a:bodyPr wrap="square" lIns="0" tIns="0" rIns="0" bIns="0" rtlCol="0" anchor="ctr"/>
          <a:lstStyle/>
          <a:p>
            <a:pPr>
              <a:lnSpc>
                <a:spcPct val="140000"/>
              </a:lnSpc>
            </a:pPr>
            <a:r>
              <a:rPr lang="en-IN" sz="1100" kern="100" dirty="0">
                <a:solidFill>
                  <a:schemeClr val="bg1"/>
                </a:solidFill>
                <a:latin typeface="Aptos" panose="020B0004020202020204" pitchFamily="34" charset="0"/>
                <a:ea typeface="Aptos" panose="020B0004020202020204" pitchFamily="34" charset="0"/>
                <a:cs typeface="Cordia New" panose="020B0304020202020204" pitchFamily="34" charset="-34"/>
              </a:rPr>
              <a:t>Age of employees is correlated to the attrition rate due to career growth &amp; compensation</a:t>
            </a:r>
            <a:endParaRPr lang="en-US" sz="1600" dirty="0">
              <a:solidFill>
                <a:schemeClr val="bg1"/>
              </a:solidFil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4767564-B04B-781D-FA8C-5899DB3C027A}"/>
              </a:ext>
            </a:extLst>
          </p:cNvPr>
          <p:cNvGraphicFramePr/>
          <p:nvPr>
            <p:extLst>
              <p:ext uri="{D42A27DB-BD31-4B8C-83A1-F6EECF244321}">
                <p14:modId xmlns:p14="http://schemas.microsoft.com/office/powerpoint/2010/main" val="4239890924"/>
              </p:ext>
            </p:extLst>
          </p:nvPr>
        </p:nvGraphicFramePr>
        <p:xfrm>
          <a:off x="1315374" y="2057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F3DCEC82-002D-5690-3121-C00F5CC102C1}"/>
              </a:ext>
            </a:extLst>
          </p:cNvPr>
          <p:cNvSpPr txBox="1"/>
          <p:nvPr/>
        </p:nvSpPr>
        <p:spPr>
          <a:xfrm>
            <a:off x="554114" y="978705"/>
            <a:ext cx="6094520" cy="395173"/>
          </a:xfrm>
          <a:prstGeom prst="rect">
            <a:avLst/>
          </a:prstGeom>
          <a:noFill/>
        </p:spPr>
        <p:txBody>
          <a:bodyPr wrap="square">
            <a:spAutoFit/>
          </a:bodyPr>
          <a:lstStyle/>
          <a:p>
            <a:pPr>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Cordia New" panose="020B0304020202020204" pitchFamily="34" charset="-34"/>
              </a:rPr>
              <a:t>Hypothesis 2:</a:t>
            </a:r>
            <a:endParaRPr lang="en-IN" sz="1800" kern="100" dirty="0">
              <a:effectLst/>
              <a:latin typeface="Aptos" panose="020B0004020202020204" pitchFamily="34" charset="0"/>
              <a:ea typeface="Aptos" panose="020B0004020202020204" pitchFamily="34" charset="0"/>
              <a:cs typeface="Cordia New" panose="020B0304020202020204" pitchFamily="34" charset="-34"/>
            </a:endParaRPr>
          </a:p>
        </p:txBody>
      </p:sp>
      <p:sp>
        <p:nvSpPr>
          <p:cNvPr id="6" name="TextBox 5">
            <a:extLst>
              <a:ext uri="{FF2B5EF4-FFF2-40B4-BE49-F238E27FC236}">
                <a16:creationId xmlns:a16="http://schemas.microsoft.com/office/drawing/2014/main" id="{9FE75E41-4586-852F-92BF-D3BB1359CC6A}"/>
              </a:ext>
            </a:extLst>
          </p:cNvPr>
          <p:cNvSpPr txBox="1"/>
          <p:nvPr/>
        </p:nvSpPr>
        <p:spPr>
          <a:xfrm>
            <a:off x="554114" y="1518405"/>
            <a:ext cx="6094520" cy="394467"/>
          </a:xfrm>
          <a:prstGeom prst="rect">
            <a:avLst/>
          </a:prstGeom>
          <a:noFill/>
        </p:spPr>
        <p:txBody>
          <a:bodyPr wrap="square">
            <a:spAutoFit/>
          </a:bodyPr>
          <a:lstStyle/>
          <a:p>
            <a:pPr>
              <a:lnSpc>
                <a:spcPct val="115000"/>
              </a:lnSpc>
              <a:spcAft>
                <a:spcPts val="800"/>
              </a:spcAft>
              <a:buNone/>
            </a:pPr>
            <a:r>
              <a:rPr lang="en-IN" sz="1800" kern="0" dirty="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Performance Hypothesis</a:t>
            </a:r>
            <a:endParaRPr lang="en-IN" sz="1800" kern="100" dirty="0">
              <a:effectLst/>
              <a:latin typeface="Aptos" panose="020B0004020202020204" pitchFamily="34" charset="0"/>
              <a:ea typeface="Aptos" panose="020B0004020202020204" pitchFamily="34" charset="0"/>
              <a:cs typeface="Cordia New" panose="020B0304020202020204" pitchFamily="34" charset="-34"/>
            </a:endParaRPr>
          </a:p>
        </p:txBody>
      </p:sp>
      <p:graphicFrame>
        <p:nvGraphicFramePr>
          <p:cNvPr id="8" name="Table 7">
            <a:extLst>
              <a:ext uri="{FF2B5EF4-FFF2-40B4-BE49-F238E27FC236}">
                <a16:creationId xmlns:a16="http://schemas.microsoft.com/office/drawing/2014/main" id="{8E66B323-14CB-A0BD-CB5E-1AB2F44DB34C}"/>
              </a:ext>
            </a:extLst>
          </p:cNvPr>
          <p:cNvGraphicFramePr>
            <a:graphicFrameLocks noGrp="1"/>
          </p:cNvGraphicFramePr>
          <p:nvPr>
            <p:extLst>
              <p:ext uri="{D42A27DB-BD31-4B8C-83A1-F6EECF244321}">
                <p14:modId xmlns:p14="http://schemas.microsoft.com/office/powerpoint/2010/main" val="2909125570"/>
              </p:ext>
            </p:extLst>
          </p:nvPr>
        </p:nvGraphicFramePr>
        <p:xfrm>
          <a:off x="943471" y="5105664"/>
          <a:ext cx="2060986" cy="1097280"/>
        </p:xfrm>
        <a:graphic>
          <a:graphicData uri="http://schemas.openxmlformats.org/drawingml/2006/table">
            <a:tbl>
              <a:tblPr firstRow="1" firstCol="1" bandRow="1"/>
              <a:tblGrid>
                <a:gridCol w="1384300">
                  <a:extLst>
                    <a:ext uri="{9D8B030D-6E8A-4147-A177-3AD203B41FA5}">
                      <a16:colId xmlns:a16="http://schemas.microsoft.com/office/drawing/2014/main" val="2382037479"/>
                    </a:ext>
                  </a:extLst>
                </a:gridCol>
                <a:gridCol w="676686">
                  <a:extLst>
                    <a:ext uri="{9D8B030D-6E8A-4147-A177-3AD203B41FA5}">
                      <a16:colId xmlns:a16="http://schemas.microsoft.com/office/drawing/2014/main" val="2478639646"/>
                    </a:ext>
                  </a:extLst>
                </a:gridCol>
              </a:tblGrid>
              <a:tr h="182880">
                <a:tc>
                  <a:txBody>
                    <a:bodyPr/>
                    <a:lstStyle/>
                    <a:p>
                      <a:pPr>
                        <a:lnSpc>
                          <a:spcPct val="115000"/>
                        </a:lnSpc>
                        <a:spcAft>
                          <a:spcPts val="800"/>
                        </a:spcAft>
                        <a:buNone/>
                      </a:pPr>
                      <a:r>
                        <a:rPr lang="en-IN" sz="1100" b="1"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Performance Rating</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nSpc>
                          <a:spcPct val="115000"/>
                        </a:lnSpc>
                        <a:spcAft>
                          <a:spcPts val="800"/>
                        </a:spcAft>
                        <a:buNone/>
                      </a:pPr>
                      <a:r>
                        <a:rPr lang="en-IN" sz="1100" b="1"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Total</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158298984"/>
                  </a:ext>
                </a:extLst>
              </a:tr>
              <a:tr h="182880">
                <a:tc>
                  <a:txBody>
                    <a:bodyPr/>
                    <a:lstStyle/>
                    <a:p>
                      <a:pPr>
                        <a:lnSpc>
                          <a:spcPct val="115000"/>
                        </a:lnSpc>
                        <a:spcAft>
                          <a:spcPts val="800"/>
                        </a:spcAft>
                        <a:buNone/>
                      </a:pPr>
                      <a:r>
                        <a:rPr lang="en-IN" sz="1100"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Average</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15000"/>
                        </a:lnSpc>
                        <a:spcAft>
                          <a:spcPts val="800"/>
                        </a:spcAft>
                        <a:buNone/>
                      </a:pPr>
                      <a:r>
                        <a:rPr lang="en-IN" sz="1100"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172</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8548956"/>
                  </a:ext>
                </a:extLst>
              </a:tr>
              <a:tr h="182880">
                <a:tc>
                  <a:txBody>
                    <a:bodyPr/>
                    <a:lstStyle/>
                    <a:p>
                      <a:pPr>
                        <a:lnSpc>
                          <a:spcPct val="115000"/>
                        </a:lnSpc>
                        <a:spcAft>
                          <a:spcPts val="800"/>
                        </a:spcAft>
                        <a:buNone/>
                      </a:pPr>
                      <a:r>
                        <a:rPr lang="en-IN" sz="1100"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Below Average</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15000"/>
                        </a:lnSpc>
                        <a:spcAft>
                          <a:spcPts val="800"/>
                        </a:spcAft>
                        <a:buNone/>
                      </a:pPr>
                      <a:r>
                        <a:rPr lang="en-IN" sz="1100"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45</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7315436"/>
                  </a:ext>
                </a:extLst>
              </a:tr>
              <a:tr h="182880">
                <a:tc>
                  <a:txBody>
                    <a:bodyPr/>
                    <a:lstStyle/>
                    <a:p>
                      <a:pPr>
                        <a:lnSpc>
                          <a:spcPct val="115000"/>
                        </a:lnSpc>
                        <a:spcAft>
                          <a:spcPts val="800"/>
                        </a:spcAft>
                        <a:buNone/>
                      </a:pPr>
                      <a:r>
                        <a:rPr lang="en-IN" sz="1100" kern="0" dirty="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High</a:t>
                      </a:r>
                      <a:endParaRPr lang="en-IN" sz="1200" kern="100" dirty="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15000"/>
                        </a:lnSpc>
                        <a:spcAft>
                          <a:spcPts val="800"/>
                        </a:spcAft>
                        <a:buNone/>
                      </a:pPr>
                      <a:r>
                        <a:rPr lang="en-IN" sz="1100"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69</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8717285"/>
                  </a:ext>
                </a:extLst>
              </a:tr>
              <a:tr h="182880">
                <a:tc>
                  <a:txBody>
                    <a:bodyPr/>
                    <a:lstStyle/>
                    <a:p>
                      <a:pPr>
                        <a:lnSpc>
                          <a:spcPct val="115000"/>
                        </a:lnSpc>
                        <a:spcAft>
                          <a:spcPts val="800"/>
                        </a:spcAft>
                        <a:buNone/>
                      </a:pPr>
                      <a:r>
                        <a:rPr lang="en-IN" sz="1100"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Low</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15000"/>
                        </a:lnSpc>
                        <a:spcAft>
                          <a:spcPts val="800"/>
                        </a:spcAft>
                        <a:buNone/>
                      </a:pPr>
                      <a:r>
                        <a:rPr lang="en-IN" sz="1100" kern="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14</a:t>
                      </a:r>
                      <a:endParaRPr lang="en-IN" sz="12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3574163"/>
                  </a:ext>
                </a:extLst>
              </a:tr>
              <a:tr h="182880">
                <a:tc>
                  <a:txBody>
                    <a:bodyPr/>
                    <a:lstStyle/>
                    <a:p>
                      <a:pPr>
                        <a:lnSpc>
                          <a:spcPct val="115000"/>
                        </a:lnSpc>
                        <a:spcAft>
                          <a:spcPts val="800"/>
                        </a:spcAft>
                        <a:buNone/>
                      </a:pPr>
                      <a:r>
                        <a:rPr lang="en-IN" sz="1100" b="1" kern="0" dirty="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Grand Total</a:t>
                      </a:r>
                      <a:endParaRPr lang="en-IN" sz="1200" kern="100" dirty="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r">
                        <a:lnSpc>
                          <a:spcPct val="115000"/>
                        </a:lnSpc>
                        <a:spcAft>
                          <a:spcPts val="800"/>
                        </a:spcAft>
                        <a:buNone/>
                      </a:pPr>
                      <a:r>
                        <a:rPr lang="en-IN" sz="1100" b="1" kern="0" dirty="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300</a:t>
                      </a:r>
                      <a:endParaRPr lang="en-IN" sz="1200" kern="100" dirty="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472449246"/>
                  </a:ext>
                </a:extLst>
              </a:tr>
            </a:tbl>
          </a:graphicData>
        </a:graphic>
      </p:graphicFrame>
      <p:sp>
        <p:nvSpPr>
          <p:cNvPr id="10" name="TextBox 9">
            <a:extLst>
              <a:ext uri="{FF2B5EF4-FFF2-40B4-BE49-F238E27FC236}">
                <a16:creationId xmlns:a16="http://schemas.microsoft.com/office/drawing/2014/main" id="{C7935097-6651-253F-B7CE-FD99CD194901}"/>
              </a:ext>
            </a:extLst>
          </p:cNvPr>
          <p:cNvSpPr txBox="1"/>
          <p:nvPr/>
        </p:nvSpPr>
        <p:spPr>
          <a:xfrm>
            <a:off x="4227991" y="5339595"/>
            <a:ext cx="6094520" cy="713016"/>
          </a:xfrm>
          <a:prstGeom prst="rect">
            <a:avLst/>
          </a:prstGeom>
          <a:noFill/>
        </p:spPr>
        <p:txBody>
          <a:bodyPr wrap="square">
            <a:spAutoFit/>
          </a:bodyPr>
          <a:lstStyle/>
          <a:p>
            <a:pPr>
              <a:lnSpc>
                <a:spcPct val="115000"/>
              </a:lnSpc>
              <a:spcAft>
                <a:spcPts val="800"/>
              </a:spcAft>
              <a:buNone/>
            </a:pPr>
            <a:r>
              <a:rPr lang="en-IN" sz="1800" kern="0" dirty="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H</a:t>
            </a:r>
            <a:r>
              <a:rPr lang="en-IN" sz="1800" kern="0" baseline="-25000" dirty="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a </a:t>
            </a:r>
            <a:r>
              <a:rPr lang="en-IN" sz="1800" kern="0" dirty="0">
                <a:solidFill>
                  <a:srgbClr val="000000"/>
                </a:solidFill>
                <a:effectLst/>
                <a:latin typeface="Calibri" panose="020F0502020204030204" pitchFamily="34" charset="0"/>
                <a:ea typeface="Times New Roman" panose="02020603050405020304" pitchFamily="18" charset="0"/>
                <a:cs typeface="Cordia New" panose="020B0304020202020204" pitchFamily="34" charset="-34"/>
              </a:rPr>
              <a:t>- Attrition is high in Average performers. This impacts career growth.</a:t>
            </a:r>
            <a:endParaRPr lang="en-IN" sz="2000" kern="100" dirty="0">
              <a:effectLst/>
              <a:latin typeface="Aptos" panose="020B0004020202020204" pitchFamily="34" charset="0"/>
              <a:ea typeface="Aptos" panose="020B0004020202020204" pitchFamily="34" charset="0"/>
              <a:cs typeface="Cordia New" panose="020B0304020202020204" pitchFamily="34" charset="-34"/>
            </a:endParaRPr>
          </a:p>
        </p:txBody>
      </p:sp>
    </p:spTree>
    <p:extLst>
      <p:ext uri="{BB962C8B-B14F-4D97-AF65-F5344CB8AC3E}">
        <p14:creationId xmlns:p14="http://schemas.microsoft.com/office/powerpoint/2010/main" val="1670165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339610" y="339610"/>
            <a:ext cx="11580702" cy="203766"/>
          </a:xfrm>
          <a:prstGeom prst="rect">
            <a:avLst/>
          </a:prstGeom>
          <a:noFill/>
          <a:ln/>
        </p:spPr>
        <p:txBody>
          <a:bodyPr wrap="square" lIns="0" tIns="0" rIns="0" bIns="0" rtlCol="0" anchor="ctr"/>
          <a:lstStyle/>
          <a:p>
            <a:pPr>
              <a:lnSpc>
                <a:spcPct val="130000"/>
              </a:lnSpc>
            </a:pPr>
            <a:r>
              <a:rPr lang="en-US" sz="1070" b="1" kern="0" spc="107" dirty="0">
                <a:solidFill>
                  <a:srgbClr val="C5A56A"/>
                </a:solidFill>
                <a:latin typeface="Liter" pitchFamily="34" charset="0"/>
                <a:ea typeface="Liter" pitchFamily="34" charset="-122"/>
                <a:cs typeface="Liter" pitchFamily="34" charset="-120"/>
              </a:rPr>
              <a:t>Root Cause Analysis</a:t>
            </a:r>
            <a:endParaRPr lang="en-US" sz="1600" dirty="0"/>
          </a:p>
        </p:txBody>
      </p:sp>
      <p:sp>
        <p:nvSpPr>
          <p:cNvPr id="3" name="Text 1"/>
          <p:cNvSpPr/>
          <p:nvPr/>
        </p:nvSpPr>
        <p:spPr>
          <a:xfrm>
            <a:off x="339610" y="611298"/>
            <a:ext cx="11177939" cy="287087"/>
          </a:xfrm>
          <a:prstGeom prst="rect">
            <a:avLst/>
          </a:prstGeom>
          <a:noFill/>
          <a:ln/>
        </p:spPr>
        <p:txBody>
          <a:bodyPr wrap="square" lIns="0" tIns="0" rIns="0" bIns="0" rtlCol="0" anchor="ctr"/>
          <a:lstStyle/>
          <a:p>
            <a:pPr>
              <a:lnSpc>
                <a:spcPct val="80000"/>
              </a:lnSpc>
            </a:pPr>
            <a:r>
              <a:rPr lang="en-US" sz="3209" b="1" dirty="0">
                <a:solidFill>
                  <a:srgbClr val="1A3A52"/>
                </a:solidFill>
                <a:latin typeface="Liter" pitchFamily="34" charset="0"/>
                <a:ea typeface="Liter" pitchFamily="34" charset="-122"/>
                <a:cs typeface="Liter" pitchFamily="34" charset="-120"/>
              </a:rPr>
              <a:t>Why-Why Analysis – Resignations</a:t>
            </a:r>
            <a:endParaRPr lang="en-US" sz="1600" dirty="0"/>
          </a:p>
        </p:txBody>
      </p:sp>
      <p:sp>
        <p:nvSpPr>
          <p:cNvPr id="4" name="Text 2"/>
          <p:cNvSpPr/>
          <p:nvPr/>
        </p:nvSpPr>
        <p:spPr>
          <a:xfrm>
            <a:off x="6505389" y="575214"/>
            <a:ext cx="4362636" cy="273811"/>
          </a:xfrm>
          <a:prstGeom prst="rect">
            <a:avLst/>
          </a:prstGeom>
          <a:noFill/>
          <a:ln/>
        </p:spPr>
        <p:txBody>
          <a:bodyPr wrap="square" lIns="0" tIns="0" rIns="0" bIns="0" rtlCol="0" anchor="ctr"/>
          <a:lstStyle/>
          <a:p>
            <a:pPr>
              <a:lnSpc>
                <a:spcPct val="120000"/>
              </a:lnSpc>
            </a:pPr>
            <a:r>
              <a:rPr lang="en-US" sz="1337" dirty="0">
                <a:solidFill>
                  <a:srgbClr val="5E7A91"/>
                </a:solidFill>
                <a:latin typeface="Liter" pitchFamily="34" charset="0"/>
                <a:ea typeface="Liter" pitchFamily="34" charset="-122"/>
                <a:cs typeface="Liter" pitchFamily="34" charset="-120"/>
              </a:rPr>
              <a:t>5-Why Chain for Voluntary Attrition</a:t>
            </a:r>
            <a:endParaRPr lang="en-US" sz="1600" dirty="0"/>
          </a:p>
        </p:txBody>
      </p:sp>
      <p:sp>
        <p:nvSpPr>
          <p:cNvPr id="5" name="Shape 3"/>
          <p:cNvSpPr/>
          <p:nvPr/>
        </p:nvSpPr>
        <p:spPr>
          <a:xfrm>
            <a:off x="6505389" y="810481"/>
            <a:ext cx="815064" cy="33961"/>
          </a:xfrm>
          <a:custGeom>
            <a:avLst/>
            <a:gdLst/>
            <a:ahLst/>
            <a:cxnLst/>
            <a:rect l="l" t="t" r="r" b="b"/>
            <a:pathLst>
              <a:path w="815064" h="33961">
                <a:moveTo>
                  <a:pt x="0" y="0"/>
                </a:moveTo>
                <a:lnTo>
                  <a:pt x="815064" y="0"/>
                </a:lnTo>
                <a:lnTo>
                  <a:pt x="815064" y="33961"/>
                </a:lnTo>
                <a:lnTo>
                  <a:pt x="0" y="33961"/>
                </a:lnTo>
                <a:lnTo>
                  <a:pt x="0" y="0"/>
                </a:lnTo>
                <a:close/>
              </a:path>
            </a:pathLst>
          </a:custGeom>
          <a:solidFill>
            <a:srgbClr val="C5A56A"/>
          </a:solidFill>
          <a:ln/>
        </p:spPr>
      </p:sp>
      <p:sp>
        <p:nvSpPr>
          <p:cNvPr id="6" name="Shape 4"/>
          <p:cNvSpPr/>
          <p:nvPr/>
        </p:nvSpPr>
        <p:spPr>
          <a:xfrm>
            <a:off x="1747135" y="993360"/>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1A3A52"/>
          </a:solidFill>
          <a:ln/>
        </p:spPr>
      </p:sp>
      <p:sp>
        <p:nvSpPr>
          <p:cNvPr id="7" name="Text 5"/>
          <p:cNvSpPr/>
          <p:nvPr/>
        </p:nvSpPr>
        <p:spPr>
          <a:xfrm>
            <a:off x="1962398" y="1078262"/>
            <a:ext cx="200500" cy="322630"/>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1</a:t>
            </a:r>
            <a:endParaRPr lang="en-US" sz="1600" dirty="0"/>
          </a:p>
        </p:txBody>
      </p:sp>
      <p:sp>
        <p:nvSpPr>
          <p:cNvPr id="8" name="Shape 6"/>
          <p:cNvSpPr/>
          <p:nvPr/>
        </p:nvSpPr>
        <p:spPr>
          <a:xfrm>
            <a:off x="2447049" y="1018830"/>
            <a:ext cx="7997816" cy="679220"/>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sp>
      <p:sp>
        <p:nvSpPr>
          <p:cNvPr id="9" name="Shape 7"/>
          <p:cNvSpPr/>
          <p:nvPr/>
        </p:nvSpPr>
        <p:spPr>
          <a:xfrm>
            <a:off x="2447049" y="916947"/>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1A3A52"/>
          </a:solidFill>
          <a:ln/>
        </p:spPr>
      </p:sp>
      <p:sp>
        <p:nvSpPr>
          <p:cNvPr id="10" name="Text 8"/>
          <p:cNvSpPr/>
          <p:nvPr/>
        </p:nvSpPr>
        <p:spPr>
          <a:xfrm>
            <a:off x="2599874" y="1052791"/>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are employees leaving?</a:t>
            </a:r>
            <a:endParaRPr lang="en-US" sz="1600" dirty="0"/>
          </a:p>
        </p:txBody>
      </p:sp>
      <p:sp>
        <p:nvSpPr>
          <p:cNvPr id="11" name="Text 9"/>
          <p:cNvSpPr/>
          <p:nvPr/>
        </p:nvSpPr>
        <p:spPr>
          <a:xfrm>
            <a:off x="2599874" y="1358440"/>
            <a:ext cx="7777070" cy="203766"/>
          </a:xfrm>
          <a:prstGeom prst="rect">
            <a:avLst/>
          </a:prstGeom>
          <a:noFill/>
          <a:ln/>
        </p:spPr>
        <p:txBody>
          <a:bodyPr wrap="square" lIns="0" tIns="0" rIns="0" bIns="0" rtlCol="0" anchor="ctr"/>
          <a:lstStyle/>
          <a:p>
            <a:pPr>
              <a:lnSpc>
                <a:spcPct val="130000"/>
              </a:lnSpc>
            </a:pPr>
            <a:r>
              <a:rPr lang="en-US" sz="1070" dirty="0">
                <a:solidFill>
                  <a:srgbClr val="212529"/>
                </a:solidFill>
                <a:latin typeface="Liter" pitchFamily="34" charset="0"/>
                <a:ea typeface="Liter" pitchFamily="34" charset="-122"/>
                <a:cs typeface="Liter" pitchFamily="34" charset="-120"/>
              </a:rPr>
              <a:t>Dissatisfaction with </a:t>
            </a:r>
            <a:r>
              <a:rPr lang="en-US" sz="1070" b="1" dirty="0">
                <a:solidFill>
                  <a:srgbClr val="212529"/>
                </a:solidFill>
                <a:latin typeface="Liter" pitchFamily="34" charset="0"/>
                <a:ea typeface="Liter" pitchFamily="34" charset="-122"/>
                <a:cs typeface="Liter" pitchFamily="34" charset="-120"/>
              </a:rPr>
              <a:t>growth opportunities</a:t>
            </a:r>
            <a:r>
              <a:rPr lang="en-US" sz="1070" dirty="0">
                <a:solidFill>
                  <a:srgbClr val="212529"/>
                </a:solidFill>
                <a:latin typeface="Liter" pitchFamily="34" charset="0"/>
                <a:ea typeface="Liter" pitchFamily="34" charset="-122"/>
                <a:cs typeface="Liter" pitchFamily="34" charset="-120"/>
              </a:rPr>
              <a:t>, </a:t>
            </a:r>
            <a:r>
              <a:rPr lang="en-US" sz="1070" b="1" dirty="0">
                <a:solidFill>
                  <a:srgbClr val="212529"/>
                </a:solidFill>
                <a:latin typeface="Liter" pitchFamily="34" charset="0"/>
                <a:ea typeface="Liter" pitchFamily="34" charset="-122"/>
                <a:cs typeface="Liter" pitchFamily="34" charset="-120"/>
              </a:rPr>
              <a:t>compensation</a:t>
            </a:r>
            <a:r>
              <a:rPr lang="en-US" sz="1070" dirty="0">
                <a:solidFill>
                  <a:srgbClr val="212529"/>
                </a:solidFill>
                <a:latin typeface="Liter" pitchFamily="34" charset="0"/>
                <a:ea typeface="Liter" pitchFamily="34" charset="-122"/>
                <a:cs typeface="Liter" pitchFamily="34" charset="-120"/>
              </a:rPr>
              <a:t>, and </a:t>
            </a:r>
            <a:r>
              <a:rPr lang="en-US" sz="1070" b="1" dirty="0">
                <a:solidFill>
                  <a:srgbClr val="212529"/>
                </a:solidFill>
                <a:latin typeface="Liter" pitchFamily="34" charset="0"/>
                <a:ea typeface="Liter" pitchFamily="34" charset="-122"/>
                <a:cs typeface="Liter" pitchFamily="34" charset="-120"/>
              </a:rPr>
              <a:t>work environment</a:t>
            </a:r>
            <a:endParaRPr lang="en-US" sz="1600" dirty="0"/>
          </a:p>
        </p:txBody>
      </p:sp>
      <p:sp>
        <p:nvSpPr>
          <p:cNvPr id="12" name="Shape 10"/>
          <p:cNvSpPr/>
          <p:nvPr/>
        </p:nvSpPr>
        <p:spPr>
          <a:xfrm>
            <a:off x="6004464" y="1799933"/>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13" name="Shape 11"/>
          <p:cNvSpPr/>
          <p:nvPr/>
        </p:nvSpPr>
        <p:spPr>
          <a:xfrm>
            <a:off x="1750849" y="2156524"/>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5E7A91"/>
          </a:solidFill>
          <a:ln/>
        </p:spPr>
      </p:sp>
      <p:sp>
        <p:nvSpPr>
          <p:cNvPr id="14" name="Text 12"/>
          <p:cNvSpPr/>
          <p:nvPr/>
        </p:nvSpPr>
        <p:spPr>
          <a:xfrm>
            <a:off x="1963282" y="2292368"/>
            <a:ext cx="220747" cy="271688"/>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2</a:t>
            </a:r>
            <a:endParaRPr lang="en-US" sz="1600" dirty="0"/>
          </a:p>
        </p:txBody>
      </p:sp>
      <p:sp>
        <p:nvSpPr>
          <p:cNvPr id="15" name="Shape 13"/>
          <p:cNvSpPr/>
          <p:nvPr/>
        </p:nvSpPr>
        <p:spPr>
          <a:xfrm>
            <a:off x="2447049" y="2156524"/>
            <a:ext cx="7997816" cy="781103"/>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sp>
      <p:sp>
        <p:nvSpPr>
          <p:cNvPr id="16" name="Shape 14"/>
          <p:cNvSpPr/>
          <p:nvPr/>
        </p:nvSpPr>
        <p:spPr>
          <a:xfrm>
            <a:off x="2447049" y="2156524"/>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5E7A91"/>
          </a:solidFill>
          <a:ln/>
        </p:spPr>
      </p:sp>
      <p:sp>
        <p:nvSpPr>
          <p:cNvPr id="17" name="Text 15"/>
          <p:cNvSpPr/>
          <p:nvPr/>
        </p:nvSpPr>
        <p:spPr>
          <a:xfrm>
            <a:off x="2599874" y="2292368"/>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dissatisfaction with growth opportunities?</a:t>
            </a:r>
            <a:endParaRPr lang="en-US" sz="1600" dirty="0"/>
          </a:p>
        </p:txBody>
      </p:sp>
      <p:sp>
        <p:nvSpPr>
          <p:cNvPr id="18" name="Text 16"/>
          <p:cNvSpPr/>
          <p:nvPr/>
        </p:nvSpPr>
        <p:spPr>
          <a:xfrm>
            <a:off x="2599874" y="2598017"/>
            <a:ext cx="7777070" cy="203766"/>
          </a:xfrm>
          <a:prstGeom prst="rect">
            <a:avLst/>
          </a:prstGeom>
          <a:noFill/>
          <a:ln/>
        </p:spPr>
        <p:txBody>
          <a:bodyPr wrap="square" lIns="0" tIns="0" rIns="0" bIns="0" rtlCol="0" anchor="ctr"/>
          <a:lstStyle/>
          <a:p>
            <a:pPr>
              <a:lnSpc>
                <a:spcPct val="130000"/>
              </a:lnSpc>
            </a:pPr>
            <a:r>
              <a:rPr lang="en-US" sz="1070" dirty="0">
                <a:solidFill>
                  <a:srgbClr val="212529"/>
                </a:solidFill>
                <a:latin typeface="Liter" pitchFamily="34" charset="0"/>
                <a:ea typeface="Liter" pitchFamily="34" charset="-122"/>
                <a:cs typeface="Liter" pitchFamily="34" charset="-120"/>
              </a:rPr>
              <a:t>Promotion cycle is </a:t>
            </a:r>
            <a:r>
              <a:rPr lang="en-US" sz="1070" b="1" dirty="0">
                <a:solidFill>
                  <a:srgbClr val="212529"/>
                </a:solidFill>
                <a:latin typeface="Liter" pitchFamily="34" charset="0"/>
                <a:ea typeface="Liter" pitchFamily="34" charset="-122"/>
                <a:cs typeface="Liter" pitchFamily="34" charset="-120"/>
              </a:rPr>
              <a:t>slower than competitors</a:t>
            </a:r>
            <a:r>
              <a:rPr lang="en-US" sz="1070" dirty="0">
                <a:solidFill>
                  <a:srgbClr val="212529"/>
                </a:solidFill>
                <a:latin typeface="Liter" pitchFamily="34" charset="0"/>
                <a:ea typeface="Liter" pitchFamily="34" charset="-122"/>
                <a:cs typeface="Liter" pitchFamily="34" charset="-120"/>
              </a:rPr>
              <a:t> (L1→L2 takes 2 years at RAT vs. 1–1.5 years elsewhere)</a:t>
            </a:r>
            <a:endParaRPr lang="en-US" sz="1600" dirty="0"/>
          </a:p>
        </p:txBody>
      </p:sp>
      <p:sp>
        <p:nvSpPr>
          <p:cNvPr id="19" name="Shape 17"/>
          <p:cNvSpPr/>
          <p:nvPr/>
        </p:nvSpPr>
        <p:spPr>
          <a:xfrm>
            <a:off x="6004464" y="3039510"/>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20" name="Shape 18"/>
          <p:cNvSpPr/>
          <p:nvPr/>
        </p:nvSpPr>
        <p:spPr>
          <a:xfrm>
            <a:off x="1750849" y="3396100"/>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C5A56A"/>
          </a:solidFill>
          <a:ln/>
        </p:spPr>
      </p:sp>
      <p:sp>
        <p:nvSpPr>
          <p:cNvPr id="21" name="Text 19"/>
          <p:cNvSpPr/>
          <p:nvPr/>
        </p:nvSpPr>
        <p:spPr>
          <a:xfrm>
            <a:off x="1962398" y="3531944"/>
            <a:ext cx="220747" cy="271688"/>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3</a:t>
            </a:r>
            <a:endParaRPr lang="en-US" sz="1600" dirty="0"/>
          </a:p>
        </p:txBody>
      </p:sp>
      <p:sp>
        <p:nvSpPr>
          <p:cNvPr id="22" name="Shape 20"/>
          <p:cNvSpPr/>
          <p:nvPr/>
        </p:nvSpPr>
        <p:spPr>
          <a:xfrm>
            <a:off x="2447049" y="3396100"/>
            <a:ext cx="7997816" cy="781103"/>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sp>
      <p:sp>
        <p:nvSpPr>
          <p:cNvPr id="23" name="Shape 21"/>
          <p:cNvSpPr/>
          <p:nvPr/>
        </p:nvSpPr>
        <p:spPr>
          <a:xfrm>
            <a:off x="2447049" y="3396100"/>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C5A56A"/>
          </a:solidFill>
          <a:ln/>
        </p:spPr>
      </p:sp>
      <p:sp>
        <p:nvSpPr>
          <p:cNvPr id="24" name="Text 22"/>
          <p:cNvSpPr/>
          <p:nvPr/>
        </p:nvSpPr>
        <p:spPr>
          <a:xfrm>
            <a:off x="2599874" y="3531944"/>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slower promotions?</a:t>
            </a:r>
            <a:endParaRPr lang="en-US" sz="1600" dirty="0"/>
          </a:p>
        </p:txBody>
      </p:sp>
      <p:sp>
        <p:nvSpPr>
          <p:cNvPr id="25" name="Text 23"/>
          <p:cNvSpPr/>
          <p:nvPr/>
        </p:nvSpPr>
        <p:spPr>
          <a:xfrm>
            <a:off x="2599874" y="3837593"/>
            <a:ext cx="7777070" cy="203766"/>
          </a:xfrm>
          <a:prstGeom prst="rect">
            <a:avLst/>
          </a:prstGeom>
          <a:noFill/>
          <a:ln/>
        </p:spPr>
        <p:txBody>
          <a:bodyPr wrap="square" lIns="0" tIns="0" rIns="0" bIns="0" rtlCol="0" anchor="ctr"/>
          <a:lstStyle/>
          <a:p>
            <a:pPr>
              <a:lnSpc>
                <a:spcPct val="130000"/>
              </a:lnSpc>
            </a:pPr>
            <a:r>
              <a:rPr lang="en-US" sz="1070" b="1" dirty="0">
                <a:solidFill>
                  <a:srgbClr val="212529"/>
                </a:solidFill>
                <a:latin typeface="Liter" pitchFamily="34" charset="0"/>
                <a:ea typeface="Liter" pitchFamily="34" charset="-122"/>
                <a:cs typeface="Liter" pitchFamily="34" charset="-120"/>
              </a:rPr>
              <a:t>Limited career path planning</a:t>
            </a:r>
            <a:r>
              <a:rPr lang="en-US" sz="1070" dirty="0">
                <a:solidFill>
                  <a:srgbClr val="212529"/>
                </a:solidFill>
                <a:latin typeface="Liter" pitchFamily="34" charset="0"/>
                <a:ea typeface="Liter" pitchFamily="34" charset="-122"/>
                <a:cs typeface="Liter" pitchFamily="34" charset="-120"/>
              </a:rPr>
              <a:t> and </a:t>
            </a:r>
            <a:r>
              <a:rPr lang="en-US" sz="1070" b="1" dirty="0">
                <a:solidFill>
                  <a:srgbClr val="212529"/>
                </a:solidFill>
                <a:latin typeface="Liter" pitchFamily="34" charset="0"/>
                <a:ea typeface="Liter" pitchFamily="34" charset="-122"/>
                <a:cs typeface="Liter" pitchFamily="34" charset="-120"/>
              </a:rPr>
              <a:t>delayed increments</a:t>
            </a:r>
            <a:r>
              <a:rPr lang="en-US" sz="1070" dirty="0">
                <a:solidFill>
                  <a:srgbClr val="212529"/>
                </a:solidFill>
                <a:latin typeface="Liter" pitchFamily="34" charset="0"/>
                <a:ea typeface="Liter" pitchFamily="34" charset="-122"/>
                <a:cs typeface="Liter" pitchFamily="34" charset="-120"/>
              </a:rPr>
              <a:t> (declared only in August reviews)</a:t>
            </a:r>
            <a:endParaRPr lang="en-US" sz="1600" dirty="0"/>
          </a:p>
        </p:txBody>
      </p:sp>
      <p:sp>
        <p:nvSpPr>
          <p:cNvPr id="26" name="Shape 24"/>
          <p:cNvSpPr/>
          <p:nvPr/>
        </p:nvSpPr>
        <p:spPr>
          <a:xfrm>
            <a:off x="6004464" y="4279086"/>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27" name="Shape 25"/>
          <p:cNvSpPr/>
          <p:nvPr/>
        </p:nvSpPr>
        <p:spPr>
          <a:xfrm>
            <a:off x="1750849" y="4635677"/>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E7000B"/>
          </a:solidFill>
          <a:ln/>
        </p:spPr>
      </p:sp>
      <p:sp>
        <p:nvSpPr>
          <p:cNvPr id="28" name="Text 26"/>
          <p:cNvSpPr/>
          <p:nvPr/>
        </p:nvSpPr>
        <p:spPr>
          <a:xfrm>
            <a:off x="1962486" y="4771521"/>
            <a:ext cx="220747" cy="271688"/>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4</a:t>
            </a:r>
            <a:endParaRPr lang="en-US" sz="1600" dirty="0"/>
          </a:p>
        </p:txBody>
      </p:sp>
      <p:sp>
        <p:nvSpPr>
          <p:cNvPr id="29" name="Shape 27"/>
          <p:cNvSpPr/>
          <p:nvPr/>
        </p:nvSpPr>
        <p:spPr>
          <a:xfrm>
            <a:off x="2434844" y="4567754"/>
            <a:ext cx="7997816" cy="781103"/>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txBody>
          <a:bodyPr/>
          <a:lstStyle/>
          <a:p>
            <a:endParaRPr lang="en-IN" dirty="0"/>
          </a:p>
        </p:txBody>
      </p:sp>
      <p:sp>
        <p:nvSpPr>
          <p:cNvPr id="30" name="Shape 28"/>
          <p:cNvSpPr/>
          <p:nvPr/>
        </p:nvSpPr>
        <p:spPr>
          <a:xfrm>
            <a:off x="2435301" y="4567753"/>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E7000B"/>
          </a:solidFill>
          <a:ln/>
        </p:spPr>
      </p:sp>
      <p:sp>
        <p:nvSpPr>
          <p:cNvPr id="31" name="Text 29"/>
          <p:cNvSpPr/>
          <p:nvPr/>
        </p:nvSpPr>
        <p:spPr>
          <a:xfrm>
            <a:off x="2599874" y="4771521"/>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delayed increments cause resignations?</a:t>
            </a:r>
            <a:endParaRPr lang="en-US" sz="1600" dirty="0"/>
          </a:p>
        </p:txBody>
      </p:sp>
      <p:sp>
        <p:nvSpPr>
          <p:cNvPr id="32" name="Text 30"/>
          <p:cNvSpPr/>
          <p:nvPr/>
        </p:nvSpPr>
        <p:spPr>
          <a:xfrm>
            <a:off x="2599874" y="5077170"/>
            <a:ext cx="7777070" cy="203766"/>
          </a:xfrm>
          <a:prstGeom prst="rect">
            <a:avLst/>
          </a:prstGeom>
          <a:noFill/>
          <a:ln/>
        </p:spPr>
        <p:txBody>
          <a:bodyPr wrap="square" lIns="0" tIns="0" rIns="0" bIns="0" rtlCol="0" anchor="ctr"/>
          <a:lstStyle/>
          <a:p>
            <a:pPr>
              <a:lnSpc>
                <a:spcPct val="130000"/>
              </a:lnSpc>
            </a:pPr>
            <a:r>
              <a:rPr lang="en-US" sz="1070" dirty="0">
                <a:solidFill>
                  <a:srgbClr val="212529"/>
                </a:solidFill>
                <a:latin typeface="Liter" pitchFamily="34" charset="0"/>
                <a:ea typeface="Liter" pitchFamily="34" charset="-122"/>
                <a:cs typeface="Liter" pitchFamily="34" charset="-120"/>
              </a:rPr>
              <a:t>Employees wait for August reviews, and if dissatisfied, </a:t>
            </a:r>
            <a:r>
              <a:rPr lang="en-US" sz="1070" b="1" dirty="0">
                <a:solidFill>
                  <a:srgbClr val="212529"/>
                </a:solidFill>
                <a:latin typeface="Liter" pitchFamily="34" charset="0"/>
                <a:ea typeface="Liter" pitchFamily="34" charset="-122"/>
                <a:cs typeface="Liter" pitchFamily="34" charset="-120"/>
              </a:rPr>
              <a:t>resign immediately after</a:t>
            </a:r>
            <a:endParaRPr lang="en-US" sz="1600" dirty="0"/>
          </a:p>
        </p:txBody>
      </p:sp>
      <p:sp>
        <p:nvSpPr>
          <p:cNvPr id="33" name="Shape 31"/>
          <p:cNvSpPr/>
          <p:nvPr/>
        </p:nvSpPr>
        <p:spPr>
          <a:xfrm>
            <a:off x="6004464" y="5420754"/>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34" name="Shape 32"/>
          <p:cNvSpPr/>
          <p:nvPr/>
        </p:nvSpPr>
        <p:spPr>
          <a:xfrm>
            <a:off x="1750849" y="5875253"/>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C10007"/>
          </a:solidFill>
          <a:ln/>
        </p:spPr>
      </p:sp>
      <p:sp>
        <p:nvSpPr>
          <p:cNvPr id="35" name="Shape 33"/>
          <p:cNvSpPr/>
          <p:nvPr/>
        </p:nvSpPr>
        <p:spPr>
          <a:xfrm>
            <a:off x="1997066" y="6045058"/>
            <a:ext cx="50942" cy="203766"/>
          </a:xfrm>
          <a:custGeom>
            <a:avLst/>
            <a:gdLst/>
            <a:ahLst/>
            <a:cxnLst/>
            <a:rect l="l" t="t" r="r" b="b"/>
            <a:pathLst>
              <a:path w="50942" h="203766">
                <a:moveTo>
                  <a:pt x="38206" y="12735"/>
                </a:moveTo>
                <a:cubicBezTo>
                  <a:pt x="38206" y="5691"/>
                  <a:pt x="32515" y="0"/>
                  <a:pt x="25471" y="0"/>
                </a:cubicBezTo>
                <a:cubicBezTo>
                  <a:pt x="18426" y="0"/>
                  <a:pt x="12735" y="5691"/>
                  <a:pt x="12735" y="12735"/>
                </a:cubicBezTo>
                <a:lnTo>
                  <a:pt x="12735" y="140089"/>
                </a:lnTo>
                <a:cubicBezTo>
                  <a:pt x="12735" y="147133"/>
                  <a:pt x="18426" y="152825"/>
                  <a:pt x="25471" y="152825"/>
                </a:cubicBezTo>
                <a:cubicBezTo>
                  <a:pt x="32515" y="152825"/>
                  <a:pt x="38206" y="147133"/>
                  <a:pt x="38206" y="140089"/>
                </a:cubicBezTo>
                <a:lnTo>
                  <a:pt x="38206" y="12735"/>
                </a:lnTo>
                <a:close/>
                <a:moveTo>
                  <a:pt x="25471" y="203766"/>
                </a:moveTo>
                <a:cubicBezTo>
                  <a:pt x="34266" y="203766"/>
                  <a:pt x="41390" y="196642"/>
                  <a:pt x="41390" y="187847"/>
                </a:cubicBezTo>
                <a:cubicBezTo>
                  <a:pt x="41390" y="179051"/>
                  <a:pt x="34266" y="171928"/>
                  <a:pt x="25471" y="171928"/>
                </a:cubicBezTo>
                <a:cubicBezTo>
                  <a:pt x="16675" y="171928"/>
                  <a:pt x="9552" y="179051"/>
                  <a:pt x="9552" y="187847"/>
                </a:cubicBezTo>
                <a:cubicBezTo>
                  <a:pt x="9552" y="196642"/>
                  <a:pt x="16675" y="203766"/>
                  <a:pt x="25471" y="203766"/>
                </a:cubicBezTo>
                <a:close/>
              </a:path>
            </a:pathLst>
          </a:custGeom>
          <a:solidFill>
            <a:srgbClr val="FFFFFF"/>
          </a:solidFill>
          <a:ln/>
        </p:spPr>
      </p:sp>
      <p:sp>
        <p:nvSpPr>
          <p:cNvPr id="36" name="Shape 34"/>
          <p:cNvSpPr/>
          <p:nvPr/>
        </p:nvSpPr>
        <p:spPr>
          <a:xfrm>
            <a:off x="2426354" y="5747359"/>
            <a:ext cx="8014797" cy="984869"/>
          </a:xfrm>
          <a:custGeom>
            <a:avLst/>
            <a:gdLst/>
            <a:ahLst/>
            <a:cxnLst/>
            <a:rect l="l" t="t" r="r" b="b"/>
            <a:pathLst>
              <a:path w="8014797" h="984869">
                <a:moveTo>
                  <a:pt x="67926" y="0"/>
                </a:moveTo>
                <a:lnTo>
                  <a:pt x="7946870" y="0"/>
                </a:lnTo>
                <a:cubicBezTo>
                  <a:pt x="7984385" y="0"/>
                  <a:pt x="8014797" y="30412"/>
                  <a:pt x="8014797" y="67926"/>
                </a:cubicBezTo>
                <a:lnTo>
                  <a:pt x="8014797" y="916943"/>
                </a:lnTo>
                <a:cubicBezTo>
                  <a:pt x="8014797" y="954457"/>
                  <a:pt x="7984385" y="984869"/>
                  <a:pt x="7946870" y="984869"/>
                </a:cubicBezTo>
                <a:lnTo>
                  <a:pt x="67926" y="984869"/>
                </a:lnTo>
                <a:cubicBezTo>
                  <a:pt x="30437" y="984869"/>
                  <a:pt x="0" y="954432"/>
                  <a:pt x="0" y="916943"/>
                </a:cubicBezTo>
                <a:lnTo>
                  <a:pt x="0" y="67926"/>
                </a:lnTo>
                <a:cubicBezTo>
                  <a:pt x="0" y="30437"/>
                  <a:pt x="30437" y="0"/>
                  <a:pt x="67926" y="0"/>
                </a:cubicBezTo>
                <a:close/>
              </a:path>
            </a:pathLst>
          </a:custGeom>
          <a:solidFill>
            <a:srgbClr val="C10007"/>
          </a:solidFill>
          <a:ln/>
          <a:effectLst>
            <a:outerShdw blurRad="127354" dist="84903" dir="5400000" algn="bl" rotWithShape="0">
              <a:srgbClr val="000000">
                <a:alpha val="10196"/>
              </a:srgbClr>
            </a:outerShdw>
          </a:effectLst>
        </p:spPr>
      </p:sp>
      <p:sp>
        <p:nvSpPr>
          <p:cNvPr id="37" name="Text 35"/>
          <p:cNvSpPr/>
          <p:nvPr/>
        </p:nvSpPr>
        <p:spPr>
          <a:xfrm>
            <a:off x="2578648" y="5944917"/>
            <a:ext cx="7819521" cy="237727"/>
          </a:xfrm>
          <a:prstGeom prst="rect">
            <a:avLst/>
          </a:prstGeom>
          <a:noFill/>
          <a:ln/>
        </p:spPr>
        <p:txBody>
          <a:bodyPr wrap="square" lIns="0" tIns="0" rIns="0" bIns="0" rtlCol="0" anchor="ctr"/>
          <a:lstStyle/>
          <a:p>
            <a:pPr>
              <a:lnSpc>
                <a:spcPct val="130000"/>
              </a:lnSpc>
            </a:pPr>
            <a:r>
              <a:rPr lang="en-US" sz="1203" b="1" dirty="0">
                <a:solidFill>
                  <a:srgbClr val="FFFFFF"/>
                </a:solidFill>
                <a:latin typeface="Liter" pitchFamily="34" charset="0"/>
                <a:ea typeface="Liter" pitchFamily="34" charset="-122"/>
                <a:cs typeface="Liter" pitchFamily="34" charset="-120"/>
              </a:rPr>
              <a:t>ROOT CAUSE</a:t>
            </a:r>
            <a:endParaRPr lang="en-US" sz="1600" dirty="0"/>
          </a:p>
        </p:txBody>
      </p:sp>
      <p:sp>
        <p:nvSpPr>
          <p:cNvPr id="38" name="Text 36"/>
          <p:cNvSpPr/>
          <p:nvPr/>
        </p:nvSpPr>
        <p:spPr>
          <a:xfrm>
            <a:off x="2599874" y="6229721"/>
            <a:ext cx="7811031" cy="407532"/>
          </a:xfrm>
          <a:prstGeom prst="rect">
            <a:avLst/>
          </a:prstGeom>
          <a:noFill/>
          <a:ln/>
        </p:spPr>
        <p:txBody>
          <a:bodyPr wrap="square" lIns="0" tIns="0" rIns="0" bIns="0" rtlCol="0" anchor="ctr"/>
          <a:lstStyle/>
          <a:p>
            <a:pPr>
              <a:lnSpc>
                <a:spcPct val="130000"/>
              </a:lnSpc>
            </a:pPr>
            <a:r>
              <a:rPr lang="en-US" sz="1070" b="1" dirty="0">
                <a:solidFill>
                  <a:srgbClr val="FFFFFF"/>
                </a:solidFill>
                <a:latin typeface="Liter" pitchFamily="34" charset="0"/>
                <a:ea typeface="Liter" pitchFamily="34" charset="-122"/>
                <a:cs typeface="Liter" pitchFamily="34" charset="-120"/>
              </a:rPr>
              <a:t>Poor growth prospects</a:t>
            </a:r>
            <a:r>
              <a:rPr lang="en-US" sz="1070" dirty="0">
                <a:solidFill>
                  <a:srgbClr val="FFFFFF"/>
                </a:solidFill>
                <a:latin typeface="Liter" pitchFamily="34" charset="0"/>
                <a:ea typeface="Liter" pitchFamily="34" charset="-122"/>
                <a:cs typeface="Liter" pitchFamily="34" charset="-120"/>
              </a:rPr>
              <a:t> and </a:t>
            </a:r>
            <a:r>
              <a:rPr lang="en-US" sz="1070" b="1" dirty="0">
                <a:solidFill>
                  <a:srgbClr val="FFFFFF"/>
                </a:solidFill>
                <a:latin typeface="Liter" pitchFamily="34" charset="0"/>
                <a:ea typeface="Liter" pitchFamily="34" charset="-122"/>
                <a:cs typeface="Liter" pitchFamily="34" charset="-120"/>
              </a:rPr>
              <a:t>delayed promotions</a:t>
            </a:r>
            <a:r>
              <a:rPr lang="en-US" sz="1070" dirty="0">
                <a:solidFill>
                  <a:srgbClr val="FFFFFF"/>
                </a:solidFill>
                <a:latin typeface="Liter" pitchFamily="34" charset="0"/>
                <a:ea typeface="Liter" pitchFamily="34" charset="-122"/>
                <a:cs typeface="Liter" pitchFamily="34" charset="-120"/>
              </a:rPr>
              <a:t> compared to competitors create employee dissatisfaction leading to voluntary attrition</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339610" y="339610"/>
            <a:ext cx="11580702" cy="203766"/>
          </a:xfrm>
          <a:prstGeom prst="rect">
            <a:avLst/>
          </a:prstGeom>
          <a:noFill/>
          <a:ln/>
        </p:spPr>
        <p:txBody>
          <a:bodyPr wrap="square" lIns="0" tIns="0" rIns="0" bIns="0" rtlCol="0" anchor="ctr"/>
          <a:lstStyle/>
          <a:p>
            <a:pPr>
              <a:lnSpc>
                <a:spcPct val="130000"/>
              </a:lnSpc>
            </a:pPr>
            <a:r>
              <a:rPr lang="en-US" sz="1070" b="1" kern="0" spc="107" dirty="0">
                <a:solidFill>
                  <a:srgbClr val="C5A56A"/>
                </a:solidFill>
                <a:latin typeface="Liter" pitchFamily="34" charset="0"/>
                <a:ea typeface="Liter" pitchFamily="34" charset="-122"/>
                <a:cs typeface="Liter" pitchFamily="34" charset="-120"/>
              </a:rPr>
              <a:t>Root Cause Analysis</a:t>
            </a:r>
            <a:endParaRPr lang="en-US" sz="1600" dirty="0"/>
          </a:p>
        </p:txBody>
      </p:sp>
      <p:sp>
        <p:nvSpPr>
          <p:cNvPr id="3" name="Text 1"/>
          <p:cNvSpPr/>
          <p:nvPr/>
        </p:nvSpPr>
        <p:spPr>
          <a:xfrm>
            <a:off x="339610" y="611298"/>
            <a:ext cx="10215072" cy="288668"/>
          </a:xfrm>
          <a:prstGeom prst="rect">
            <a:avLst/>
          </a:prstGeom>
          <a:noFill/>
          <a:ln/>
        </p:spPr>
        <p:txBody>
          <a:bodyPr wrap="square" lIns="0" tIns="0" rIns="0" bIns="0" rtlCol="0" anchor="ctr"/>
          <a:lstStyle/>
          <a:p>
            <a:pPr>
              <a:lnSpc>
                <a:spcPct val="80000"/>
              </a:lnSpc>
            </a:pPr>
            <a:r>
              <a:rPr lang="en-US" sz="3209" b="1" dirty="0">
                <a:solidFill>
                  <a:srgbClr val="1A3A52"/>
                </a:solidFill>
                <a:latin typeface="Liter" pitchFamily="34" charset="0"/>
                <a:ea typeface="Liter" pitchFamily="34" charset="-122"/>
                <a:cs typeface="Liter" pitchFamily="34" charset="-120"/>
              </a:rPr>
              <a:t>Why-Why Analysis – Terminations</a:t>
            </a:r>
            <a:endParaRPr lang="en-US" sz="1600" dirty="0"/>
          </a:p>
        </p:txBody>
      </p:sp>
      <p:sp>
        <p:nvSpPr>
          <p:cNvPr id="4" name="Text 2"/>
          <p:cNvSpPr/>
          <p:nvPr/>
        </p:nvSpPr>
        <p:spPr>
          <a:xfrm>
            <a:off x="6496712" y="214605"/>
            <a:ext cx="5440579" cy="1007992"/>
          </a:xfrm>
          <a:prstGeom prst="rect">
            <a:avLst/>
          </a:prstGeom>
          <a:noFill/>
          <a:ln/>
        </p:spPr>
        <p:txBody>
          <a:bodyPr wrap="square" lIns="0" tIns="0" rIns="0" bIns="0" rtlCol="0" anchor="ctr"/>
          <a:lstStyle/>
          <a:p>
            <a:pPr>
              <a:lnSpc>
                <a:spcPct val="120000"/>
              </a:lnSpc>
            </a:pPr>
            <a:r>
              <a:rPr lang="en-US" sz="1337" dirty="0">
                <a:solidFill>
                  <a:srgbClr val="5E7A91"/>
                </a:solidFill>
                <a:latin typeface="Liter" pitchFamily="34" charset="0"/>
                <a:ea typeface="Liter" pitchFamily="34" charset="-122"/>
                <a:cs typeface="Liter" pitchFamily="34" charset="-120"/>
              </a:rPr>
              <a:t>5-Why Chain for Involuntary Attrition</a:t>
            </a:r>
            <a:endParaRPr lang="en-US" sz="1600" dirty="0"/>
          </a:p>
        </p:txBody>
      </p:sp>
      <p:sp>
        <p:nvSpPr>
          <p:cNvPr id="5" name="Shape 3"/>
          <p:cNvSpPr/>
          <p:nvPr/>
        </p:nvSpPr>
        <p:spPr>
          <a:xfrm>
            <a:off x="6496712" y="838568"/>
            <a:ext cx="815064" cy="33961"/>
          </a:xfrm>
          <a:custGeom>
            <a:avLst/>
            <a:gdLst/>
            <a:ahLst/>
            <a:cxnLst/>
            <a:rect l="l" t="t" r="r" b="b"/>
            <a:pathLst>
              <a:path w="815064" h="33961">
                <a:moveTo>
                  <a:pt x="0" y="0"/>
                </a:moveTo>
                <a:lnTo>
                  <a:pt x="815064" y="0"/>
                </a:lnTo>
                <a:lnTo>
                  <a:pt x="815064" y="33961"/>
                </a:lnTo>
                <a:lnTo>
                  <a:pt x="0" y="33961"/>
                </a:lnTo>
                <a:lnTo>
                  <a:pt x="0" y="0"/>
                </a:lnTo>
                <a:close/>
              </a:path>
            </a:pathLst>
          </a:custGeom>
          <a:solidFill>
            <a:srgbClr val="C5A56A"/>
          </a:solidFill>
          <a:ln/>
        </p:spPr>
      </p:sp>
      <p:sp>
        <p:nvSpPr>
          <p:cNvPr id="6" name="Shape 4"/>
          <p:cNvSpPr/>
          <p:nvPr/>
        </p:nvSpPr>
        <p:spPr>
          <a:xfrm>
            <a:off x="1764030" y="993360"/>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1A3A52"/>
          </a:solidFill>
          <a:ln/>
        </p:spPr>
      </p:sp>
      <p:sp>
        <p:nvSpPr>
          <p:cNvPr id="7" name="Text 5"/>
          <p:cNvSpPr/>
          <p:nvPr/>
        </p:nvSpPr>
        <p:spPr>
          <a:xfrm>
            <a:off x="1981766" y="1110741"/>
            <a:ext cx="186786" cy="271688"/>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1</a:t>
            </a:r>
            <a:endParaRPr lang="en-US" sz="1600" dirty="0"/>
          </a:p>
        </p:txBody>
      </p:sp>
      <p:sp>
        <p:nvSpPr>
          <p:cNvPr id="8" name="Shape 6"/>
          <p:cNvSpPr/>
          <p:nvPr/>
        </p:nvSpPr>
        <p:spPr>
          <a:xfrm>
            <a:off x="2464029" y="961365"/>
            <a:ext cx="7997816" cy="781103"/>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sp>
      <p:sp>
        <p:nvSpPr>
          <p:cNvPr id="9" name="Shape 7"/>
          <p:cNvSpPr/>
          <p:nvPr/>
        </p:nvSpPr>
        <p:spPr>
          <a:xfrm>
            <a:off x="2447049" y="916947"/>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1A3A52"/>
          </a:solidFill>
          <a:ln/>
        </p:spPr>
      </p:sp>
      <p:sp>
        <p:nvSpPr>
          <p:cNvPr id="10" name="Text 8"/>
          <p:cNvSpPr/>
          <p:nvPr/>
        </p:nvSpPr>
        <p:spPr>
          <a:xfrm>
            <a:off x="2599874" y="1052791"/>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were employees terminated?</a:t>
            </a:r>
            <a:endParaRPr lang="en-US" sz="1600" dirty="0"/>
          </a:p>
        </p:txBody>
      </p:sp>
      <p:sp>
        <p:nvSpPr>
          <p:cNvPr id="11" name="Text 9"/>
          <p:cNvSpPr/>
          <p:nvPr/>
        </p:nvSpPr>
        <p:spPr>
          <a:xfrm>
            <a:off x="2599874" y="1358440"/>
            <a:ext cx="7777070" cy="203766"/>
          </a:xfrm>
          <a:prstGeom prst="rect">
            <a:avLst/>
          </a:prstGeom>
          <a:noFill/>
          <a:ln/>
        </p:spPr>
        <p:txBody>
          <a:bodyPr wrap="square" lIns="0" tIns="0" rIns="0" bIns="0" rtlCol="0" anchor="ctr"/>
          <a:lstStyle/>
          <a:p>
            <a:pPr>
              <a:lnSpc>
                <a:spcPct val="130000"/>
              </a:lnSpc>
            </a:pPr>
            <a:r>
              <a:rPr lang="en-US" sz="1070" b="1" dirty="0">
                <a:solidFill>
                  <a:srgbClr val="212529"/>
                </a:solidFill>
                <a:latin typeface="Liter" pitchFamily="34" charset="0"/>
                <a:ea typeface="Liter" pitchFamily="34" charset="-122"/>
                <a:cs typeface="Liter" pitchFamily="34" charset="-120"/>
              </a:rPr>
              <a:t>Integrity violations</a:t>
            </a:r>
            <a:r>
              <a:rPr lang="en-US" sz="1070" dirty="0">
                <a:solidFill>
                  <a:srgbClr val="212529"/>
                </a:solidFill>
                <a:latin typeface="Liter" pitchFamily="34" charset="0"/>
                <a:ea typeface="Liter" pitchFamily="34" charset="-122"/>
                <a:cs typeface="Liter" pitchFamily="34" charset="-120"/>
              </a:rPr>
              <a:t> and </a:t>
            </a:r>
            <a:r>
              <a:rPr lang="en-US" sz="1070" b="1" dirty="0">
                <a:solidFill>
                  <a:srgbClr val="212529"/>
                </a:solidFill>
                <a:latin typeface="Liter" pitchFamily="34" charset="0"/>
                <a:ea typeface="Liter" pitchFamily="34" charset="-122"/>
                <a:cs typeface="Liter" pitchFamily="34" charset="-120"/>
              </a:rPr>
              <a:t>non-performance</a:t>
            </a:r>
            <a:endParaRPr lang="en-US" sz="1600" dirty="0"/>
          </a:p>
        </p:txBody>
      </p:sp>
      <p:sp>
        <p:nvSpPr>
          <p:cNvPr id="12" name="Shape 10"/>
          <p:cNvSpPr/>
          <p:nvPr/>
        </p:nvSpPr>
        <p:spPr>
          <a:xfrm>
            <a:off x="6004464" y="1799933"/>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13" name="Shape 11"/>
          <p:cNvSpPr/>
          <p:nvPr/>
        </p:nvSpPr>
        <p:spPr>
          <a:xfrm>
            <a:off x="1750849" y="2156524"/>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5E7A91"/>
          </a:solidFill>
          <a:ln/>
        </p:spPr>
      </p:sp>
      <p:sp>
        <p:nvSpPr>
          <p:cNvPr id="14" name="Text 12"/>
          <p:cNvSpPr/>
          <p:nvPr/>
        </p:nvSpPr>
        <p:spPr>
          <a:xfrm>
            <a:off x="1963282" y="2292368"/>
            <a:ext cx="220747" cy="271688"/>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2</a:t>
            </a:r>
            <a:endParaRPr lang="en-US" sz="1600" dirty="0"/>
          </a:p>
        </p:txBody>
      </p:sp>
      <p:sp>
        <p:nvSpPr>
          <p:cNvPr id="15" name="Shape 13"/>
          <p:cNvSpPr/>
          <p:nvPr/>
        </p:nvSpPr>
        <p:spPr>
          <a:xfrm>
            <a:off x="2447049" y="2156524"/>
            <a:ext cx="7997816" cy="781103"/>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sp>
      <p:sp>
        <p:nvSpPr>
          <p:cNvPr id="16" name="Shape 14"/>
          <p:cNvSpPr/>
          <p:nvPr/>
        </p:nvSpPr>
        <p:spPr>
          <a:xfrm>
            <a:off x="2447049" y="2156524"/>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5E7A91"/>
          </a:solidFill>
          <a:ln/>
        </p:spPr>
      </p:sp>
      <p:sp>
        <p:nvSpPr>
          <p:cNvPr id="17" name="Text 15"/>
          <p:cNvSpPr/>
          <p:nvPr/>
        </p:nvSpPr>
        <p:spPr>
          <a:xfrm>
            <a:off x="2599874" y="2292368"/>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integrity violations?</a:t>
            </a:r>
            <a:endParaRPr lang="en-US" sz="1600" dirty="0"/>
          </a:p>
        </p:txBody>
      </p:sp>
      <p:sp>
        <p:nvSpPr>
          <p:cNvPr id="18" name="Text 16"/>
          <p:cNvSpPr/>
          <p:nvPr/>
        </p:nvSpPr>
        <p:spPr>
          <a:xfrm>
            <a:off x="2599874" y="2598017"/>
            <a:ext cx="7777070" cy="203766"/>
          </a:xfrm>
          <a:prstGeom prst="rect">
            <a:avLst/>
          </a:prstGeom>
          <a:noFill/>
          <a:ln/>
        </p:spPr>
        <p:txBody>
          <a:bodyPr wrap="square" lIns="0" tIns="0" rIns="0" bIns="0" rtlCol="0" anchor="ctr"/>
          <a:lstStyle/>
          <a:p>
            <a:pPr>
              <a:lnSpc>
                <a:spcPct val="130000"/>
              </a:lnSpc>
            </a:pPr>
            <a:r>
              <a:rPr lang="en-US" sz="1070" b="1" dirty="0">
                <a:solidFill>
                  <a:srgbClr val="212529"/>
                </a:solidFill>
                <a:latin typeface="Liter" pitchFamily="34" charset="0"/>
                <a:ea typeface="Liter" pitchFamily="34" charset="-122"/>
                <a:cs typeface="Liter" pitchFamily="34" charset="-120"/>
              </a:rPr>
              <a:t>Misuse of infrastructure</a:t>
            </a:r>
            <a:r>
              <a:rPr lang="en-US" sz="1070" dirty="0">
                <a:solidFill>
                  <a:srgbClr val="212529"/>
                </a:solidFill>
                <a:latin typeface="Liter" pitchFamily="34" charset="0"/>
                <a:ea typeface="Liter" pitchFamily="34" charset="-122"/>
                <a:cs typeface="Liter" pitchFamily="34" charset="-120"/>
              </a:rPr>
              <a:t> (restricted sites, fake bills, stealing, etc.)</a:t>
            </a:r>
            <a:endParaRPr lang="en-US" sz="1600" dirty="0"/>
          </a:p>
        </p:txBody>
      </p:sp>
      <p:sp>
        <p:nvSpPr>
          <p:cNvPr id="19" name="Shape 17"/>
          <p:cNvSpPr/>
          <p:nvPr/>
        </p:nvSpPr>
        <p:spPr>
          <a:xfrm>
            <a:off x="6004464" y="3039510"/>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20" name="Shape 18"/>
          <p:cNvSpPr/>
          <p:nvPr/>
        </p:nvSpPr>
        <p:spPr>
          <a:xfrm>
            <a:off x="1750849" y="3396100"/>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C5A56A"/>
          </a:solidFill>
          <a:ln/>
        </p:spPr>
      </p:sp>
      <p:sp>
        <p:nvSpPr>
          <p:cNvPr id="21" name="Text 19"/>
          <p:cNvSpPr/>
          <p:nvPr/>
        </p:nvSpPr>
        <p:spPr>
          <a:xfrm>
            <a:off x="1962398" y="3531944"/>
            <a:ext cx="220747" cy="271688"/>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3</a:t>
            </a:r>
            <a:endParaRPr lang="en-US" sz="1600" dirty="0"/>
          </a:p>
        </p:txBody>
      </p:sp>
      <p:sp>
        <p:nvSpPr>
          <p:cNvPr id="22" name="Shape 20"/>
          <p:cNvSpPr/>
          <p:nvPr/>
        </p:nvSpPr>
        <p:spPr>
          <a:xfrm>
            <a:off x="2447049" y="3396100"/>
            <a:ext cx="7997816" cy="781103"/>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sp>
      <p:sp>
        <p:nvSpPr>
          <p:cNvPr id="23" name="Shape 21"/>
          <p:cNvSpPr/>
          <p:nvPr/>
        </p:nvSpPr>
        <p:spPr>
          <a:xfrm>
            <a:off x="2447049" y="3396100"/>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C5A56A"/>
          </a:solidFill>
          <a:ln/>
        </p:spPr>
      </p:sp>
      <p:sp>
        <p:nvSpPr>
          <p:cNvPr id="24" name="Text 22"/>
          <p:cNvSpPr/>
          <p:nvPr/>
        </p:nvSpPr>
        <p:spPr>
          <a:xfrm>
            <a:off x="2599874" y="3531944"/>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misuse occurs?</a:t>
            </a:r>
            <a:endParaRPr lang="en-US" sz="1600" dirty="0"/>
          </a:p>
        </p:txBody>
      </p:sp>
      <p:sp>
        <p:nvSpPr>
          <p:cNvPr id="25" name="Text 23"/>
          <p:cNvSpPr/>
          <p:nvPr/>
        </p:nvSpPr>
        <p:spPr>
          <a:xfrm>
            <a:off x="2599874" y="3837593"/>
            <a:ext cx="7777070" cy="203766"/>
          </a:xfrm>
          <a:prstGeom prst="rect">
            <a:avLst/>
          </a:prstGeom>
          <a:noFill/>
          <a:ln/>
        </p:spPr>
        <p:txBody>
          <a:bodyPr wrap="square" lIns="0" tIns="0" rIns="0" bIns="0" rtlCol="0" anchor="ctr"/>
          <a:lstStyle/>
          <a:p>
            <a:pPr>
              <a:lnSpc>
                <a:spcPct val="130000"/>
              </a:lnSpc>
            </a:pPr>
            <a:r>
              <a:rPr lang="en-US" sz="1070" b="1" dirty="0">
                <a:solidFill>
                  <a:srgbClr val="212529"/>
                </a:solidFill>
                <a:latin typeface="Liter" pitchFamily="34" charset="0"/>
                <a:ea typeface="Liter" pitchFamily="34" charset="-122"/>
                <a:cs typeface="Liter" pitchFamily="34" charset="-120"/>
              </a:rPr>
              <a:t>Lack of monitoring</a:t>
            </a:r>
            <a:r>
              <a:rPr lang="en-US" sz="1070" dirty="0">
                <a:solidFill>
                  <a:srgbClr val="212529"/>
                </a:solidFill>
                <a:latin typeface="Liter" pitchFamily="34" charset="0"/>
                <a:ea typeface="Liter" pitchFamily="34" charset="-122"/>
                <a:cs typeface="Liter" pitchFamily="34" charset="-120"/>
              </a:rPr>
              <a:t> and </a:t>
            </a:r>
            <a:r>
              <a:rPr lang="en-US" sz="1070" b="1" dirty="0">
                <a:solidFill>
                  <a:srgbClr val="212529"/>
                </a:solidFill>
                <a:latin typeface="Liter" pitchFamily="34" charset="0"/>
                <a:ea typeface="Liter" pitchFamily="34" charset="-122"/>
                <a:cs typeface="Liter" pitchFamily="34" charset="-120"/>
              </a:rPr>
              <a:t>weak enforcement</a:t>
            </a:r>
            <a:r>
              <a:rPr lang="en-US" sz="1070" dirty="0">
                <a:solidFill>
                  <a:srgbClr val="212529"/>
                </a:solidFill>
                <a:latin typeface="Liter" pitchFamily="34" charset="0"/>
                <a:ea typeface="Liter" pitchFamily="34" charset="-122"/>
                <a:cs typeface="Liter" pitchFamily="34" charset="-120"/>
              </a:rPr>
              <a:t> of policies</a:t>
            </a:r>
            <a:endParaRPr lang="en-US" sz="1600" dirty="0"/>
          </a:p>
        </p:txBody>
      </p:sp>
      <p:sp>
        <p:nvSpPr>
          <p:cNvPr id="26" name="Shape 24"/>
          <p:cNvSpPr/>
          <p:nvPr/>
        </p:nvSpPr>
        <p:spPr>
          <a:xfrm>
            <a:off x="6004464" y="4279086"/>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27" name="Shape 25"/>
          <p:cNvSpPr/>
          <p:nvPr/>
        </p:nvSpPr>
        <p:spPr>
          <a:xfrm>
            <a:off x="1750849" y="4635677"/>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E7000B"/>
          </a:solidFill>
          <a:ln/>
        </p:spPr>
      </p:sp>
      <p:sp>
        <p:nvSpPr>
          <p:cNvPr id="28" name="Text 26"/>
          <p:cNvSpPr/>
          <p:nvPr/>
        </p:nvSpPr>
        <p:spPr>
          <a:xfrm>
            <a:off x="1962486" y="4771521"/>
            <a:ext cx="220747" cy="271688"/>
          </a:xfrm>
          <a:prstGeom prst="rect">
            <a:avLst/>
          </a:prstGeom>
          <a:noFill/>
          <a:ln/>
        </p:spPr>
        <p:txBody>
          <a:bodyPr wrap="square" lIns="0" tIns="0" rIns="0" bIns="0" rtlCol="0" anchor="ctr"/>
          <a:lstStyle/>
          <a:p>
            <a:pPr>
              <a:lnSpc>
                <a:spcPct val="110000"/>
              </a:lnSpc>
            </a:pPr>
            <a:r>
              <a:rPr lang="en-US" sz="1604" b="1" dirty="0">
                <a:solidFill>
                  <a:srgbClr val="FFFFFF"/>
                </a:solidFill>
                <a:latin typeface="Liter" pitchFamily="34" charset="0"/>
                <a:ea typeface="Liter" pitchFamily="34" charset="-122"/>
                <a:cs typeface="Liter" pitchFamily="34" charset="-120"/>
              </a:rPr>
              <a:t>4</a:t>
            </a:r>
            <a:endParaRPr lang="en-US" sz="1600" dirty="0"/>
          </a:p>
        </p:txBody>
      </p:sp>
      <p:sp>
        <p:nvSpPr>
          <p:cNvPr id="29" name="Shape 27"/>
          <p:cNvSpPr/>
          <p:nvPr/>
        </p:nvSpPr>
        <p:spPr>
          <a:xfrm>
            <a:off x="2447049" y="4635677"/>
            <a:ext cx="7997816" cy="781103"/>
          </a:xfrm>
          <a:custGeom>
            <a:avLst/>
            <a:gdLst/>
            <a:ahLst/>
            <a:cxnLst/>
            <a:rect l="l" t="t" r="r" b="b"/>
            <a:pathLst>
              <a:path w="7997816" h="781103">
                <a:moveTo>
                  <a:pt x="33961" y="0"/>
                </a:moveTo>
                <a:lnTo>
                  <a:pt x="7929891" y="0"/>
                </a:lnTo>
                <a:cubicBezTo>
                  <a:pt x="7967405" y="0"/>
                  <a:pt x="7997816" y="30411"/>
                  <a:pt x="7997816" y="67925"/>
                </a:cubicBezTo>
                <a:lnTo>
                  <a:pt x="7997816" y="713178"/>
                </a:lnTo>
                <a:cubicBezTo>
                  <a:pt x="7997816" y="750692"/>
                  <a:pt x="7967405" y="781103"/>
                  <a:pt x="7929891" y="781103"/>
                </a:cubicBezTo>
                <a:lnTo>
                  <a:pt x="33961" y="781103"/>
                </a:lnTo>
                <a:cubicBezTo>
                  <a:pt x="15205" y="781103"/>
                  <a:pt x="0" y="765898"/>
                  <a:pt x="0" y="747142"/>
                </a:cubicBezTo>
                <a:lnTo>
                  <a:pt x="0" y="33961"/>
                </a:lnTo>
                <a:cubicBezTo>
                  <a:pt x="0" y="15205"/>
                  <a:pt x="15205" y="0"/>
                  <a:pt x="33961" y="0"/>
                </a:cubicBezTo>
                <a:close/>
              </a:path>
            </a:pathLst>
          </a:custGeom>
          <a:solidFill>
            <a:srgbClr val="FFFFFF"/>
          </a:solidFill>
          <a:ln/>
          <a:effectLst>
            <a:outerShdw blurRad="127354" dist="84903" dir="5400000" algn="bl" rotWithShape="0">
              <a:srgbClr val="000000">
                <a:alpha val="10196"/>
              </a:srgbClr>
            </a:outerShdw>
          </a:effectLst>
        </p:spPr>
      </p:sp>
      <p:sp>
        <p:nvSpPr>
          <p:cNvPr id="30" name="Shape 28"/>
          <p:cNvSpPr/>
          <p:nvPr/>
        </p:nvSpPr>
        <p:spPr>
          <a:xfrm>
            <a:off x="2447049" y="4635677"/>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E7000B"/>
          </a:solidFill>
          <a:ln/>
        </p:spPr>
      </p:sp>
      <p:sp>
        <p:nvSpPr>
          <p:cNvPr id="31" name="Text 29"/>
          <p:cNvSpPr/>
          <p:nvPr/>
        </p:nvSpPr>
        <p:spPr>
          <a:xfrm>
            <a:off x="2599874" y="4771521"/>
            <a:ext cx="7785560" cy="237727"/>
          </a:xfrm>
          <a:prstGeom prst="rect">
            <a:avLst/>
          </a:prstGeom>
          <a:noFill/>
          <a:ln/>
        </p:spPr>
        <p:txBody>
          <a:bodyPr wrap="square" lIns="0" tIns="0" rIns="0" bIns="0" rtlCol="0" anchor="ctr"/>
          <a:lstStyle/>
          <a:p>
            <a:pPr>
              <a:lnSpc>
                <a:spcPct val="130000"/>
              </a:lnSpc>
            </a:pPr>
            <a:r>
              <a:rPr lang="en-US" sz="1203" b="1" dirty="0">
                <a:solidFill>
                  <a:srgbClr val="1A3A52"/>
                </a:solidFill>
                <a:latin typeface="Liter" pitchFamily="34" charset="0"/>
                <a:ea typeface="Liter" pitchFamily="34" charset="-122"/>
                <a:cs typeface="Liter" pitchFamily="34" charset="-120"/>
              </a:rPr>
              <a:t>Why weak enforcement?</a:t>
            </a:r>
            <a:endParaRPr lang="en-US" sz="1600" dirty="0"/>
          </a:p>
        </p:txBody>
      </p:sp>
      <p:sp>
        <p:nvSpPr>
          <p:cNvPr id="32" name="Text 30"/>
          <p:cNvSpPr/>
          <p:nvPr/>
        </p:nvSpPr>
        <p:spPr>
          <a:xfrm>
            <a:off x="2599874" y="5077170"/>
            <a:ext cx="7777070" cy="203766"/>
          </a:xfrm>
          <a:prstGeom prst="rect">
            <a:avLst/>
          </a:prstGeom>
          <a:noFill/>
          <a:ln/>
        </p:spPr>
        <p:txBody>
          <a:bodyPr wrap="square" lIns="0" tIns="0" rIns="0" bIns="0" rtlCol="0" anchor="ctr"/>
          <a:lstStyle/>
          <a:p>
            <a:pPr>
              <a:lnSpc>
                <a:spcPct val="130000"/>
              </a:lnSpc>
            </a:pPr>
            <a:r>
              <a:rPr lang="en-US" sz="1070" dirty="0">
                <a:solidFill>
                  <a:srgbClr val="212529"/>
                </a:solidFill>
                <a:latin typeface="Liter" pitchFamily="34" charset="0"/>
                <a:ea typeface="Liter" pitchFamily="34" charset="-122"/>
                <a:cs typeface="Liter" pitchFamily="34" charset="-120"/>
              </a:rPr>
              <a:t>HR and managers </a:t>
            </a:r>
            <a:r>
              <a:rPr lang="en-US" sz="1070" b="1" dirty="0">
                <a:solidFill>
                  <a:srgbClr val="212529"/>
                </a:solidFill>
                <a:latin typeface="Liter" pitchFamily="34" charset="0"/>
                <a:ea typeface="Liter" pitchFamily="34" charset="-122"/>
                <a:cs typeface="Liter" pitchFamily="34" charset="-120"/>
              </a:rPr>
              <a:t>not consistently auditing</a:t>
            </a:r>
            <a:r>
              <a:rPr lang="en-US" sz="1070" dirty="0">
                <a:solidFill>
                  <a:srgbClr val="212529"/>
                </a:solidFill>
                <a:latin typeface="Liter" pitchFamily="34" charset="0"/>
                <a:ea typeface="Liter" pitchFamily="34" charset="-122"/>
                <a:cs typeface="Liter" pitchFamily="34" charset="-120"/>
              </a:rPr>
              <a:t> employee behavior</a:t>
            </a:r>
            <a:endParaRPr lang="en-US" sz="1600" dirty="0"/>
          </a:p>
        </p:txBody>
      </p:sp>
      <p:sp>
        <p:nvSpPr>
          <p:cNvPr id="33" name="Shape 31"/>
          <p:cNvSpPr/>
          <p:nvPr/>
        </p:nvSpPr>
        <p:spPr>
          <a:xfrm>
            <a:off x="6004464" y="5518663"/>
            <a:ext cx="191031" cy="254708"/>
          </a:xfrm>
          <a:custGeom>
            <a:avLst/>
            <a:gdLst/>
            <a:ahLst/>
            <a:cxnLst/>
            <a:rect l="l" t="t" r="r" b="b"/>
            <a:pathLst>
              <a:path w="191031" h="254708">
                <a:moveTo>
                  <a:pt x="84272" y="250031"/>
                </a:moveTo>
                <a:cubicBezTo>
                  <a:pt x="90491" y="256250"/>
                  <a:pt x="100590" y="256250"/>
                  <a:pt x="106808" y="250031"/>
                </a:cubicBezTo>
                <a:lnTo>
                  <a:pt x="186404" y="170435"/>
                </a:lnTo>
                <a:cubicBezTo>
                  <a:pt x="192623" y="164217"/>
                  <a:pt x="192623" y="154118"/>
                  <a:pt x="186404" y="147900"/>
                </a:cubicBezTo>
                <a:cubicBezTo>
                  <a:pt x="180186" y="141681"/>
                  <a:pt x="170087" y="141681"/>
                  <a:pt x="163868" y="147900"/>
                </a:cubicBezTo>
                <a:lnTo>
                  <a:pt x="111435" y="200333"/>
                </a:lnTo>
                <a:lnTo>
                  <a:pt x="111435" y="15919"/>
                </a:lnTo>
                <a:cubicBezTo>
                  <a:pt x="111435" y="7114"/>
                  <a:pt x="104321" y="0"/>
                  <a:pt x="95515" y="0"/>
                </a:cubicBezTo>
                <a:cubicBezTo>
                  <a:pt x="86710" y="0"/>
                  <a:pt x="79596" y="7114"/>
                  <a:pt x="79596" y="15919"/>
                </a:cubicBezTo>
                <a:lnTo>
                  <a:pt x="79596" y="200333"/>
                </a:lnTo>
                <a:lnTo>
                  <a:pt x="27162" y="147900"/>
                </a:lnTo>
                <a:cubicBezTo>
                  <a:pt x="20944" y="141681"/>
                  <a:pt x="10845" y="141681"/>
                  <a:pt x="4627" y="147900"/>
                </a:cubicBezTo>
                <a:cubicBezTo>
                  <a:pt x="-1592" y="154118"/>
                  <a:pt x="-1592" y="164217"/>
                  <a:pt x="4627" y="170435"/>
                </a:cubicBezTo>
                <a:lnTo>
                  <a:pt x="84223" y="250031"/>
                </a:lnTo>
                <a:close/>
              </a:path>
            </a:pathLst>
          </a:custGeom>
          <a:solidFill>
            <a:srgbClr val="C5A56A"/>
          </a:solidFill>
          <a:ln/>
        </p:spPr>
      </p:sp>
      <p:sp>
        <p:nvSpPr>
          <p:cNvPr id="34" name="Shape 32"/>
          <p:cNvSpPr/>
          <p:nvPr/>
        </p:nvSpPr>
        <p:spPr>
          <a:xfrm>
            <a:off x="1750849" y="5875253"/>
            <a:ext cx="543376" cy="543376"/>
          </a:xfrm>
          <a:custGeom>
            <a:avLst/>
            <a:gdLst/>
            <a:ahLst/>
            <a:cxnLst/>
            <a:rect l="l" t="t" r="r" b="b"/>
            <a:pathLst>
              <a:path w="543376" h="543376">
                <a:moveTo>
                  <a:pt x="271688" y="0"/>
                </a:moveTo>
                <a:lnTo>
                  <a:pt x="271688" y="0"/>
                </a:lnTo>
                <a:cubicBezTo>
                  <a:pt x="421737" y="0"/>
                  <a:pt x="543376" y="121639"/>
                  <a:pt x="543376" y="271688"/>
                </a:cubicBezTo>
                <a:lnTo>
                  <a:pt x="543376" y="271688"/>
                </a:lnTo>
                <a:cubicBezTo>
                  <a:pt x="543376" y="421737"/>
                  <a:pt x="421737" y="543376"/>
                  <a:pt x="271688" y="543376"/>
                </a:cubicBezTo>
                <a:lnTo>
                  <a:pt x="271688" y="543376"/>
                </a:lnTo>
                <a:cubicBezTo>
                  <a:pt x="121639" y="543376"/>
                  <a:pt x="0" y="421737"/>
                  <a:pt x="0" y="271688"/>
                </a:cubicBezTo>
                <a:lnTo>
                  <a:pt x="0" y="271688"/>
                </a:lnTo>
                <a:cubicBezTo>
                  <a:pt x="0" y="121639"/>
                  <a:pt x="121639" y="0"/>
                  <a:pt x="271688" y="0"/>
                </a:cubicBezTo>
                <a:close/>
              </a:path>
            </a:pathLst>
          </a:custGeom>
          <a:solidFill>
            <a:srgbClr val="C10007"/>
          </a:solidFill>
          <a:ln/>
        </p:spPr>
      </p:sp>
      <p:sp>
        <p:nvSpPr>
          <p:cNvPr id="35" name="Shape 33"/>
          <p:cNvSpPr/>
          <p:nvPr/>
        </p:nvSpPr>
        <p:spPr>
          <a:xfrm>
            <a:off x="1997066" y="6045058"/>
            <a:ext cx="50942" cy="203766"/>
          </a:xfrm>
          <a:custGeom>
            <a:avLst/>
            <a:gdLst/>
            <a:ahLst/>
            <a:cxnLst/>
            <a:rect l="l" t="t" r="r" b="b"/>
            <a:pathLst>
              <a:path w="50942" h="203766">
                <a:moveTo>
                  <a:pt x="38206" y="12735"/>
                </a:moveTo>
                <a:cubicBezTo>
                  <a:pt x="38206" y="5691"/>
                  <a:pt x="32515" y="0"/>
                  <a:pt x="25471" y="0"/>
                </a:cubicBezTo>
                <a:cubicBezTo>
                  <a:pt x="18426" y="0"/>
                  <a:pt x="12735" y="5691"/>
                  <a:pt x="12735" y="12735"/>
                </a:cubicBezTo>
                <a:lnTo>
                  <a:pt x="12735" y="140089"/>
                </a:lnTo>
                <a:cubicBezTo>
                  <a:pt x="12735" y="147133"/>
                  <a:pt x="18426" y="152825"/>
                  <a:pt x="25471" y="152825"/>
                </a:cubicBezTo>
                <a:cubicBezTo>
                  <a:pt x="32515" y="152825"/>
                  <a:pt x="38206" y="147133"/>
                  <a:pt x="38206" y="140089"/>
                </a:cubicBezTo>
                <a:lnTo>
                  <a:pt x="38206" y="12735"/>
                </a:lnTo>
                <a:close/>
                <a:moveTo>
                  <a:pt x="25471" y="203766"/>
                </a:moveTo>
                <a:cubicBezTo>
                  <a:pt x="34266" y="203766"/>
                  <a:pt x="41390" y="196642"/>
                  <a:pt x="41390" y="187847"/>
                </a:cubicBezTo>
                <a:cubicBezTo>
                  <a:pt x="41390" y="179051"/>
                  <a:pt x="34266" y="171928"/>
                  <a:pt x="25471" y="171928"/>
                </a:cubicBezTo>
                <a:cubicBezTo>
                  <a:pt x="16675" y="171928"/>
                  <a:pt x="9552" y="179051"/>
                  <a:pt x="9552" y="187847"/>
                </a:cubicBezTo>
                <a:cubicBezTo>
                  <a:pt x="9552" y="196642"/>
                  <a:pt x="16675" y="203766"/>
                  <a:pt x="25471" y="203766"/>
                </a:cubicBezTo>
                <a:close/>
              </a:path>
            </a:pathLst>
          </a:custGeom>
          <a:solidFill>
            <a:srgbClr val="FFFFFF"/>
          </a:solidFill>
          <a:ln/>
        </p:spPr>
      </p:sp>
      <p:sp>
        <p:nvSpPr>
          <p:cNvPr id="36" name="Shape 34"/>
          <p:cNvSpPr/>
          <p:nvPr/>
        </p:nvSpPr>
        <p:spPr>
          <a:xfrm>
            <a:off x="2430069" y="5875254"/>
            <a:ext cx="8014797" cy="849026"/>
          </a:xfrm>
          <a:custGeom>
            <a:avLst/>
            <a:gdLst/>
            <a:ahLst/>
            <a:cxnLst/>
            <a:rect l="l" t="t" r="r" b="b"/>
            <a:pathLst>
              <a:path w="8014797" h="984869">
                <a:moveTo>
                  <a:pt x="67926" y="0"/>
                </a:moveTo>
                <a:lnTo>
                  <a:pt x="7946870" y="0"/>
                </a:lnTo>
                <a:cubicBezTo>
                  <a:pt x="7984385" y="0"/>
                  <a:pt x="8014797" y="30412"/>
                  <a:pt x="8014797" y="67926"/>
                </a:cubicBezTo>
                <a:lnTo>
                  <a:pt x="8014797" y="916943"/>
                </a:lnTo>
                <a:cubicBezTo>
                  <a:pt x="8014797" y="954457"/>
                  <a:pt x="7984385" y="984869"/>
                  <a:pt x="7946870" y="984869"/>
                </a:cubicBezTo>
                <a:lnTo>
                  <a:pt x="67926" y="984869"/>
                </a:lnTo>
                <a:cubicBezTo>
                  <a:pt x="30437" y="984869"/>
                  <a:pt x="0" y="954432"/>
                  <a:pt x="0" y="916943"/>
                </a:cubicBezTo>
                <a:lnTo>
                  <a:pt x="0" y="67926"/>
                </a:lnTo>
                <a:cubicBezTo>
                  <a:pt x="0" y="30437"/>
                  <a:pt x="30437" y="0"/>
                  <a:pt x="67926" y="0"/>
                </a:cubicBezTo>
                <a:close/>
              </a:path>
            </a:pathLst>
          </a:custGeom>
          <a:solidFill>
            <a:srgbClr val="C10007"/>
          </a:solidFill>
          <a:ln/>
          <a:effectLst>
            <a:outerShdw blurRad="127354" dist="84903" dir="5400000" algn="bl" rotWithShape="0">
              <a:srgbClr val="000000">
                <a:alpha val="10196"/>
              </a:srgbClr>
            </a:outerShdw>
          </a:effectLst>
        </p:spPr>
      </p:sp>
      <p:sp>
        <p:nvSpPr>
          <p:cNvPr id="37" name="Text 35"/>
          <p:cNvSpPr/>
          <p:nvPr/>
        </p:nvSpPr>
        <p:spPr>
          <a:xfrm>
            <a:off x="2557423" y="5951883"/>
            <a:ext cx="7819521" cy="237727"/>
          </a:xfrm>
          <a:prstGeom prst="rect">
            <a:avLst/>
          </a:prstGeom>
          <a:noFill/>
          <a:ln/>
        </p:spPr>
        <p:txBody>
          <a:bodyPr wrap="square" lIns="0" tIns="0" rIns="0" bIns="0" rtlCol="0" anchor="ctr"/>
          <a:lstStyle/>
          <a:p>
            <a:pPr>
              <a:lnSpc>
                <a:spcPct val="130000"/>
              </a:lnSpc>
            </a:pPr>
            <a:r>
              <a:rPr lang="en-US" sz="1203" b="1" dirty="0">
                <a:solidFill>
                  <a:srgbClr val="FFFFFF"/>
                </a:solidFill>
                <a:latin typeface="Liter" pitchFamily="34" charset="0"/>
                <a:ea typeface="Liter" pitchFamily="34" charset="-122"/>
                <a:cs typeface="Liter" pitchFamily="34" charset="-120"/>
              </a:rPr>
              <a:t>ROOT CAUSE</a:t>
            </a:r>
            <a:endParaRPr lang="en-US" sz="1600" dirty="0"/>
          </a:p>
        </p:txBody>
      </p:sp>
      <p:sp>
        <p:nvSpPr>
          <p:cNvPr id="38" name="Text 36"/>
          <p:cNvSpPr/>
          <p:nvPr/>
        </p:nvSpPr>
        <p:spPr>
          <a:xfrm>
            <a:off x="2565913" y="6241097"/>
            <a:ext cx="7811031" cy="407532"/>
          </a:xfrm>
          <a:prstGeom prst="rect">
            <a:avLst/>
          </a:prstGeom>
          <a:noFill/>
          <a:ln/>
        </p:spPr>
        <p:txBody>
          <a:bodyPr wrap="square" lIns="0" tIns="0" rIns="0" bIns="0" rtlCol="0" anchor="ctr"/>
          <a:lstStyle/>
          <a:p>
            <a:pPr>
              <a:lnSpc>
                <a:spcPct val="130000"/>
              </a:lnSpc>
            </a:pPr>
            <a:r>
              <a:rPr lang="en-US" sz="1070" b="1" dirty="0">
                <a:solidFill>
                  <a:srgbClr val="FFFFFF"/>
                </a:solidFill>
                <a:latin typeface="Liter" pitchFamily="34" charset="0"/>
                <a:ea typeface="Liter" pitchFamily="34" charset="-122"/>
                <a:cs typeface="Liter" pitchFamily="34" charset="-120"/>
              </a:rPr>
              <a:t>Weak governance and monitoring</a:t>
            </a:r>
            <a:r>
              <a:rPr lang="en-US" sz="1070" dirty="0">
                <a:solidFill>
                  <a:srgbClr val="FFFFFF"/>
                </a:solidFill>
                <a:latin typeface="Liter" pitchFamily="34" charset="0"/>
                <a:ea typeface="Liter" pitchFamily="34" charset="-122"/>
                <a:cs typeface="Liter" pitchFamily="34" charset="-120"/>
              </a:rPr>
              <a:t> of employee conduct allows integrity violations to go undetected until they become termination-worthy offenses</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345382" y="345382"/>
            <a:ext cx="11570312" cy="207229"/>
          </a:xfrm>
          <a:prstGeom prst="rect">
            <a:avLst/>
          </a:prstGeom>
          <a:noFill/>
          <a:ln/>
        </p:spPr>
        <p:txBody>
          <a:bodyPr wrap="square" lIns="0" tIns="0" rIns="0" bIns="0" rtlCol="0" anchor="ctr"/>
          <a:lstStyle/>
          <a:p>
            <a:pPr>
              <a:lnSpc>
                <a:spcPct val="130000"/>
              </a:lnSpc>
            </a:pPr>
            <a:r>
              <a:rPr lang="en-US" sz="1088" b="1" kern="0" spc="109" dirty="0">
                <a:solidFill>
                  <a:srgbClr val="C5A56A"/>
                </a:solidFill>
                <a:latin typeface="Liter" pitchFamily="34" charset="0"/>
                <a:ea typeface="Liter" pitchFamily="34" charset="-122"/>
                <a:cs typeface="Liter" pitchFamily="34" charset="-120"/>
              </a:rPr>
              <a:t>Comprehensive Analysis Summary</a:t>
            </a:r>
            <a:endParaRPr lang="en-US" sz="1600" dirty="0"/>
          </a:p>
        </p:txBody>
      </p:sp>
      <p:sp>
        <p:nvSpPr>
          <p:cNvPr id="3" name="Text 1"/>
          <p:cNvSpPr/>
          <p:nvPr/>
        </p:nvSpPr>
        <p:spPr>
          <a:xfrm>
            <a:off x="345382" y="621688"/>
            <a:ext cx="11708465" cy="414459"/>
          </a:xfrm>
          <a:prstGeom prst="rect">
            <a:avLst/>
          </a:prstGeom>
          <a:noFill/>
          <a:ln/>
        </p:spPr>
        <p:txBody>
          <a:bodyPr wrap="square" lIns="0" tIns="0" rIns="0" bIns="0" rtlCol="0" anchor="ctr"/>
          <a:lstStyle/>
          <a:p>
            <a:pPr>
              <a:lnSpc>
                <a:spcPct val="80000"/>
              </a:lnSpc>
            </a:pPr>
            <a:r>
              <a:rPr lang="en-US" sz="3263" b="1" dirty="0">
                <a:solidFill>
                  <a:srgbClr val="1A3A52"/>
                </a:solidFill>
                <a:latin typeface="Liter" pitchFamily="34" charset="0"/>
                <a:ea typeface="Liter" pitchFamily="34" charset="-122"/>
                <a:cs typeface="Liter" pitchFamily="34" charset="-120"/>
              </a:rPr>
              <a:t>Overall Summary of Cause Analysis</a:t>
            </a:r>
            <a:endParaRPr lang="en-US" sz="1600" dirty="0"/>
          </a:p>
        </p:txBody>
      </p:sp>
      <p:sp>
        <p:nvSpPr>
          <p:cNvPr id="4" name="Text 2"/>
          <p:cNvSpPr/>
          <p:nvPr/>
        </p:nvSpPr>
        <p:spPr>
          <a:xfrm>
            <a:off x="345382" y="1105224"/>
            <a:ext cx="11587581" cy="241768"/>
          </a:xfrm>
          <a:prstGeom prst="rect">
            <a:avLst/>
          </a:prstGeom>
          <a:noFill/>
          <a:ln/>
        </p:spPr>
        <p:txBody>
          <a:bodyPr wrap="square" lIns="0" tIns="0" rIns="0" bIns="0" rtlCol="0" anchor="ctr"/>
          <a:lstStyle/>
          <a:p>
            <a:pPr>
              <a:lnSpc>
                <a:spcPct val="120000"/>
              </a:lnSpc>
            </a:pPr>
            <a:r>
              <a:rPr lang="en-US" sz="1360" dirty="0">
                <a:solidFill>
                  <a:srgbClr val="5E7A91"/>
                </a:solidFill>
                <a:latin typeface="Liter" pitchFamily="34" charset="0"/>
                <a:ea typeface="Liter" pitchFamily="34" charset="-122"/>
                <a:cs typeface="Liter" pitchFamily="34" charset="-120"/>
              </a:rPr>
              <a:t>Six Sigma Tools &amp; Findings at Red Apple Technologies</a:t>
            </a:r>
            <a:endParaRPr lang="en-US" sz="1600" dirty="0"/>
          </a:p>
        </p:txBody>
      </p:sp>
      <p:sp>
        <p:nvSpPr>
          <p:cNvPr id="5" name="Shape 3"/>
          <p:cNvSpPr/>
          <p:nvPr/>
        </p:nvSpPr>
        <p:spPr>
          <a:xfrm>
            <a:off x="345382" y="1450606"/>
            <a:ext cx="828918" cy="34538"/>
          </a:xfrm>
          <a:custGeom>
            <a:avLst/>
            <a:gdLst/>
            <a:ahLst/>
            <a:cxnLst/>
            <a:rect l="l" t="t" r="r" b="b"/>
            <a:pathLst>
              <a:path w="828918" h="34538">
                <a:moveTo>
                  <a:pt x="0" y="0"/>
                </a:moveTo>
                <a:lnTo>
                  <a:pt x="828918" y="0"/>
                </a:lnTo>
                <a:lnTo>
                  <a:pt x="828918" y="34538"/>
                </a:lnTo>
                <a:lnTo>
                  <a:pt x="0" y="34538"/>
                </a:lnTo>
                <a:lnTo>
                  <a:pt x="0" y="0"/>
                </a:lnTo>
                <a:close/>
              </a:path>
            </a:pathLst>
          </a:custGeom>
          <a:solidFill>
            <a:srgbClr val="C5A56A"/>
          </a:solidFill>
          <a:ln/>
        </p:spPr>
      </p:sp>
      <p:sp>
        <p:nvSpPr>
          <p:cNvPr id="6" name="Shape 4"/>
          <p:cNvSpPr/>
          <p:nvPr/>
        </p:nvSpPr>
        <p:spPr>
          <a:xfrm>
            <a:off x="345382" y="1623297"/>
            <a:ext cx="5664272" cy="4843989"/>
          </a:xfrm>
          <a:custGeom>
            <a:avLst/>
            <a:gdLst/>
            <a:ahLst/>
            <a:cxnLst/>
            <a:rect l="l" t="t" r="r" b="b"/>
            <a:pathLst>
              <a:path w="5664272" h="4843989">
                <a:moveTo>
                  <a:pt x="69075" y="0"/>
                </a:moveTo>
                <a:lnTo>
                  <a:pt x="5595197" y="0"/>
                </a:lnTo>
                <a:cubicBezTo>
                  <a:pt x="5633346" y="0"/>
                  <a:pt x="5664272" y="30926"/>
                  <a:pt x="5664272" y="69075"/>
                </a:cubicBezTo>
                <a:lnTo>
                  <a:pt x="5664272" y="4774913"/>
                </a:lnTo>
                <a:cubicBezTo>
                  <a:pt x="5664272" y="4813063"/>
                  <a:pt x="5633346" y="4843989"/>
                  <a:pt x="5595197" y="4843989"/>
                </a:cubicBezTo>
                <a:lnTo>
                  <a:pt x="69075" y="4843989"/>
                </a:lnTo>
                <a:cubicBezTo>
                  <a:pt x="30926" y="4843989"/>
                  <a:pt x="0" y="4813063"/>
                  <a:pt x="0" y="4774913"/>
                </a:cubicBezTo>
                <a:lnTo>
                  <a:pt x="0" y="69075"/>
                </a:lnTo>
                <a:cubicBezTo>
                  <a:pt x="0" y="30926"/>
                  <a:pt x="30926" y="0"/>
                  <a:pt x="69075" y="0"/>
                </a:cubicBezTo>
                <a:close/>
              </a:path>
            </a:pathLst>
          </a:custGeom>
          <a:solidFill>
            <a:srgbClr val="FFFFFF"/>
          </a:solidFill>
          <a:ln/>
          <a:effectLst>
            <a:outerShdw blurRad="129518" dist="86346" dir="5400000" algn="bl" rotWithShape="0">
              <a:srgbClr val="000000">
                <a:alpha val="10196"/>
              </a:srgbClr>
            </a:outerShdw>
          </a:effectLst>
        </p:spPr>
      </p:sp>
      <p:sp>
        <p:nvSpPr>
          <p:cNvPr id="7" name="Shape 5"/>
          <p:cNvSpPr/>
          <p:nvPr/>
        </p:nvSpPr>
        <p:spPr>
          <a:xfrm>
            <a:off x="536422" y="1795989"/>
            <a:ext cx="291416" cy="259037"/>
          </a:xfrm>
          <a:custGeom>
            <a:avLst/>
            <a:gdLst/>
            <a:ahLst/>
            <a:cxnLst/>
            <a:rect l="l" t="t" r="r" b="b"/>
            <a:pathLst>
              <a:path w="291416" h="259037">
                <a:moveTo>
                  <a:pt x="113379" y="49126"/>
                </a:moveTo>
                <a:lnTo>
                  <a:pt x="113379" y="74220"/>
                </a:lnTo>
                <a:lnTo>
                  <a:pt x="113632" y="74473"/>
                </a:lnTo>
                <a:cubicBezTo>
                  <a:pt x="116921" y="32784"/>
                  <a:pt x="151779" y="0"/>
                  <a:pt x="194328" y="0"/>
                </a:cubicBezTo>
                <a:cubicBezTo>
                  <a:pt x="204497" y="0"/>
                  <a:pt x="214262" y="1872"/>
                  <a:pt x="223217" y="5312"/>
                </a:cubicBezTo>
                <a:cubicBezTo>
                  <a:pt x="228276" y="7235"/>
                  <a:pt x="229187" y="13660"/>
                  <a:pt x="225392" y="17505"/>
                </a:cubicBezTo>
                <a:lnTo>
                  <a:pt x="180516" y="62381"/>
                </a:lnTo>
                <a:cubicBezTo>
                  <a:pt x="178998" y="63899"/>
                  <a:pt x="178138" y="65973"/>
                  <a:pt x="178138" y="68098"/>
                </a:cubicBezTo>
                <a:lnTo>
                  <a:pt x="178138" y="89044"/>
                </a:lnTo>
                <a:cubicBezTo>
                  <a:pt x="178138" y="93496"/>
                  <a:pt x="181781" y="97139"/>
                  <a:pt x="186233" y="97139"/>
                </a:cubicBezTo>
                <a:lnTo>
                  <a:pt x="207179" y="97139"/>
                </a:lnTo>
                <a:cubicBezTo>
                  <a:pt x="209304" y="97139"/>
                  <a:pt x="211378" y="96279"/>
                  <a:pt x="212896" y="94761"/>
                </a:cubicBezTo>
                <a:lnTo>
                  <a:pt x="257772" y="49885"/>
                </a:lnTo>
                <a:cubicBezTo>
                  <a:pt x="261617" y="46040"/>
                  <a:pt x="268042" y="47001"/>
                  <a:pt x="269965" y="52060"/>
                </a:cubicBezTo>
                <a:cubicBezTo>
                  <a:pt x="273405" y="61015"/>
                  <a:pt x="275277" y="70780"/>
                  <a:pt x="275277" y="80949"/>
                </a:cubicBezTo>
                <a:cubicBezTo>
                  <a:pt x="275277" y="111608"/>
                  <a:pt x="258227" y="138322"/>
                  <a:pt x="233032" y="152032"/>
                </a:cubicBezTo>
                <a:lnTo>
                  <a:pt x="274265" y="193266"/>
                </a:lnTo>
                <a:cubicBezTo>
                  <a:pt x="283726" y="202727"/>
                  <a:pt x="283726" y="218107"/>
                  <a:pt x="274265" y="227618"/>
                </a:cubicBezTo>
                <a:lnTo>
                  <a:pt x="243859" y="258025"/>
                </a:lnTo>
                <a:cubicBezTo>
                  <a:pt x="234398" y="267486"/>
                  <a:pt x="219018" y="267486"/>
                  <a:pt x="209506" y="258025"/>
                </a:cubicBezTo>
                <a:lnTo>
                  <a:pt x="145759" y="194278"/>
                </a:lnTo>
                <a:cubicBezTo>
                  <a:pt x="131896" y="180415"/>
                  <a:pt x="128760" y="159925"/>
                  <a:pt x="136399" y="143027"/>
                </a:cubicBezTo>
                <a:lnTo>
                  <a:pt x="90511" y="97139"/>
                </a:lnTo>
                <a:lnTo>
                  <a:pt x="65417" y="97139"/>
                </a:lnTo>
                <a:cubicBezTo>
                  <a:pt x="60003" y="97139"/>
                  <a:pt x="54944" y="94457"/>
                  <a:pt x="51959" y="89955"/>
                </a:cubicBezTo>
                <a:lnTo>
                  <a:pt x="11839" y="29799"/>
                </a:lnTo>
                <a:cubicBezTo>
                  <a:pt x="9714" y="26612"/>
                  <a:pt x="10119" y="22312"/>
                  <a:pt x="12851" y="19580"/>
                </a:cubicBezTo>
                <a:lnTo>
                  <a:pt x="35820" y="-3390"/>
                </a:lnTo>
                <a:cubicBezTo>
                  <a:pt x="38552" y="-6122"/>
                  <a:pt x="42802" y="-6527"/>
                  <a:pt x="46040" y="-4402"/>
                </a:cubicBezTo>
                <a:lnTo>
                  <a:pt x="106195" y="35668"/>
                </a:lnTo>
                <a:cubicBezTo>
                  <a:pt x="110698" y="38653"/>
                  <a:pt x="113379" y="43712"/>
                  <a:pt x="113379" y="49126"/>
                </a:cubicBezTo>
                <a:close/>
                <a:moveTo>
                  <a:pt x="109079" y="150059"/>
                </a:moveTo>
                <a:cubicBezTo>
                  <a:pt x="105891" y="168779"/>
                  <a:pt x="110293" y="188561"/>
                  <a:pt x="122435" y="204396"/>
                </a:cubicBezTo>
                <a:lnTo>
                  <a:pt x="74372" y="252409"/>
                </a:lnTo>
                <a:cubicBezTo>
                  <a:pt x="60155" y="266626"/>
                  <a:pt x="37085" y="266626"/>
                  <a:pt x="22868" y="252409"/>
                </a:cubicBezTo>
                <a:cubicBezTo>
                  <a:pt x="8651" y="238192"/>
                  <a:pt x="8651" y="215122"/>
                  <a:pt x="22868" y="200905"/>
                </a:cubicBezTo>
                <a:lnTo>
                  <a:pt x="91371" y="132402"/>
                </a:lnTo>
                <a:lnTo>
                  <a:pt x="109079" y="150110"/>
                </a:lnTo>
                <a:close/>
              </a:path>
            </a:pathLst>
          </a:custGeom>
          <a:solidFill>
            <a:srgbClr val="1A3A52"/>
          </a:solidFill>
          <a:ln/>
        </p:spPr>
      </p:sp>
      <p:sp>
        <p:nvSpPr>
          <p:cNvPr id="8" name="Text 6"/>
          <p:cNvSpPr/>
          <p:nvPr/>
        </p:nvSpPr>
        <p:spPr>
          <a:xfrm>
            <a:off x="945484" y="1804623"/>
            <a:ext cx="2141371" cy="241768"/>
          </a:xfrm>
          <a:prstGeom prst="rect">
            <a:avLst/>
          </a:prstGeom>
          <a:noFill/>
          <a:ln/>
        </p:spPr>
        <p:txBody>
          <a:bodyPr wrap="square" lIns="0" tIns="0" rIns="0" bIns="0" rtlCol="0" anchor="ctr"/>
          <a:lstStyle/>
          <a:p>
            <a:pPr>
              <a:lnSpc>
                <a:spcPct val="120000"/>
              </a:lnSpc>
            </a:pPr>
            <a:r>
              <a:rPr lang="en-US" sz="1360" b="1" dirty="0">
                <a:solidFill>
                  <a:srgbClr val="1A3A52"/>
                </a:solidFill>
                <a:latin typeface="Liter" pitchFamily="34" charset="0"/>
                <a:ea typeface="Liter" pitchFamily="34" charset="-122"/>
                <a:cs typeface="Liter" pitchFamily="34" charset="-120"/>
              </a:rPr>
              <a:t>Six Sigma Tools &amp; Findings</a:t>
            </a:r>
            <a:endParaRPr lang="en-US" sz="1600" dirty="0"/>
          </a:p>
        </p:txBody>
      </p:sp>
      <p:sp>
        <p:nvSpPr>
          <p:cNvPr id="9" name="Shape 7"/>
          <p:cNvSpPr/>
          <p:nvPr/>
        </p:nvSpPr>
        <p:spPr>
          <a:xfrm>
            <a:off x="518074" y="2193178"/>
            <a:ext cx="5318890" cy="621688"/>
          </a:xfrm>
          <a:custGeom>
            <a:avLst/>
            <a:gdLst/>
            <a:ahLst/>
            <a:cxnLst/>
            <a:rect l="l" t="t" r="r" b="b"/>
            <a:pathLst>
              <a:path w="5318890" h="621688">
                <a:moveTo>
                  <a:pt x="69076" y="0"/>
                </a:moveTo>
                <a:lnTo>
                  <a:pt x="5249814" y="0"/>
                </a:lnTo>
                <a:cubicBezTo>
                  <a:pt x="5287963" y="0"/>
                  <a:pt x="5318890" y="30926"/>
                  <a:pt x="5318890" y="69076"/>
                </a:cubicBezTo>
                <a:lnTo>
                  <a:pt x="5318890" y="552613"/>
                </a:lnTo>
                <a:cubicBezTo>
                  <a:pt x="5318890" y="590762"/>
                  <a:pt x="5287963" y="621688"/>
                  <a:pt x="5249814" y="621688"/>
                </a:cubicBezTo>
                <a:lnTo>
                  <a:pt x="69076" y="621688"/>
                </a:lnTo>
                <a:cubicBezTo>
                  <a:pt x="30952" y="621688"/>
                  <a:pt x="0" y="590737"/>
                  <a:pt x="0" y="552613"/>
                </a:cubicBezTo>
                <a:lnTo>
                  <a:pt x="0" y="69076"/>
                </a:lnTo>
                <a:cubicBezTo>
                  <a:pt x="0" y="30952"/>
                  <a:pt x="30952" y="0"/>
                  <a:pt x="69076" y="0"/>
                </a:cubicBezTo>
                <a:close/>
              </a:path>
            </a:pathLst>
          </a:custGeom>
          <a:solidFill>
            <a:srgbClr val="1A3A52">
              <a:alpha val="5098"/>
            </a:srgbClr>
          </a:solidFill>
          <a:ln/>
        </p:spPr>
      </p:sp>
      <p:sp>
        <p:nvSpPr>
          <p:cNvPr id="10" name="Shape 8"/>
          <p:cNvSpPr/>
          <p:nvPr/>
        </p:nvSpPr>
        <p:spPr>
          <a:xfrm>
            <a:off x="621688" y="2296793"/>
            <a:ext cx="345382" cy="345382"/>
          </a:xfrm>
          <a:custGeom>
            <a:avLst/>
            <a:gdLst/>
            <a:ahLst/>
            <a:cxnLst/>
            <a:rect l="l" t="t" r="r" b="b"/>
            <a:pathLst>
              <a:path w="345382" h="345382">
                <a:moveTo>
                  <a:pt x="172691" y="0"/>
                </a:moveTo>
                <a:lnTo>
                  <a:pt x="172691" y="0"/>
                </a:lnTo>
                <a:cubicBezTo>
                  <a:pt x="268002" y="0"/>
                  <a:pt x="345382" y="77380"/>
                  <a:pt x="345382" y="172691"/>
                </a:cubicBezTo>
                <a:lnTo>
                  <a:pt x="345382" y="172691"/>
                </a:lnTo>
                <a:cubicBezTo>
                  <a:pt x="345382" y="268002"/>
                  <a:pt x="268002" y="345382"/>
                  <a:pt x="172691" y="345382"/>
                </a:cubicBezTo>
                <a:lnTo>
                  <a:pt x="172691" y="345382"/>
                </a:lnTo>
                <a:cubicBezTo>
                  <a:pt x="77380" y="345382"/>
                  <a:pt x="0" y="268002"/>
                  <a:pt x="0" y="172691"/>
                </a:cubicBezTo>
                <a:lnTo>
                  <a:pt x="0" y="172691"/>
                </a:lnTo>
                <a:cubicBezTo>
                  <a:pt x="0" y="77380"/>
                  <a:pt x="77380" y="0"/>
                  <a:pt x="172691" y="0"/>
                </a:cubicBezTo>
                <a:close/>
              </a:path>
            </a:pathLst>
          </a:custGeom>
          <a:solidFill>
            <a:srgbClr val="1A3A52"/>
          </a:solidFill>
          <a:ln/>
        </p:spPr>
      </p:sp>
      <p:sp>
        <p:nvSpPr>
          <p:cNvPr id="11" name="Shape 9"/>
          <p:cNvSpPr/>
          <p:nvPr/>
        </p:nvSpPr>
        <p:spPr>
          <a:xfrm>
            <a:off x="733938" y="2400408"/>
            <a:ext cx="120884" cy="138153"/>
          </a:xfrm>
          <a:custGeom>
            <a:avLst/>
            <a:gdLst/>
            <a:ahLst/>
            <a:cxnLst/>
            <a:rect l="l" t="t" r="r" b="b"/>
            <a:pathLst>
              <a:path w="120884" h="138153">
                <a:moveTo>
                  <a:pt x="117322" y="18915"/>
                </a:moveTo>
                <a:cubicBezTo>
                  <a:pt x="121181" y="21721"/>
                  <a:pt x="122044" y="27118"/>
                  <a:pt x="119238" y="30976"/>
                </a:cubicBezTo>
                <a:lnTo>
                  <a:pt x="50161" y="125957"/>
                </a:lnTo>
                <a:cubicBezTo>
                  <a:pt x="48677" y="128007"/>
                  <a:pt x="46384" y="129276"/>
                  <a:pt x="43847" y="129491"/>
                </a:cubicBezTo>
                <a:cubicBezTo>
                  <a:pt x="41311" y="129707"/>
                  <a:pt x="38856" y="128763"/>
                  <a:pt x="37075" y="126982"/>
                </a:cubicBezTo>
                <a:lnTo>
                  <a:pt x="2536" y="92444"/>
                </a:lnTo>
                <a:cubicBezTo>
                  <a:pt x="-836" y="89071"/>
                  <a:pt x="-836" y="83593"/>
                  <a:pt x="2536" y="80220"/>
                </a:cubicBezTo>
                <a:cubicBezTo>
                  <a:pt x="5909" y="76848"/>
                  <a:pt x="11387" y="76848"/>
                  <a:pt x="14760" y="80220"/>
                </a:cubicBezTo>
                <a:lnTo>
                  <a:pt x="42147" y="107608"/>
                </a:lnTo>
                <a:lnTo>
                  <a:pt x="105288" y="20804"/>
                </a:lnTo>
                <a:cubicBezTo>
                  <a:pt x="108094" y="16945"/>
                  <a:pt x="113491" y="16082"/>
                  <a:pt x="117349" y="18888"/>
                </a:cubicBezTo>
                <a:close/>
              </a:path>
            </a:pathLst>
          </a:custGeom>
          <a:solidFill>
            <a:srgbClr val="FFFFFF"/>
          </a:solidFill>
          <a:ln/>
        </p:spPr>
      </p:sp>
      <p:sp>
        <p:nvSpPr>
          <p:cNvPr id="12" name="Text 10"/>
          <p:cNvSpPr/>
          <p:nvPr/>
        </p:nvSpPr>
        <p:spPr>
          <a:xfrm>
            <a:off x="1070686" y="2296793"/>
            <a:ext cx="2858040" cy="207229"/>
          </a:xfrm>
          <a:prstGeom prst="rect">
            <a:avLst/>
          </a:prstGeom>
          <a:noFill/>
          <a:ln/>
        </p:spPr>
        <p:txBody>
          <a:bodyPr wrap="square" lIns="0" tIns="0" rIns="0" bIns="0" rtlCol="0" anchor="ctr"/>
          <a:lstStyle/>
          <a:p>
            <a:pPr>
              <a:lnSpc>
                <a:spcPct val="130000"/>
              </a:lnSpc>
            </a:pPr>
            <a:r>
              <a:rPr lang="en-US" sz="1088" b="1" dirty="0">
                <a:solidFill>
                  <a:srgbClr val="1A3A52"/>
                </a:solidFill>
                <a:latin typeface="Liter" pitchFamily="34" charset="0"/>
                <a:ea typeface="Liter" pitchFamily="34" charset="-122"/>
                <a:cs typeface="Liter" pitchFamily="34" charset="-120"/>
              </a:rPr>
              <a:t>MSA</a:t>
            </a:r>
            <a:endParaRPr lang="en-US" sz="1600" dirty="0"/>
          </a:p>
        </p:txBody>
      </p:sp>
      <p:sp>
        <p:nvSpPr>
          <p:cNvPr id="13" name="Text 11"/>
          <p:cNvSpPr/>
          <p:nvPr/>
        </p:nvSpPr>
        <p:spPr>
          <a:xfrm>
            <a:off x="1070686" y="2504023"/>
            <a:ext cx="2858040" cy="207229"/>
          </a:xfrm>
          <a:prstGeom prst="rect">
            <a:avLst/>
          </a:prstGeom>
          <a:noFill/>
          <a:ln/>
        </p:spPr>
        <p:txBody>
          <a:bodyPr wrap="square" lIns="0" tIns="0" rIns="0" bIns="0" rtlCol="0" anchor="ctr"/>
          <a:lstStyle/>
          <a:p>
            <a:pPr>
              <a:lnSpc>
                <a:spcPct val="130000"/>
              </a:lnSpc>
            </a:pPr>
            <a:r>
              <a:rPr lang="en-US" sz="1088" dirty="0">
                <a:solidFill>
                  <a:srgbClr val="212529"/>
                </a:solidFill>
                <a:latin typeface="Liter" pitchFamily="34" charset="0"/>
                <a:ea typeface="Liter" pitchFamily="34" charset="-122"/>
                <a:cs typeface="Liter" pitchFamily="34" charset="-120"/>
              </a:rPr>
              <a:t>Reliable data (Kappa &gt; 0.8, Repeatability 95%)</a:t>
            </a:r>
            <a:endParaRPr lang="en-US" sz="1600" dirty="0"/>
          </a:p>
        </p:txBody>
      </p:sp>
      <p:sp>
        <p:nvSpPr>
          <p:cNvPr id="14" name="Shape 12"/>
          <p:cNvSpPr/>
          <p:nvPr/>
        </p:nvSpPr>
        <p:spPr>
          <a:xfrm>
            <a:off x="518074" y="2883943"/>
            <a:ext cx="5318890" cy="621688"/>
          </a:xfrm>
          <a:custGeom>
            <a:avLst/>
            <a:gdLst/>
            <a:ahLst/>
            <a:cxnLst/>
            <a:rect l="l" t="t" r="r" b="b"/>
            <a:pathLst>
              <a:path w="5318890" h="621688">
                <a:moveTo>
                  <a:pt x="69076" y="0"/>
                </a:moveTo>
                <a:lnTo>
                  <a:pt x="5249814" y="0"/>
                </a:lnTo>
                <a:cubicBezTo>
                  <a:pt x="5287963" y="0"/>
                  <a:pt x="5318890" y="30926"/>
                  <a:pt x="5318890" y="69076"/>
                </a:cubicBezTo>
                <a:lnTo>
                  <a:pt x="5318890" y="552613"/>
                </a:lnTo>
                <a:cubicBezTo>
                  <a:pt x="5318890" y="590762"/>
                  <a:pt x="5287963" y="621688"/>
                  <a:pt x="5249814" y="621688"/>
                </a:cubicBezTo>
                <a:lnTo>
                  <a:pt x="69076" y="621688"/>
                </a:lnTo>
                <a:cubicBezTo>
                  <a:pt x="30952" y="621688"/>
                  <a:pt x="0" y="590737"/>
                  <a:pt x="0" y="552613"/>
                </a:cubicBezTo>
                <a:lnTo>
                  <a:pt x="0" y="69076"/>
                </a:lnTo>
                <a:cubicBezTo>
                  <a:pt x="0" y="30952"/>
                  <a:pt x="30952" y="0"/>
                  <a:pt x="69076" y="0"/>
                </a:cubicBezTo>
                <a:close/>
              </a:path>
            </a:pathLst>
          </a:custGeom>
          <a:solidFill>
            <a:srgbClr val="C5A56A">
              <a:alpha val="10196"/>
            </a:srgbClr>
          </a:solidFill>
          <a:ln/>
        </p:spPr>
      </p:sp>
      <p:sp>
        <p:nvSpPr>
          <p:cNvPr id="15" name="Shape 13"/>
          <p:cNvSpPr/>
          <p:nvPr/>
        </p:nvSpPr>
        <p:spPr>
          <a:xfrm>
            <a:off x="621688" y="2987558"/>
            <a:ext cx="345382" cy="345382"/>
          </a:xfrm>
          <a:custGeom>
            <a:avLst/>
            <a:gdLst/>
            <a:ahLst/>
            <a:cxnLst/>
            <a:rect l="l" t="t" r="r" b="b"/>
            <a:pathLst>
              <a:path w="345382" h="345382">
                <a:moveTo>
                  <a:pt x="172691" y="0"/>
                </a:moveTo>
                <a:lnTo>
                  <a:pt x="172691" y="0"/>
                </a:lnTo>
                <a:cubicBezTo>
                  <a:pt x="268002" y="0"/>
                  <a:pt x="345382" y="77380"/>
                  <a:pt x="345382" y="172691"/>
                </a:cubicBezTo>
                <a:lnTo>
                  <a:pt x="345382" y="172691"/>
                </a:lnTo>
                <a:cubicBezTo>
                  <a:pt x="345382" y="268002"/>
                  <a:pt x="268002" y="345382"/>
                  <a:pt x="172691" y="345382"/>
                </a:cubicBezTo>
                <a:lnTo>
                  <a:pt x="172691" y="345382"/>
                </a:lnTo>
                <a:cubicBezTo>
                  <a:pt x="77380" y="345382"/>
                  <a:pt x="0" y="268002"/>
                  <a:pt x="0" y="172691"/>
                </a:cubicBezTo>
                <a:lnTo>
                  <a:pt x="0" y="172691"/>
                </a:lnTo>
                <a:cubicBezTo>
                  <a:pt x="0" y="77380"/>
                  <a:pt x="77380" y="0"/>
                  <a:pt x="172691" y="0"/>
                </a:cubicBezTo>
                <a:close/>
              </a:path>
            </a:pathLst>
          </a:custGeom>
          <a:solidFill>
            <a:srgbClr val="C5A56A"/>
          </a:solidFill>
          <a:ln/>
        </p:spPr>
      </p:sp>
      <p:sp>
        <p:nvSpPr>
          <p:cNvPr id="16" name="Shape 14"/>
          <p:cNvSpPr/>
          <p:nvPr/>
        </p:nvSpPr>
        <p:spPr>
          <a:xfrm>
            <a:off x="716669" y="3091173"/>
            <a:ext cx="155422" cy="138153"/>
          </a:xfrm>
          <a:custGeom>
            <a:avLst/>
            <a:gdLst/>
            <a:ahLst/>
            <a:cxnLst/>
            <a:rect l="l" t="t" r="r" b="b"/>
            <a:pathLst>
              <a:path w="155422" h="138153">
                <a:moveTo>
                  <a:pt x="138261" y="64759"/>
                </a:moveTo>
                <a:lnTo>
                  <a:pt x="90771" y="64759"/>
                </a:lnTo>
                <a:cubicBezTo>
                  <a:pt x="85995" y="64759"/>
                  <a:pt x="82136" y="60901"/>
                  <a:pt x="82136" y="56125"/>
                </a:cubicBezTo>
                <a:lnTo>
                  <a:pt x="82136" y="8635"/>
                </a:lnTo>
                <a:cubicBezTo>
                  <a:pt x="82136" y="3859"/>
                  <a:pt x="86022" y="-54"/>
                  <a:pt x="90744" y="567"/>
                </a:cubicBezTo>
                <a:cubicBezTo>
                  <a:pt x="119616" y="4398"/>
                  <a:pt x="142497" y="27280"/>
                  <a:pt x="146329" y="56152"/>
                </a:cubicBezTo>
                <a:cubicBezTo>
                  <a:pt x="146949" y="60874"/>
                  <a:pt x="143037" y="64759"/>
                  <a:pt x="138261" y="64759"/>
                </a:cubicBezTo>
                <a:close/>
                <a:moveTo>
                  <a:pt x="60064" y="10038"/>
                </a:moveTo>
                <a:cubicBezTo>
                  <a:pt x="64948" y="9012"/>
                  <a:pt x="69184" y="13006"/>
                  <a:pt x="69184" y="17998"/>
                </a:cubicBezTo>
                <a:lnTo>
                  <a:pt x="69184" y="71235"/>
                </a:lnTo>
                <a:cubicBezTo>
                  <a:pt x="69184" y="72746"/>
                  <a:pt x="69724" y="74203"/>
                  <a:pt x="70668" y="75364"/>
                </a:cubicBezTo>
                <a:lnTo>
                  <a:pt x="106313" y="118374"/>
                </a:lnTo>
                <a:cubicBezTo>
                  <a:pt x="109470" y="122179"/>
                  <a:pt x="108795" y="127926"/>
                  <a:pt x="104451" y="130274"/>
                </a:cubicBezTo>
                <a:cubicBezTo>
                  <a:pt x="95250" y="135293"/>
                  <a:pt x="84700" y="138153"/>
                  <a:pt x="73502" y="138153"/>
                </a:cubicBezTo>
                <a:cubicBezTo>
                  <a:pt x="37749" y="138153"/>
                  <a:pt x="8742" y="109146"/>
                  <a:pt x="8742" y="73394"/>
                </a:cubicBezTo>
                <a:cubicBezTo>
                  <a:pt x="8742" y="42228"/>
                  <a:pt x="30734" y="16217"/>
                  <a:pt x="60064" y="10038"/>
                </a:cubicBezTo>
                <a:close/>
                <a:moveTo>
                  <a:pt x="128925" y="77711"/>
                </a:moveTo>
                <a:lnTo>
                  <a:pt x="146194" y="77711"/>
                </a:lnTo>
                <a:cubicBezTo>
                  <a:pt x="151186" y="77711"/>
                  <a:pt x="155179" y="81947"/>
                  <a:pt x="154154" y="86831"/>
                </a:cubicBezTo>
                <a:cubicBezTo>
                  <a:pt x="151402" y="99891"/>
                  <a:pt x="144710" y="111494"/>
                  <a:pt x="135374" y="120344"/>
                </a:cubicBezTo>
                <a:cubicBezTo>
                  <a:pt x="132055" y="123501"/>
                  <a:pt x="126847" y="122827"/>
                  <a:pt x="123933" y="119292"/>
                </a:cubicBezTo>
                <a:lnTo>
                  <a:pt x="101159" y="91850"/>
                </a:lnTo>
                <a:cubicBezTo>
                  <a:pt x="96491" y="86211"/>
                  <a:pt x="100512" y="77711"/>
                  <a:pt x="107797" y="77711"/>
                </a:cubicBezTo>
                <a:lnTo>
                  <a:pt x="128898" y="77711"/>
                </a:lnTo>
                <a:close/>
              </a:path>
            </a:pathLst>
          </a:custGeom>
          <a:solidFill>
            <a:srgbClr val="FFFFFF"/>
          </a:solidFill>
          <a:ln/>
        </p:spPr>
      </p:sp>
      <p:sp>
        <p:nvSpPr>
          <p:cNvPr id="17" name="Text 15"/>
          <p:cNvSpPr/>
          <p:nvPr/>
        </p:nvSpPr>
        <p:spPr>
          <a:xfrm>
            <a:off x="1070686" y="2987558"/>
            <a:ext cx="3048000" cy="207229"/>
          </a:xfrm>
          <a:prstGeom prst="rect">
            <a:avLst/>
          </a:prstGeom>
          <a:noFill/>
          <a:ln/>
        </p:spPr>
        <p:txBody>
          <a:bodyPr wrap="square" lIns="0" tIns="0" rIns="0" bIns="0" rtlCol="0" anchor="ctr"/>
          <a:lstStyle/>
          <a:p>
            <a:pPr>
              <a:lnSpc>
                <a:spcPct val="130000"/>
              </a:lnSpc>
            </a:pPr>
            <a:r>
              <a:rPr lang="en-US" sz="1088" b="1" dirty="0">
                <a:solidFill>
                  <a:srgbClr val="1A3A52"/>
                </a:solidFill>
                <a:latin typeface="Liter" pitchFamily="34" charset="0"/>
                <a:ea typeface="Liter" pitchFamily="34" charset="-122"/>
                <a:cs typeface="Liter" pitchFamily="34" charset="-120"/>
              </a:rPr>
              <a:t>Pareto</a:t>
            </a:r>
            <a:endParaRPr lang="en-US" sz="1600" dirty="0"/>
          </a:p>
        </p:txBody>
      </p:sp>
      <p:sp>
        <p:nvSpPr>
          <p:cNvPr id="18" name="Text 16"/>
          <p:cNvSpPr/>
          <p:nvPr/>
        </p:nvSpPr>
        <p:spPr>
          <a:xfrm>
            <a:off x="1070686" y="3194788"/>
            <a:ext cx="3048000" cy="207229"/>
          </a:xfrm>
          <a:prstGeom prst="rect">
            <a:avLst/>
          </a:prstGeom>
          <a:noFill/>
          <a:ln/>
        </p:spPr>
        <p:txBody>
          <a:bodyPr wrap="square" lIns="0" tIns="0" rIns="0" bIns="0" rtlCol="0" anchor="ctr"/>
          <a:lstStyle/>
          <a:p>
            <a:pPr>
              <a:lnSpc>
                <a:spcPct val="130000"/>
              </a:lnSpc>
            </a:pPr>
            <a:r>
              <a:rPr lang="en-US" sz="1088" dirty="0">
                <a:solidFill>
                  <a:srgbClr val="212529"/>
                </a:solidFill>
                <a:latin typeface="Liter" pitchFamily="34" charset="0"/>
                <a:ea typeface="Liter" pitchFamily="34" charset="-122"/>
                <a:cs typeface="Liter" pitchFamily="34" charset="-120"/>
              </a:rPr>
              <a:t>Higher Studies + Career Growth = 65% of attrition</a:t>
            </a:r>
            <a:endParaRPr lang="en-US" sz="1600" dirty="0"/>
          </a:p>
        </p:txBody>
      </p:sp>
      <p:sp>
        <p:nvSpPr>
          <p:cNvPr id="19" name="Shape 17"/>
          <p:cNvSpPr/>
          <p:nvPr/>
        </p:nvSpPr>
        <p:spPr>
          <a:xfrm>
            <a:off x="518074" y="3574708"/>
            <a:ext cx="5318890" cy="621688"/>
          </a:xfrm>
          <a:custGeom>
            <a:avLst/>
            <a:gdLst/>
            <a:ahLst/>
            <a:cxnLst/>
            <a:rect l="l" t="t" r="r" b="b"/>
            <a:pathLst>
              <a:path w="5318890" h="621688">
                <a:moveTo>
                  <a:pt x="69076" y="0"/>
                </a:moveTo>
                <a:lnTo>
                  <a:pt x="5249814" y="0"/>
                </a:lnTo>
                <a:cubicBezTo>
                  <a:pt x="5287963" y="0"/>
                  <a:pt x="5318890" y="30926"/>
                  <a:pt x="5318890" y="69076"/>
                </a:cubicBezTo>
                <a:lnTo>
                  <a:pt x="5318890" y="552613"/>
                </a:lnTo>
                <a:cubicBezTo>
                  <a:pt x="5318890" y="590762"/>
                  <a:pt x="5287963" y="621688"/>
                  <a:pt x="5249814" y="621688"/>
                </a:cubicBezTo>
                <a:lnTo>
                  <a:pt x="69076" y="621688"/>
                </a:lnTo>
                <a:cubicBezTo>
                  <a:pt x="30952" y="621688"/>
                  <a:pt x="0" y="590737"/>
                  <a:pt x="0" y="552613"/>
                </a:cubicBezTo>
                <a:lnTo>
                  <a:pt x="0" y="69076"/>
                </a:lnTo>
                <a:cubicBezTo>
                  <a:pt x="0" y="30952"/>
                  <a:pt x="30952" y="0"/>
                  <a:pt x="69076" y="0"/>
                </a:cubicBezTo>
                <a:close/>
              </a:path>
            </a:pathLst>
          </a:custGeom>
          <a:solidFill>
            <a:srgbClr val="5E7A91">
              <a:alpha val="10196"/>
            </a:srgbClr>
          </a:solidFill>
          <a:ln/>
        </p:spPr>
      </p:sp>
      <p:sp>
        <p:nvSpPr>
          <p:cNvPr id="20" name="Shape 18"/>
          <p:cNvSpPr/>
          <p:nvPr/>
        </p:nvSpPr>
        <p:spPr>
          <a:xfrm>
            <a:off x="621688" y="3678323"/>
            <a:ext cx="345382" cy="345382"/>
          </a:xfrm>
          <a:custGeom>
            <a:avLst/>
            <a:gdLst/>
            <a:ahLst/>
            <a:cxnLst/>
            <a:rect l="l" t="t" r="r" b="b"/>
            <a:pathLst>
              <a:path w="345382" h="345382">
                <a:moveTo>
                  <a:pt x="172691" y="0"/>
                </a:moveTo>
                <a:lnTo>
                  <a:pt x="172691" y="0"/>
                </a:lnTo>
                <a:cubicBezTo>
                  <a:pt x="268002" y="0"/>
                  <a:pt x="345382" y="77380"/>
                  <a:pt x="345382" y="172691"/>
                </a:cubicBezTo>
                <a:lnTo>
                  <a:pt x="345382" y="172691"/>
                </a:lnTo>
                <a:cubicBezTo>
                  <a:pt x="345382" y="268002"/>
                  <a:pt x="268002" y="345382"/>
                  <a:pt x="172691" y="345382"/>
                </a:cubicBezTo>
                <a:lnTo>
                  <a:pt x="172691" y="345382"/>
                </a:lnTo>
                <a:cubicBezTo>
                  <a:pt x="77380" y="345382"/>
                  <a:pt x="0" y="268002"/>
                  <a:pt x="0" y="172691"/>
                </a:cubicBezTo>
                <a:lnTo>
                  <a:pt x="0" y="172691"/>
                </a:lnTo>
                <a:cubicBezTo>
                  <a:pt x="0" y="77380"/>
                  <a:pt x="77380" y="0"/>
                  <a:pt x="172691" y="0"/>
                </a:cubicBezTo>
                <a:close/>
              </a:path>
            </a:pathLst>
          </a:custGeom>
          <a:solidFill>
            <a:srgbClr val="5E7A91"/>
          </a:solidFill>
          <a:ln/>
        </p:spPr>
      </p:sp>
      <p:sp>
        <p:nvSpPr>
          <p:cNvPr id="21" name="Shape 19"/>
          <p:cNvSpPr/>
          <p:nvPr/>
        </p:nvSpPr>
        <p:spPr>
          <a:xfrm>
            <a:off x="725303" y="3781938"/>
            <a:ext cx="138153" cy="138153"/>
          </a:xfrm>
          <a:custGeom>
            <a:avLst/>
            <a:gdLst/>
            <a:ahLst/>
            <a:cxnLst/>
            <a:rect l="l" t="t" r="r" b="b"/>
            <a:pathLst>
              <a:path w="138153" h="138153">
                <a:moveTo>
                  <a:pt x="17269" y="17269"/>
                </a:moveTo>
                <a:cubicBezTo>
                  <a:pt x="17269" y="12493"/>
                  <a:pt x="13411" y="8635"/>
                  <a:pt x="8635" y="8635"/>
                </a:cubicBezTo>
                <a:cubicBezTo>
                  <a:pt x="3859" y="8635"/>
                  <a:pt x="0" y="12493"/>
                  <a:pt x="0" y="17269"/>
                </a:cubicBezTo>
                <a:lnTo>
                  <a:pt x="0" y="107932"/>
                </a:lnTo>
                <a:cubicBezTo>
                  <a:pt x="0" y="119858"/>
                  <a:pt x="9660" y="129518"/>
                  <a:pt x="21586" y="129518"/>
                </a:cubicBezTo>
                <a:lnTo>
                  <a:pt x="129518" y="129518"/>
                </a:lnTo>
                <a:cubicBezTo>
                  <a:pt x="134294" y="129518"/>
                  <a:pt x="138153" y="125660"/>
                  <a:pt x="138153" y="120884"/>
                </a:cubicBezTo>
                <a:cubicBezTo>
                  <a:pt x="138153" y="116108"/>
                  <a:pt x="134294" y="112249"/>
                  <a:pt x="129518" y="112249"/>
                </a:cubicBezTo>
                <a:lnTo>
                  <a:pt x="21586" y="112249"/>
                </a:lnTo>
                <a:cubicBezTo>
                  <a:pt x="19212" y="112249"/>
                  <a:pt x="17269" y="110307"/>
                  <a:pt x="17269" y="107932"/>
                </a:cubicBezTo>
                <a:lnTo>
                  <a:pt x="17269" y="17269"/>
                </a:lnTo>
                <a:close/>
                <a:moveTo>
                  <a:pt x="126982" y="40636"/>
                </a:moveTo>
                <a:cubicBezTo>
                  <a:pt x="130355" y="37264"/>
                  <a:pt x="130355" y="31786"/>
                  <a:pt x="126982" y="28413"/>
                </a:cubicBezTo>
                <a:cubicBezTo>
                  <a:pt x="123609" y="25040"/>
                  <a:pt x="118132" y="25040"/>
                  <a:pt x="114759" y="28413"/>
                </a:cubicBezTo>
                <a:lnTo>
                  <a:pt x="86346" y="56853"/>
                </a:lnTo>
                <a:lnTo>
                  <a:pt x="70857" y="41392"/>
                </a:lnTo>
                <a:cubicBezTo>
                  <a:pt x="67484" y="38019"/>
                  <a:pt x="62007" y="38019"/>
                  <a:pt x="58634" y="41392"/>
                </a:cubicBezTo>
                <a:lnTo>
                  <a:pt x="32730" y="67296"/>
                </a:lnTo>
                <a:cubicBezTo>
                  <a:pt x="29358" y="70668"/>
                  <a:pt x="29358" y="76146"/>
                  <a:pt x="32730" y="79519"/>
                </a:cubicBezTo>
                <a:cubicBezTo>
                  <a:pt x="36103" y="82892"/>
                  <a:pt x="41581" y="82892"/>
                  <a:pt x="44954" y="79519"/>
                </a:cubicBezTo>
                <a:lnTo>
                  <a:pt x="64759" y="59713"/>
                </a:lnTo>
                <a:lnTo>
                  <a:pt x="80247" y="75202"/>
                </a:lnTo>
                <a:cubicBezTo>
                  <a:pt x="83620" y="78575"/>
                  <a:pt x="89098" y="78575"/>
                  <a:pt x="92471" y="75202"/>
                </a:cubicBezTo>
                <a:lnTo>
                  <a:pt x="127009" y="40663"/>
                </a:lnTo>
                <a:close/>
              </a:path>
            </a:pathLst>
          </a:custGeom>
          <a:solidFill>
            <a:srgbClr val="FFFFFF"/>
          </a:solidFill>
          <a:ln/>
        </p:spPr>
      </p:sp>
      <p:sp>
        <p:nvSpPr>
          <p:cNvPr id="22" name="Text 20"/>
          <p:cNvSpPr/>
          <p:nvPr/>
        </p:nvSpPr>
        <p:spPr>
          <a:xfrm>
            <a:off x="1070686" y="3678323"/>
            <a:ext cx="2763059" cy="207229"/>
          </a:xfrm>
          <a:prstGeom prst="rect">
            <a:avLst/>
          </a:prstGeom>
          <a:noFill/>
          <a:ln/>
        </p:spPr>
        <p:txBody>
          <a:bodyPr wrap="square" lIns="0" tIns="0" rIns="0" bIns="0" rtlCol="0" anchor="ctr"/>
          <a:lstStyle/>
          <a:p>
            <a:pPr>
              <a:lnSpc>
                <a:spcPct val="130000"/>
              </a:lnSpc>
            </a:pPr>
            <a:r>
              <a:rPr lang="en-US" sz="1088" b="1" dirty="0">
                <a:solidFill>
                  <a:srgbClr val="1A3A52"/>
                </a:solidFill>
                <a:latin typeface="Liter" pitchFamily="34" charset="0"/>
                <a:ea typeface="Liter" pitchFamily="34" charset="-122"/>
                <a:cs typeface="Liter" pitchFamily="34" charset="-120"/>
              </a:rPr>
              <a:t>Control Chart</a:t>
            </a:r>
            <a:endParaRPr lang="en-US" sz="1600" dirty="0"/>
          </a:p>
        </p:txBody>
      </p:sp>
      <p:sp>
        <p:nvSpPr>
          <p:cNvPr id="23" name="Text 21"/>
          <p:cNvSpPr/>
          <p:nvPr/>
        </p:nvSpPr>
        <p:spPr>
          <a:xfrm>
            <a:off x="1070686" y="3885552"/>
            <a:ext cx="2763059" cy="207229"/>
          </a:xfrm>
          <a:prstGeom prst="rect">
            <a:avLst/>
          </a:prstGeom>
          <a:noFill/>
          <a:ln/>
        </p:spPr>
        <p:txBody>
          <a:bodyPr wrap="square" lIns="0" tIns="0" rIns="0" bIns="0" rtlCol="0" anchor="ctr"/>
          <a:lstStyle/>
          <a:p>
            <a:pPr>
              <a:lnSpc>
                <a:spcPct val="130000"/>
              </a:lnSpc>
            </a:pPr>
            <a:r>
              <a:rPr lang="en-US" sz="1088" dirty="0">
                <a:solidFill>
                  <a:srgbClr val="212529"/>
                </a:solidFill>
                <a:latin typeface="Liter" pitchFamily="34" charset="0"/>
                <a:ea typeface="Liter" pitchFamily="34" charset="-122"/>
                <a:cs typeface="Liter" pitchFamily="34" charset="-120"/>
              </a:rPr>
              <a:t>Sept spike (6.19%) → special cause variation</a:t>
            </a:r>
            <a:endParaRPr lang="en-US" sz="1600" dirty="0"/>
          </a:p>
        </p:txBody>
      </p:sp>
      <p:sp>
        <p:nvSpPr>
          <p:cNvPr id="24" name="Shape 22"/>
          <p:cNvSpPr/>
          <p:nvPr/>
        </p:nvSpPr>
        <p:spPr>
          <a:xfrm>
            <a:off x="520952" y="4268351"/>
            <a:ext cx="5307377" cy="627445"/>
          </a:xfrm>
          <a:custGeom>
            <a:avLst/>
            <a:gdLst/>
            <a:ahLst/>
            <a:cxnLst/>
            <a:rect l="l" t="t" r="r" b="b"/>
            <a:pathLst>
              <a:path w="5307377" h="627445">
                <a:moveTo>
                  <a:pt x="69075" y="0"/>
                </a:moveTo>
                <a:lnTo>
                  <a:pt x="5238301" y="0"/>
                </a:lnTo>
                <a:cubicBezTo>
                  <a:pt x="5276451" y="0"/>
                  <a:pt x="5307377" y="30926"/>
                  <a:pt x="5307377" y="69075"/>
                </a:cubicBezTo>
                <a:lnTo>
                  <a:pt x="5307377" y="558369"/>
                </a:lnTo>
                <a:cubicBezTo>
                  <a:pt x="5307377" y="596519"/>
                  <a:pt x="5276451" y="627445"/>
                  <a:pt x="5238301" y="627445"/>
                </a:cubicBezTo>
                <a:lnTo>
                  <a:pt x="69075" y="627445"/>
                </a:lnTo>
                <a:cubicBezTo>
                  <a:pt x="30926" y="627445"/>
                  <a:pt x="0" y="596519"/>
                  <a:pt x="0" y="558369"/>
                </a:cubicBezTo>
                <a:lnTo>
                  <a:pt x="0" y="69075"/>
                </a:lnTo>
                <a:cubicBezTo>
                  <a:pt x="0" y="30926"/>
                  <a:pt x="30926" y="0"/>
                  <a:pt x="69075" y="0"/>
                </a:cubicBezTo>
                <a:close/>
              </a:path>
            </a:pathLst>
          </a:custGeom>
          <a:solidFill>
            <a:srgbClr val="FEF2F2"/>
          </a:solidFill>
          <a:ln w="8467">
            <a:solidFill>
              <a:srgbClr val="FFC9C9"/>
            </a:solidFill>
            <a:prstDash val="solid"/>
          </a:ln>
        </p:spPr>
      </p:sp>
      <p:sp>
        <p:nvSpPr>
          <p:cNvPr id="25" name="Shape 23"/>
          <p:cNvSpPr/>
          <p:nvPr/>
        </p:nvSpPr>
        <p:spPr>
          <a:xfrm>
            <a:off x="627445" y="4374855"/>
            <a:ext cx="345382" cy="345382"/>
          </a:xfrm>
          <a:custGeom>
            <a:avLst/>
            <a:gdLst/>
            <a:ahLst/>
            <a:cxnLst/>
            <a:rect l="l" t="t" r="r" b="b"/>
            <a:pathLst>
              <a:path w="345382" h="345382">
                <a:moveTo>
                  <a:pt x="172691" y="0"/>
                </a:moveTo>
                <a:lnTo>
                  <a:pt x="172691" y="0"/>
                </a:lnTo>
                <a:cubicBezTo>
                  <a:pt x="268002" y="0"/>
                  <a:pt x="345382" y="77380"/>
                  <a:pt x="345382" y="172691"/>
                </a:cubicBezTo>
                <a:lnTo>
                  <a:pt x="345382" y="172691"/>
                </a:lnTo>
                <a:cubicBezTo>
                  <a:pt x="345382" y="268002"/>
                  <a:pt x="268002" y="345382"/>
                  <a:pt x="172691" y="345382"/>
                </a:cubicBezTo>
                <a:lnTo>
                  <a:pt x="172691" y="345382"/>
                </a:lnTo>
                <a:cubicBezTo>
                  <a:pt x="77380" y="345382"/>
                  <a:pt x="0" y="268002"/>
                  <a:pt x="0" y="172691"/>
                </a:cubicBezTo>
                <a:lnTo>
                  <a:pt x="0" y="172691"/>
                </a:lnTo>
                <a:cubicBezTo>
                  <a:pt x="0" y="77380"/>
                  <a:pt x="77380" y="0"/>
                  <a:pt x="172691" y="0"/>
                </a:cubicBezTo>
                <a:close/>
              </a:path>
            </a:pathLst>
          </a:custGeom>
          <a:solidFill>
            <a:srgbClr val="E7000B"/>
          </a:solidFill>
          <a:ln/>
        </p:spPr>
      </p:sp>
      <p:sp>
        <p:nvSpPr>
          <p:cNvPr id="26" name="Shape 24"/>
          <p:cNvSpPr/>
          <p:nvPr/>
        </p:nvSpPr>
        <p:spPr>
          <a:xfrm>
            <a:off x="731060" y="4478470"/>
            <a:ext cx="138153" cy="138153"/>
          </a:xfrm>
          <a:custGeom>
            <a:avLst/>
            <a:gdLst/>
            <a:ahLst/>
            <a:cxnLst/>
            <a:rect l="l" t="t" r="r" b="b"/>
            <a:pathLst>
              <a:path w="138153" h="138153">
                <a:moveTo>
                  <a:pt x="69076" y="138153"/>
                </a:moveTo>
                <a:cubicBezTo>
                  <a:pt x="107201" y="138153"/>
                  <a:pt x="138153" y="107201"/>
                  <a:pt x="138153" y="69076"/>
                </a:cubicBezTo>
                <a:cubicBezTo>
                  <a:pt x="138153" y="30952"/>
                  <a:pt x="107201" y="0"/>
                  <a:pt x="69076" y="0"/>
                </a:cubicBezTo>
                <a:cubicBezTo>
                  <a:pt x="30952" y="0"/>
                  <a:pt x="0" y="30952"/>
                  <a:pt x="0" y="69076"/>
                </a:cubicBezTo>
                <a:cubicBezTo>
                  <a:pt x="0" y="107201"/>
                  <a:pt x="30952" y="138153"/>
                  <a:pt x="69076" y="138153"/>
                </a:cubicBezTo>
                <a:close/>
                <a:moveTo>
                  <a:pt x="45062" y="45062"/>
                </a:moveTo>
                <a:cubicBezTo>
                  <a:pt x="47598" y="42525"/>
                  <a:pt x="51699" y="42525"/>
                  <a:pt x="54209" y="45062"/>
                </a:cubicBezTo>
                <a:lnTo>
                  <a:pt x="69050" y="59902"/>
                </a:lnTo>
                <a:lnTo>
                  <a:pt x="83890" y="45062"/>
                </a:lnTo>
                <a:cubicBezTo>
                  <a:pt x="86427" y="42525"/>
                  <a:pt x="90528" y="42525"/>
                  <a:pt x="93037" y="45062"/>
                </a:cubicBezTo>
                <a:cubicBezTo>
                  <a:pt x="95547" y="47598"/>
                  <a:pt x="95574" y="51699"/>
                  <a:pt x="93037" y="54209"/>
                </a:cubicBezTo>
                <a:lnTo>
                  <a:pt x="78197" y="69050"/>
                </a:lnTo>
                <a:lnTo>
                  <a:pt x="93037" y="83890"/>
                </a:lnTo>
                <a:cubicBezTo>
                  <a:pt x="95574" y="86427"/>
                  <a:pt x="95574" y="90528"/>
                  <a:pt x="93037" y="93037"/>
                </a:cubicBezTo>
                <a:cubicBezTo>
                  <a:pt x="90501" y="95547"/>
                  <a:pt x="86400" y="95574"/>
                  <a:pt x="83890" y="93037"/>
                </a:cubicBezTo>
                <a:lnTo>
                  <a:pt x="69050" y="78197"/>
                </a:lnTo>
                <a:lnTo>
                  <a:pt x="54209" y="93037"/>
                </a:lnTo>
                <a:cubicBezTo>
                  <a:pt x="51672" y="95574"/>
                  <a:pt x="47571" y="95574"/>
                  <a:pt x="45062" y="93037"/>
                </a:cubicBezTo>
                <a:cubicBezTo>
                  <a:pt x="42552" y="90501"/>
                  <a:pt x="42525" y="86400"/>
                  <a:pt x="45062" y="83890"/>
                </a:cubicBezTo>
                <a:lnTo>
                  <a:pt x="59902" y="69050"/>
                </a:lnTo>
                <a:lnTo>
                  <a:pt x="45062" y="54209"/>
                </a:lnTo>
                <a:cubicBezTo>
                  <a:pt x="42525" y="51672"/>
                  <a:pt x="42525" y="47571"/>
                  <a:pt x="45062" y="45062"/>
                </a:cubicBezTo>
                <a:close/>
              </a:path>
            </a:pathLst>
          </a:custGeom>
          <a:solidFill>
            <a:srgbClr val="FFFFFF"/>
          </a:solidFill>
          <a:ln/>
        </p:spPr>
      </p:sp>
      <p:sp>
        <p:nvSpPr>
          <p:cNvPr id="27" name="Text 25"/>
          <p:cNvSpPr/>
          <p:nvPr/>
        </p:nvSpPr>
        <p:spPr>
          <a:xfrm>
            <a:off x="1076442" y="4374855"/>
            <a:ext cx="2823501" cy="207229"/>
          </a:xfrm>
          <a:prstGeom prst="rect">
            <a:avLst/>
          </a:prstGeom>
          <a:noFill/>
          <a:ln/>
        </p:spPr>
        <p:txBody>
          <a:bodyPr wrap="square" lIns="0" tIns="0" rIns="0" bIns="0" rtlCol="0" anchor="ctr"/>
          <a:lstStyle/>
          <a:p>
            <a:pPr>
              <a:lnSpc>
                <a:spcPct val="130000"/>
              </a:lnSpc>
            </a:pPr>
            <a:r>
              <a:rPr lang="en-US" sz="1088" b="1" dirty="0">
                <a:solidFill>
                  <a:srgbClr val="1A3A52"/>
                </a:solidFill>
                <a:latin typeface="Liter" pitchFamily="34" charset="0"/>
                <a:ea typeface="Liter" pitchFamily="34" charset="-122"/>
                <a:cs typeface="Liter" pitchFamily="34" charset="-120"/>
              </a:rPr>
              <a:t>Cp/Cpk</a:t>
            </a:r>
            <a:endParaRPr lang="en-US" sz="1600" dirty="0"/>
          </a:p>
        </p:txBody>
      </p:sp>
      <p:sp>
        <p:nvSpPr>
          <p:cNvPr id="28" name="Text 26"/>
          <p:cNvSpPr/>
          <p:nvPr/>
        </p:nvSpPr>
        <p:spPr>
          <a:xfrm>
            <a:off x="1076442" y="4582085"/>
            <a:ext cx="2823501" cy="207229"/>
          </a:xfrm>
          <a:prstGeom prst="rect">
            <a:avLst/>
          </a:prstGeom>
          <a:noFill/>
          <a:ln/>
        </p:spPr>
        <p:txBody>
          <a:bodyPr wrap="square" lIns="0" tIns="0" rIns="0" bIns="0" rtlCol="0" anchor="ctr"/>
          <a:lstStyle/>
          <a:p>
            <a:pPr>
              <a:lnSpc>
                <a:spcPct val="130000"/>
              </a:lnSpc>
            </a:pPr>
            <a:r>
              <a:rPr lang="en-US" sz="1088" dirty="0">
                <a:solidFill>
                  <a:srgbClr val="212529"/>
                </a:solidFill>
                <a:latin typeface="Liter" pitchFamily="34" charset="0"/>
                <a:ea typeface="Liter" pitchFamily="34" charset="-122"/>
                <a:cs typeface="Liter" pitchFamily="34" charset="-120"/>
              </a:rPr>
              <a:t>Cp = 0.12, Cpk = -0.58 → Process not capable</a:t>
            </a:r>
            <a:endParaRPr lang="en-US" sz="1600" dirty="0"/>
          </a:p>
        </p:txBody>
      </p:sp>
      <p:sp>
        <p:nvSpPr>
          <p:cNvPr id="29" name="Shape 27"/>
          <p:cNvSpPr/>
          <p:nvPr/>
        </p:nvSpPr>
        <p:spPr>
          <a:xfrm>
            <a:off x="518074" y="4967756"/>
            <a:ext cx="5318890" cy="621688"/>
          </a:xfrm>
          <a:custGeom>
            <a:avLst/>
            <a:gdLst/>
            <a:ahLst/>
            <a:cxnLst/>
            <a:rect l="l" t="t" r="r" b="b"/>
            <a:pathLst>
              <a:path w="5318890" h="621688">
                <a:moveTo>
                  <a:pt x="69076" y="0"/>
                </a:moveTo>
                <a:lnTo>
                  <a:pt x="5249814" y="0"/>
                </a:lnTo>
                <a:cubicBezTo>
                  <a:pt x="5287963" y="0"/>
                  <a:pt x="5318890" y="30926"/>
                  <a:pt x="5318890" y="69076"/>
                </a:cubicBezTo>
                <a:lnTo>
                  <a:pt x="5318890" y="552613"/>
                </a:lnTo>
                <a:cubicBezTo>
                  <a:pt x="5318890" y="590762"/>
                  <a:pt x="5287963" y="621688"/>
                  <a:pt x="5249814" y="621688"/>
                </a:cubicBezTo>
                <a:lnTo>
                  <a:pt x="69076" y="621688"/>
                </a:lnTo>
                <a:cubicBezTo>
                  <a:pt x="30952" y="621688"/>
                  <a:pt x="0" y="590737"/>
                  <a:pt x="0" y="552613"/>
                </a:cubicBezTo>
                <a:lnTo>
                  <a:pt x="0" y="69076"/>
                </a:lnTo>
                <a:cubicBezTo>
                  <a:pt x="0" y="30952"/>
                  <a:pt x="30952" y="0"/>
                  <a:pt x="69076" y="0"/>
                </a:cubicBezTo>
                <a:close/>
              </a:path>
            </a:pathLst>
          </a:custGeom>
          <a:solidFill>
            <a:srgbClr val="1A3A52">
              <a:alpha val="5098"/>
            </a:srgbClr>
          </a:solidFill>
          <a:ln/>
        </p:spPr>
      </p:sp>
      <p:sp>
        <p:nvSpPr>
          <p:cNvPr id="30" name="Shape 28"/>
          <p:cNvSpPr/>
          <p:nvPr/>
        </p:nvSpPr>
        <p:spPr>
          <a:xfrm>
            <a:off x="621688" y="5071371"/>
            <a:ext cx="345382" cy="345382"/>
          </a:xfrm>
          <a:custGeom>
            <a:avLst/>
            <a:gdLst/>
            <a:ahLst/>
            <a:cxnLst/>
            <a:rect l="l" t="t" r="r" b="b"/>
            <a:pathLst>
              <a:path w="345382" h="345382">
                <a:moveTo>
                  <a:pt x="172691" y="0"/>
                </a:moveTo>
                <a:lnTo>
                  <a:pt x="172691" y="0"/>
                </a:lnTo>
                <a:cubicBezTo>
                  <a:pt x="268002" y="0"/>
                  <a:pt x="345382" y="77380"/>
                  <a:pt x="345382" y="172691"/>
                </a:cubicBezTo>
                <a:lnTo>
                  <a:pt x="345382" y="172691"/>
                </a:lnTo>
                <a:cubicBezTo>
                  <a:pt x="345382" y="268002"/>
                  <a:pt x="268002" y="345382"/>
                  <a:pt x="172691" y="345382"/>
                </a:cubicBezTo>
                <a:lnTo>
                  <a:pt x="172691" y="345382"/>
                </a:lnTo>
                <a:cubicBezTo>
                  <a:pt x="77380" y="345382"/>
                  <a:pt x="0" y="268002"/>
                  <a:pt x="0" y="172691"/>
                </a:cubicBezTo>
                <a:lnTo>
                  <a:pt x="0" y="172691"/>
                </a:lnTo>
                <a:cubicBezTo>
                  <a:pt x="0" y="77380"/>
                  <a:pt x="77380" y="0"/>
                  <a:pt x="172691" y="0"/>
                </a:cubicBezTo>
                <a:close/>
              </a:path>
            </a:pathLst>
          </a:custGeom>
          <a:solidFill>
            <a:srgbClr val="1A3A52"/>
          </a:solidFill>
          <a:ln/>
        </p:spPr>
      </p:sp>
      <p:sp>
        <p:nvSpPr>
          <p:cNvPr id="31" name="Shape 29"/>
          <p:cNvSpPr/>
          <p:nvPr/>
        </p:nvSpPr>
        <p:spPr>
          <a:xfrm>
            <a:off x="725303" y="5174986"/>
            <a:ext cx="138153" cy="138153"/>
          </a:xfrm>
          <a:custGeom>
            <a:avLst/>
            <a:gdLst/>
            <a:ahLst/>
            <a:cxnLst/>
            <a:rect l="l" t="t" r="r" b="b"/>
            <a:pathLst>
              <a:path w="138153" h="138153">
                <a:moveTo>
                  <a:pt x="17782" y="61656"/>
                </a:moveTo>
                <a:cubicBezTo>
                  <a:pt x="21371" y="36562"/>
                  <a:pt x="42984" y="17269"/>
                  <a:pt x="69076" y="17269"/>
                </a:cubicBezTo>
                <a:cubicBezTo>
                  <a:pt x="83377" y="17269"/>
                  <a:pt x="96329" y="23070"/>
                  <a:pt x="105719" y="32434"/>
                </a:cubicBezTo>
                <a:cubicBezTo>
                  <a:pt x="105773" y="32488"/>
                  <a:pt x="105827" y="32542"/>
                  <a:pt x="105881" y="32595"/>
                </a:cubicBezTo>
                <a:lnTo>
                  <a:pt x="107932" y="34538"/>
                </a:lnTo>
                <a:lnTo>
                  <a:pt x="95007" y="34538"/>
                </a:lnTo>
                <a:cubicBezTo>
                  <a:pt x="90231" y="34538"/>
                  <a:pt x="86373" y="38397"/>
                  <a:pt x="86373" y="43173"/>
                </a:cubicBezTo>
                <a:cubicBezTo>
                  <a:pt x="86373" y="47949"/>
                  <a:pt x="90231" y="51807"/>
                  <a:pt x="95007" y="51807"/>
                </a:cubicBezTo>
                <a:lnTo>
                  <a:pt x="129545" y="51807"/>
                </a:lnTo>
                <a:cubicBezTo>
                  <a:pt x="134321" y="51807"/>
                  <a:pt x="138180" y="47949"/>
                  <a:pt x="138180" y="43173"/>
                </a:cubicBezTo>
                <a:lnTo>
                  <a:pt x="138180" y="8635"/>
                </a:lnTo>
                <a:cubicBezTo>
                  <a:pt x="138180" y="3859"/>
                  <a:pt x="134321" y="0"/>
                  <a:pt x="129545" y="0"/>
                </a:cubicBezTo>
                <a:cubicBezTo>
                  <a:pt x="124769" y="0"/>
                  <a:pt x="120911" y="3859"/>
                  <a:pt x="120911" y="8635"/>
                </a:cubicBezTo>
                <a:lnTo>
                  <a:pt x="120911" y="23043"/>
                </a:lnTo>
                <a:lnTo>
                  <a:pt x="117862" y="20156"/>
                </a:lnTo>
                <a:cubicBezTo>
                  <a:pt x="105369" y="7717"/>
                  <a:pt x="88100" y="0"/>
                  <a:pt x="69076" y="0"/>
                </a:cubicBezTo>
                <a:cubicBezTo>
                  <a:pt x="34268" y="0"/>
                  <a:pt x="5478" y="25742"/>
                  <a:pt x="702" y="59228"/>
                </a:cubicBezTo>
                <a:cubicBezTo>
                  <a:pt x="27" y="63950"/>
                  <a:pt x="3292" y="68321"/>
                  <a:pt x="8014" y="68996"/>
                </a:cubicBezTo>
                <a:cubicBezTo>
                  <a:pt x="12736" y="69670"/>
                  <a:pt x="17107" y="66378"/>
                  <a:pt x="17782" y="61683"/>
                </a:cubicBezTo>
                <a:close/>
                <a:moveTo>
                  <a:pt x="137451" y="78925"/>
                </a:moveTo>
                <a:cubicBezTo>
                  <a:pt x="138126" y="74203"/>
                  <a:pt x="134834" y="69832"/>
                  <a:pt x="130139" y="69157"/>
                </a:cubicBezTo>
                <a:cubicBezTo>
                  <a:pt x="125444" y="68483"/>
                  <a:pt x="121046" y="71775"/>
                  <a:pt x="120371" y="76470"/>
                </a:cubicBezTo>
                <a:cubicBezTo>
                  <a:pt x="116782" y="101564"/>
                  <a:pt x="95169" y="120857"/>
                  <a:pt x="69076" y="120857"/>
                </a:cubicBezTo>
                <a:cubicBezTo>
                  <a:pt x="54775" y="120857"/>
                  <a:pt x="41824" y="115056"/>
                  <a:pt x="32434" y="105692"/>
                </a:cubicBezTo>
                <a:cubicBezTo>
                  <a:pt x="32380" y="105638"/>
                  <a:pt x="32326" y="105584"/>
                  <a:pt x="32272" y="105531"/>
                </a:cubicBezTo>
                <a:lnTo>
                  <a:pt x="30221" y="103588"/>
                </a:lnTo>
                <a:lnTo>
                  <a:pt x="43146" y="103588"/>
                </a:lnTo>
                <a:cubicBezTo>
                  <a:pt x="47922" y="103588"/>
                  <a:pt x="51780" y="99729"/>
                  <a:pt x="51780" y="94953"/>
                </a:cubicBezTo>
                <a:cubicBezTo>
                  <a:pt x="51780" y="90177"/>
                  <a:pt x="47922" y="86319"/>
                  <a:pt x="43146" y="86319"/>
                </a:cubicBezTo>
                <a:lnTo>
                  <a:pt x="8635" y="86346"/>
                </a:lnTo>
                <a:cubicBezTo>
                  <a:pt x="6341" y="86346"/>
                  <a:pt x="4128" y="87263"/>
                  <a:pt x="2509" y="88909"/>
                </a:cubicBezTo>
                <a:cubicBezTo>
                  <a:pt x="890" y="90555"/>
                  <a:pt x="-27" y="92741"/>
                  <a:pt x="0" y="95061"/>
                </a:cubicBezTo>
                <a:lnTo>
                  <a:pt x="270" y="129330"/>
                </a:lnTo>
                <a:cubicBezTo>
                  <a:pt x="297" y="134106"/>
                  <a:pt x="4209" y="137937"/>
                  <a:pt x="8985" y="137883"/>
                </a:cubicBezTo>
                <a:cubicBezTo>
                  <a:pt x="13761" y="137829"/>
                  <a:pt x="17593" y="133944"/>
                  <a:pt x="17539" y="129168"/>
                </a:cubicBezTo>
                <a:lnTo>
                  <a:pt x="17431" y="115271"/>
                </a:lnTo>
                <a:lnTo>
                  <a:pt x="20318" y="117997"/>
                </a:lnTo>
                <a:cubicBezTo>
                  <a:pt x="32811" y="130436"/>
                  <a:pt x="50053" y="138153"/>
                  <a:pt x="69076" y="138153"/>
                </a:cubicBezTo>
                <a:cubicBezTo>
                  <a:pt x="103885" y="138153"/>
                  <a:pt x="132675" y="112411"/>
                  <a:pt x="137451" y="78925"/>
                </a:cubicBezTo>
                <a:close/>
              </a:path>
            </a:pathLst>
          </a:custGeom>
          <a:solidFill>
            <a:srgbClr val="FFFFFF"/>
          </a:solidFill>
          <a:ln/>
        </p:spPr>
      </p:sp>
      <p:sp>
        <p:nvSpPr>
          <p:cNvPr id="32" name="Text 30"/>
          <p:cNvSpPr/>
          <p:nvPr/>
        </p:nvSpPr>
        <p:spPr>
          <a:xfrm>
            <a:off x="1070686" y="5071371"/>
            <a:ext cx="2564465" cy="207229"/>
          </a:xfrm>
          <a:prstGeom prst="rect">
            <a:avLst/>
          </a:prstGeom>
          <a:noFill/>
          <a:ln/>
        </p:spPr>
        <p:txBody>
          <a:bodyPr wrap="square" lIns="0" tIns="0" rIns="0" bIns="0" rtlCol="0" anchor="ctr"/>
          <a:lstStyle/>
          <a:p>
            <a:pPr>
              <a:lnSpc>
                <a:spcPct val="130000"/>
              </a:lnSpc>
            </a:pPr>
            <a:r>
              <a:rPr lang="en-US" sz="1088" b="1" dirty="0">
                <a:solidFill>
                  <a:srgbClr val="1A3A52"/>
                </a:solidFill>
                <a:latin typeface="Liter" pitchFamily="34" charset="0"/>
                <a:ea typeface="Liter" pitchFamily="34" charset="-122"/>
                <a:cs typeface="Liter" pitchFamily="34" charset="-120"/>
              </a:rPr>
              <a:t>DPMO</a:t>
            </a:r>
            <a:endParaRPr lang="en-US" sz="1600" dirty="0"/>
          </a:p>
        </p:txBody>
      </p:sp>
      <p:sp>
        <p:nvSpPr>
          <p:cNvPr id="33" name="Text 31"/>
          <p:cNvSpPr/>
          <p:nvPr/>
        </p:nvSpPr>
        <p:spPr>
          <a:xfrm>
            <a:off x="1070686" y="5278601"/>
            <a:ext cx="2564465" cy="207229"/>
          </a:xfrm>
          <a:prstGeom prst="rect">
            <a:avLst/>
          </a:prstGeom>
          <a:noFill/>
          <a:ln/>
        </p:spPr>
        <p:txBody>
          <a:bodyPr wrap="square" lIns="0" tIns="0" rIns="0" bIns="0" rtlCol="0" anchor="ctr"/>
          <a:lstStyle/>
          <a:p>
            <a:pPr>
              <a:lnSpc>
                <a:spcPct val="130000"/>
              </a:lnSpc>
            </a:pPr>
            <a:r>
              <a:rPr lang="en-US" sz="1088" dirty="0">
                <a:solidFill>
                  <a:srgbClr val="212529"/>
                </a:solidFill>
                <a:latin typeface="Liter" pitchFamily="34" charset="0"/>
                <a:ea typeface="Liter" pitchFamily="34" charset="-122"/>
                <a:cs typeface="Liter" pitchFamily="34" charset="-120"/>
              </a:rPr>
              <a:t>34,300; Yield = 96.57%; Z ≈ 1.8 (baseline)</a:t>
            </a:r>
            <a:endParaRPr lang="en-US" sz="1600" dirty="0"/>
          </a:p>
        </p:txBody>
      </p:sp>
      <p:sp>
        <p:nvSpPr>
          <p:cNvPr id="34" name="Shape 32"/>
          <p:cNvSpPr/>
          <p:nvPr/>
        </p:nvSpPr>
        <p:spPr>
          <a:xfrm>
            <a:off x="520952" y="5661399"/>
            <a:ext cx="5307377" cy="627445"/>
          </a:xfrm>
          <a:custGeom>
            <a:avLst/>
            <a:gdLst/>
            <a:ahLst/>
            <a:cxnLst/>
            <a:rect l="l" t="t" r="r" b="b"/>
            <a:pathLst>
              <a:path w="5307377" h="627445">
                <a:moveTo>
                  <a:pt x="69075" y="0"/>
                </a:moveTo>
                <a:lnTo>
                  <a:pt x="5238301" y="0"/>
                </a:lnTo>
                <a:cubicBezTo>
                  <a:pt x="5276451" y="0"/>
                  <a:pt x="5307377" y="30926"/>
                  <a:pt x="5307377" y="69075"/>
                </a:cubicBezTo>
                <a:lnTo>
                  <a:pt x="5307377" y="558369"/>
                </a:lnTo>
                <a:cubicBezTo>
                  <a:pt x="5307377" y="596519"/>
                  <a:pt x="5276451" y="627445"/>
                  <a:pt x="5238301" y="627445"/>
                </a:cubicBezTo>
                <a:lnTo>
                  <a:pt x="69075" y="627445"/>
                </a:lnTo>
                <a:cubicBezTo>
                  <a:pt x="30926" y="627445"/>
                  <a:pt x="0" y="596519"/>
                  <a:pt x="0" y="558369"/>
                </a:cubicBezTo>
                <a:lnTo>
                  <a:pt x="0" y="69075"/>
                </a:lnTo>
                <a:cubicBezTo>
                  <a:pt x="0" y="30926"/>
                  <a:pt x="30926" y="0"/>
                  <a:pt x="69075" y="0"/>
                </a:cubicBezTo>
                <a:close/>
              </a:path>
            </a:pathLst>
          </a:custGeom>
          <a:solidFill>
            <a:srgbClr val="F0FDF4"/>
          </a:solidFill>
          <a:ln w="8467">
            <a:solidFill>
              <a:srgbClr val="B9F8CF"/>
            </a:solidFill>
            <a:prstDash val="solid"/>
          </a:ln>
        </p:spPr>
      </p:sp>
      <p:sp>
        <p:nvSpPr>
          <p:cNvPr id="35" name="Shape 33"/>
          <p:cNvSpPr/>
          <p:nvPr/>
        </p:nvSpPr>
        <p:spPr>
          <a:xfrm>
            <a:off x="627445" y="5767887"/>
            <a:ext cx="345382" cy="345382"/>
          </a:xfrm>
          <a:custGeom>
            <a:avLst/>
            <a:gdLst/>
            <a:ahLst/>
            <a:cxnLst/>
            <a:rect l="l" t="t" r="r" b="b"/>
            <a:pathLst>
              <a:path w="345382" h="345382">
                <a:moveTo>
                  <a:pt x="172691" y="0"/>
                </a:moveTo>
                <a:lnTo>
                  <a:pt x="172691" y="0"/>
                </a:lnTo>
                <a:cubicBezTo>
                  <a:pt x="268002" y="0"/>
                  <a:pt x="345382" y="77380"/>
                  <a:pt x="345382" y="172691"/>
                </a:cubicBezTo>
                <a:lnTo>
                  <a:pt x="345382" y="172691"/>
                </a:lnTo>
                <a:cubicBezTo>
                  <a:pt x="345382" y="268002"/>
                  <a:pt x="268002" y="345382"/>
                  <a:pt x="172691" y="345382"/>
                </a:cubicBezTo>
                <a:lnTo>
                  <a:pt x="172691" y="345382"/>
                </a:lnTo>
                <a:cubicBezTo>
                  <a:pt x="77380" y="345382"/>
                  <a:pt x="0" y="268002"/>
                  <a:pt x="0" y="172691"/>
                </a:cubicBezTo>
                <a:lnTo>
                  <a:pt x="0" y="172691"/>
                </a:lnTo>
                <a:cubicBezTo>
                  <a:pt x="0" y="77380"/>
                  <a:pt x="77380" y="0"/>
                  <a:pt x="172691" y="0"/>
                </a:cubicBezTo>
                <a:close/>
              </a:path>
            </a:pathLst>
          </a:custGeom>
          <a:solidFill>
            <a:srgbClr val="00A63E"/>
          </a:solidFill>
          <a:ln/>
        </p:spPr>
      </p:sp>
      <p:sp>
        <p:nvSpPr>
          <p:cNvPr id="36" name="Shape 34"/>
          <p:cNvSpPr/>
          <p:nvPr/>
        </p:nvSpPr>
        <p:spPr>
          <a:xfrm>
            <a:off x="739694" y="5871501"/>
            <a:ext cx="120884" cy="138153"/>
          </a:xfrm>
          <a:custGeom>
            <a:avLst/>
            <a:gdLst/>
            <a:ahLst/>
            <a:cxnLst/>
            <a:rect l="l" t="t" r="r" b="b"/>
            <a:pathLst>
              <a:path w="120884" h="138153">
                <a:moveTo>
                  <a:pt x="77711" y="0"/>
                </a:moveTo>
                <a:lnTo>
                  <a:pt x="34538" y="0"/>
                </a:lnTo>
                <a:cubicBezTo>
                  <a:pt x="29762" y="0"/>
                  <a:pt x="25904" y="3859"/>
                  <a:pt x="25904" y="8635"/>
                </a:cubicBezTo>
                <a:cubicBezTo>
                  <a:pt x="25904" y="13411"/>
                  <a:pt x="29762" y="17269"/>
                  <a:pt x="34538" y="17269"/>
                </a:cubicBezTo>
                <a:lnTo>
                  <a:pt x="34538" y="58148"/>
                </a:lnTo>
                <a:lnTo>
                  <a:pt x="2024" y="115029"/>
                </a:lnTo>
                <a:cubicBezTo>
                  <a:pt x="702" y="117376"/>
                  <a:pt x="0" y="119993"/>
                  <a:pt x="0" y="122692"/>
                </a:cubicBezTo>
                <a:cubicBezTo>
                  <a:pt x="0" y="131245"/>
                  <a:pt x="6908" y="138153"/>
                  <a:pt x="15461" y="138153"/>
                </a:cubicBezTo>
                <a:lnTo>
                  <a:pt x="105423" y="138153"/>
                </a:lnTo>
                <a:cubicBezTo>
                  <a:pt x="113949" y="138153"/>
                  <a:pt x="120884" y="131245"/>
                  <a:pt x="120884" y="122692"/>
                </a:cubicBezTo>
                <a:cubicBezTo>
                  <a:pt x="120884" y="119993"/>
                  <a:pt x="120182" y="117349"/>
                  <a:pt x="118860" y="115029"/>
                </a:cubicBezTo>
                <a:lnTo>
                  <a:pt x="86346" y="58148"/>
                </a:lnTo>
                <a:lnTo>
                  <a:pt x="86346" y="17269"/>
                </a:lnTo>
                <a:cubicBezTo>
                  <a:pt x="91122" y="17269"/>
                  <a:pt x="94980" y="13411"/>
                  <a:pt x="94980" y="8635"/>
                </a:cubicBezTo>
                <a:cubicBezTo>
                  <a:pt x="94980" y="3859"/>
                  <a:pt x="91122" y="0"/>
                  <a:pt x="86346" y="0"/>
                </a:cubicBezTo>
                <a:lnTo>
                  <a:pt x="77711" y="0"/>
                </a:lnTo>
                <a:close/>
                <a:moveTo>
                  <a:pt x="51807" y="58148"/>
                </a:moveTo>
                <a:lnTo>
                  <a:pt x="51807" y="17269"/>
                </a:lnTo>
                <a:lnTo>
                  <a:pt x="69076" y="17269"/>
                </a:lnTo>
                <a:lnTo>
                  <a:pt x="69076" y="58148"/>
                </a:lnTo>
                <a:cubicBezTo>
                  <a:pt x="69076" y="61143"/>
                  <a:pt x="69859" y="64112"/>
                  <a:pt x="71343" y="66729"/>
                </a:cubicBezTo>
                <a:lnTo>
                  <a:pt x="82568" y="86346"/>
                </a:lnTo>
                <a:lnTo>
                  <a:pt x="38316" y="86346"/>
                </a:lnTo>
                <a:lnTo>
                  <a:pt x="49541" y="66729"/>
                </a:lnTo>
                <a:cubicBezTo>
                  <a:pt x="51025" y="64112"/>
                  <a:pt x="51807" y="61170"/>
                  <a:pt x="51807" y="58148"/>
                </a:cubicBezTo>
                <a:close/>
              </a:path>
            </a:pathLst>
          </a:custGeom>
          <a:solidFill>
            <a:srgbClr val="FFFFFF"/>
          </a:solidFill>
          <a:ln/>
        </p:spPr>
      </p:sp>
      <p:sp>
        <p:nvSpPr>
          <p:cNvPr id="37" name="Text 35"/>
          <p:cNvSpPr/>
          <p:nvPr/>
        </p:nvSpPr>
        <p:spPr>
          <a:xfrm>
            <a:off x="1076442" y="5767887"/>
            <a:ext cx="2270890" cy="207229"/>
          </a:xfrm>
          <a:prstGeom prst="rect">
            <a:avLst/>
          </a:prstGeom>
          <a:noFill/>
          <a:ln/>
        </p:spPr>
        <p:txBody>
          <a:bodyPr wrap="square" lIns="0" tIns="0" rIns="0" bIns="0" rtlCol="0" anchor="ctr"/>
          <a:lstStyle/>
          <a:p>
            <a:pPr>
              <a:lnSpc>
                <a:spcPct val="130000"/>
              </a:lnSpc>
            </a:pPr>
            <a:r>
              <a:rPr lang="en-US" sz="1088" b="1" dirty="0">
                <a:solidFill>
                  <a:srgbClr val="1A3A52"/>
                </a:solidFill>
                <a:latin typeface="Liter" pitchFamily="34" charset="0"/>
                <a:ea typeface="Liter" pitchFamily="34" charset="-122"/>
                <a:cs typeface="Liter" pitchFamily="34" charset="-120"/>
              </a:rPr>
              <a:t>Hypothesis Test</a:t>
            </a:r>
            <a:endParaRPr lang="en-US" sz="1600" dirty="0"/>
          </a:p>
        </p:txBody>
      </p:sp>
      <p:sp>
        <p:nvSpPr>
          <p:cNvPr id="38" name="Text 36"/>
          <p:cNvSpPr/>
          <p:nvPr/>
        </p:nvSpPr>
        <p:spPr>
          <a:xfrm>
            <a:off x="1076442" y="5975116"/>
            <a:ext cx="2270890" cy="207229"/>
          </a:xfrm>
          <a:prstGeom prst="rect">
            <a:avLst/>
          </a:prstGeom>
          <a:noFill/>
          <a:ln/>
        </p:spPr>
        <p:txBody>
          <a:bodyPr wrap="square" lIns="0" tIns="0" rIns="0" bIns="0" rtlCol="0" anchor="ctr"/>
          <a:lstStyle/>
          <a:p>
            <a:pPr>
              <a:lnSpc>
                <a:spcPct val="130000"/>
              </a:lnSpc>
            </a:pPr>
            <a:r>
              <a:rPr lang="en-US" sz="1088" dirty="0">
                <a:solidFill>
                  <a:srgbClr val="212529"/>
                </a:solidFill>
                <a:latin typeface="Liter" pitchFamily="34" charset="0"/>
                <a:ea typeface="Liter" pitchFamily="34" charset="-122"/>
                <a:cs typeface="Liter" pitchFamily="34" charset="-120"/>
              </a:rPr>
              <a:t>Attrition significantly &gt; 1% (p &gt; 0.05)</a:t>
            </a:r>
            <a:endParaRPr lang="en-US" sz="1600" dirty="0"/>
          </a:p>
        </p:txBody>
      </p:sp>
      <p:sp>
        <p:nvSpPr>
          <p:cNvPr id="39" name="Shape 37"/>
          <p:cNvSpPr/>
          <p:nvPr/>
        </p:nvSpPr>
        <p:spPr>
          <a:xfrm>
            <a:off x="6180367" y="1623298"/>
            <a:ext cx="5384188" cy="3471094"/>
          </a:xfrm>
          <a:custGeom>
            <a:avLst/>
            <a:gdLst/>
            <a:ahLst/>
            <a:cxnLst/>
            <a:rect l="l" t="t" r="r" b="b"/>
            <a:pathLst>
              <a:path w="5664272" h="3643785">
                <a:moveTo>
                  <a:pt x="69086" y="0"/>
                </a:moveTo>
                <a:lnTo>
                  <a:pt x="5595186" y="0"/>
                </a:lnTo>
                <a:cubicBezTo>
                  <a:pt x="5633341" y="0"/>
                  <a:pt x="5664272" y="30931"/>
                  <a:pt x="5664272" y="69086"/>
                </a:cubicBezTo>
                <a:lnTo>
                  <a:pt x="5664272" y="3574699"/>
                </a:lnTo>
                <a:cubicBezTo>
                  <a:pt x="5664272" y="3612854"/>
                  <a:pt x="5633341" y="3643785"/>
                  <a:pt x="5595186" y="3643785"/>
                </a:cubicBezTo>
                <a:lnTo>
                  <a:pt x="69086" y="3643785"/>
                </a:lnTo>
                <a:cubicBezTo>
                  <a:pt x="30931" y="3643785"/>
                  <a:pt x="0" y="3612854"/>
                  <a:pt x="0" y="3574699"/>
                </a:cubicBezTo>
                <a:lnTo>
                  <a:pt x="0" y="69086"/>
                </a:lnTo>
                <a:cubicBezTo>
                  <a:pt x="0" y="30931"/>
                  <a:pt x="30931" y="0"/>
                  <a:pt x="69086" y="0"/>
                </a:cubicBezTo>
                <a:close/>
              </a:path>
            </a:pathLst>
          </a:custGeom>
          <a:solidFill>
            <a:srgbClr val="FFFFFF"/>
          </a:solidFill>
          <a:ln/>
          <a:effectLst>
            <a:outerShdw blurRad="129518" dist="86346" dir="5400000" algn="bl" rotWithShape="0">
              <a:srgbClr val="000000">
                <a:alpha val="10196"/>
              </a:srgbClr>
            </a:outerShdw>
          </a:effectLst>
        </p:spPr>
      </p:sp>
      <p:sp>
        <p:nvSpPr>
          <p:cNvPr id="40" name="Shape 38"/>
          <p:cNvSpPr/>
          <p:nvPr/>
        </p:nvSpPr>
        <p:spPr>
          <a:xfrm>
            <a:off x="6387597" y="1795989"/>
            <a:ext cx="259037" cy="259037"/>
          </a:xfrm>
          <a:custGeom>
            <a:avLst/>
            <a:gdLst/>
            <a:ahLst/>
            <a:cxnLst/>
            <a:rect l="l" t="t" r="r" b="b"/>
            <a:pathLst>
              <a:path w="259037" h="259037">
                <a:moveTo>
                  <a:pt x="97139" y="32380"/>
                </a:moveTo>
                <a:cubicBezTo>
                  <a:pt x="97139" y="23425"/>
                  <a:pt x="104374" y="16190"/>
                  <a:pt x="113329" y="16190"/>
                </a:cubicBezTo>
                <a:lnTo>
                  <a:pt x="145708" y="16190"/>
                </a:lnTo>
                <a:cubicBezTo>
                  <a:pt x="154663" y="16190"/>
                  <a:pt x="161898" y="23425"/>
                  <a:pt x="161898" y="32380"/>
                </a:cubicBezTo>
                <a:lnTo>
                  <a:pt x="161898" y="64759"/>
                </a:lnTo>
                <a:cubicBezTo>
                  <a:pt x="161898" y="73714"/>
                  <a:pt x="154663" y="80949"/>
                  <a:pt x="145708" y="80949"/>
                </a:cubicBezTo>
                <a:lnTo>
                  <a:pt x="141661" y="80949"/>
                </a:lnTo>
                <a:lnTo>
                  <a:pt x="141661" y="113329"/>
                </a:lnTo>
                <a:lnTo>
                  <a:pt x="202373" y="113329"/>
                </a:lnTo>
                <a:cubicBezTo>
                  <a:pt x="222509" y="113329"/>
                  <a:pt x="238800" y="129620"/>
                  <a:pt x="238800" y="149756"/>
                </a:cubicBezTo>
                <a:lnTo>
                  <a:pt x="238800" y="178088"/>
                </a:lnTo>
                <a:lnTo>
                  <a:pt x="242847" y="178088"/>
                </a:lnTo>
                <a:cubicBezTo>
                  <a:pt x="251802" y="178088"/>
                  <a:pt x="259037" y="185323"/>
                  <a:pt x="259037" y="194278"/>
                </a:cubicBezTo>
                <a:lnTo>
                  <a:pt x="259037" y="226657"/>
                </a:lnTo>
                <a:cubicBezTo>
                  <a:pt x="259037" y="235612"/>
                  <a:pt x="251802" y="242847"/>
                  <a:pt x="242847" y="242847"/>
                </a:cubicBezTo>
                <a:lnTo>
                  <a:pt x="210467" y="242847"/>
                </a:lnTo>
                <a:cubicBezTo>
                  <a:pt x="201512" y="242847"/>
                  <a:pt x="194278" y="235612"/>
                  <a:pt x="194278" y="226657"/>
                </a:cubicBezTo>
                <a:lnTo>
                  <a:pt x="194278" y="194278"/>
                </a:lnTo>
                <a:cubicBezTo>
                  <a:pt x="194278" y="185323"/>
                  <a:pt x="201512" y="178088"/>
                  <a:pt x="210467" y="178088"/>
                </a:cubicBezTo>
                <a:lnTo>
                  <a:pt x="214515" y="178088"/>
                </a:lnTo>
                <a:lnTo>
                  <a:pt x="214515" y="149756"/>
                </a:lnTo>
                <a:cubicBezTo>
                  <a:pt x="214515" y="143027"/>
                  <a:pt x="209101" y="137613"/>
                  <a:pt x="202373" y="137613"/>
                </a:cubicBezTo>
                <a:lnTo>
                  <a:pt x="141661" y="137613"/>
                </a:lnTo>
                <a:lnTo>
                  <a:pt x="141661" y="178088"/>
                </a:lnTo>
                <a:lnTo>
                  <a:pt x="145708" y="178088"/>
                </a:lnTo>
                <a:cubicBezTo>
                  <a:pt x="154663" y="178088"/>
                  <a:pt x="161898" y="185323"/>
                  <a:pt x="161898" y="194278"/>
                </a:cubicBezTo>
                <a:lnTo>
                  <a:pt x="161898" y="226657"/>
                </a:lnTo>
                <a:cubicBezTo>
                  <a:pt x="161898" y="235612"/>
                  <a:pt x="154663" y="242847"/>
                  <a:pt x="145708" y="242847"/>
                </a:cubicBezTo>
                <a:lnTo>
                  <a:pt x="113329" y="242847"/>
                </a:lnTo>
                <a:cubicBezTo>
                  <a:pt x="104374" y="242847"/>
                  <a:pt x="97139" y="235612"/>
                  <a:pt x="97139" y="226657"/>
                </a:cubicBezTo>
                <a:lnTo>
                  <a:pt x="97139" y="194278"/>
                </a:lnTo>
                <a:cubicBezTo>
                  <a:pt x="97139" y="185323"/>
                  <a:pt x="104374" y="178088"/>
                  <a:pt x="113329" y="178088"/>
                </a:cubicBezTo>
                <a:lnTo>
                  <a:pt x="117376" y="178088"/>
                </a:lnTo>
                <a:lnTo>
                  <a:pt x="117376" y="137613"/>
                </a:lnTo>
                <a:lnTo>
                  <a:pt x="56664" y="137613"/>
                </a:lnTo>
                <a:cubicBezTo>
                  <a:pt x="49935" y="137613"/>
                  <a:pt x="44522" y="143027"/>
                  <a:pt x="44522" y="149756"/>
                </a:cubicBezTo>
                <a:lnTo>
                  <a:pt x="44522" y="178088"/>
                </a:lnTo>
                <a:lnTo>
                  <a:pt x="48569" y="178088"/>
                </a:lnTo>
                <a:cubicBezTo>
                  <a:pt x="57524" y="178088"/>
                  <a:pt x="64759" y="185323"/>
                  <a:pt x="64759" y="194278"/>
                </a:cubicBezTo>
                <a:lnTo>
                  <a:pt x="64759" y="226657"/>
                </a:lnTo>
                <a:cubicBezTo>
                  <a:pt x="64759" y="235612"/>
                  <a:pt x="57524" y="242847"/>
                  <a:pt x="48569" y="242847"/>
                </a:cubicBezTo>
                <a:lnTo>
                  <a:pt x="16190" y="242847"/>
                </a:lnTo>
                <a:cubicBezTo>
                  <a:pt x="7235" y="242847"/>
                  <a:pt x="0" y="235612"/>
                  <a:pt x="0" y="226657"/>
                </a:cubicBezTo>
                <a:lnTo>
                  <a:pt x="0" y="194278"/>
                </a:lnTo>
                <a:cubicBezTo>
                  <a:pt x="0" y="185323"/>
                  <a:pt x="7235" y="178088"/>
                  <a:pt x="16190" y="178088"/>
                </a:cubicBezTo>
                <a:lnTo>
                  <a:pt x="20237" y="178088"/>
                </a:lnTo>
                <a:lnTo>
                  <a:pt x="20237" y="149756"/>
                </a:lnTo>
                <a:cubicBezTo>
                  <a:pt x="20237" y="129620"/>
                  <a:pt x="36528" y="113329"/>
                  <a:pt x="56664" y="113329"/>
                </a:cubicBezTo>
                <a:lnTo>
                  <a:pt x="117376" y="113329"/>
                </a:lnTo>
                <a:lnTo>
                  <a:pt x="117376" y="80949"/>
                </a:lnTo>
                <a:lnTo>
                  <a:pt x="113329" y="80949"/>
                </a:lnTo>
                <a:cubicBezTo>
                  <a:pt x="104374" y="80949"/>
                  <a:pt x="97139" y="73714"/>
                  <a:pt x="97139" y="64759"/>
                </a:cubicBezTo>
                <a:lnTo>
                  <a:pt x="97139" y="32380"/>
                </a:lnTo>
                <a:close/>
              </a:path>
            </a:pathLst>
          </a:custGeom>
          <a:solidFill>
            <a:srgbClr val="C5A56A"/>
          </a:solidFill>
          <a:ln/>
        </p:spPr>
      </p:sp>
      <p:sp>
        <p:nvSpPr>
          <p:cNvPr id="41" name="Text 39"/>
          <p:cNvSpPr/>
          <p:nvPr/>
        </p:nvSpPr>
        <p:spPr>
          <a:xfrm>
            <a:off x="6780469" y="1804623"/>
            <a:ext cx="2305428" cy="241768"/>
          </a:xfrm>
          <a:prstGeom prst="rect">
            <a:avLst/>
          </a:prstGeom>
          <a:noFill/>
          <a:ln/>
        </p:spPr>
        <p:txBody>
          <a:bodyPr wrap="square" lIns="0" tIns="0" rIns="0" bIns="0" rtlCol="0" anchor="ctr"/>
          <a:lstStyle/>
          <a:p>
            <a:pPr>
              <a:lnSpc>
                <a:spcPct val="120000"/>
              </a:lnSpc>
            </a:pPr>
            <a:r>
              <a:rPr lang="en-US" sz="1360" b="1" dirty="0">
                <a:solidFill>
                  <a:srgbClr val="1A3A52"/>
                </a:solidFill>
                <a:latin typeface="Liter" pitchFamily="34" charset="0"/>
                <a:ea typeface="Liter" pitchFamily="34" charset="-122"/>
                <a:cs typeface="Liter" pitchFamily="34" charset="-120"/>
              </a:rPr>
              <a:t>Why-Why Analysis Summary</a:t>
            </a:r>
            <a:endParaRPr lang="en-US" sz="1600" dirty="0"/>
          </a:p>
        </p:txBody>
      </p:sp>
      <p:sp>
        <p:nvSpPr>
          <p:cNvPr id="42" name="Shape 40"/>
          <p:cNvSpPr/>
          <p:nvPr/>
        </p:nvSpPr>
        <p:spPr>
          <a:xfrm>
            <a:off x="6353058" y="2193178"/>
            <a:ext cx="5122273" cy="1329722"/>
          </a:xfrm>
          <a:custGeom>
            <a:avLst/>
            <a:gdLst/>
            <a:ahLst/>
            <a:cxnLst/>
            <a:rect l="l" t="t" r="r" b="b"/>
            <a:pathLst>
              <a:path w="5318890" h="1381530">
                <a:moveTo>
                  <a:pt x="69076" y="0"/>
                </a:moveTo>
                <a:lnTo>
                  <a:pt x="5249813" y="0"/>
                </a:lnTo>
                <a:cubicBezTo>
                  <a:pt x="5287963" y="0"/>
                  <a:pt x="5318890" y="30927"/>
                  <a:pt x="5318890" y="69076"/>
                </a:cubicBezTo>
                <a:lnTo>
                  <a:pt x="5318890" y="1312453"/>
                </a:lnTo>
                <a:cubicBezTo>
                  <a:pt x="5318890" y="1350603"/>
                  <a:pt x="5287963" y="1381530"/>
                  <a:pt x="5249813" y="1381530"/>
                </a:cubicBezTo>
                <a:lnTo>
                  <a:pt x="69076" y="1381530"/>
                </a:lnTo>
                <a:cubicBezTo>
                  <a:pt x="30927" y="1381530"/>
                  <a:pt x="0" y="1350603"/>
                  <a:pt x="0" y="1312453"/>
                </a:cubicBezTo>
                <a:lnTo>
                  <a:pt x="0" y="69076"/>
                </a:lnTo>
                <a:cubicBezTo>
                  <a:pt x="0" y="30952"/>
                  <a:pt x="30952" y="0"/>
                  <a:pt x="69076" y="0"/>
                </a:cubicBezTo>
                <a:close/>
              </a:path>
            </a:pathLst>
          </a:custGeom>
          <a:solidFill>
            <a:srgbClr val="1A3A52"/>
          </a:solidFill>
          <a:ln/>
        </p:spPr>
      </p:sp>
      <p:sp>
        <p:nvSpPr>
          <p:cNvPr id="43" name="Shape 41"/>
          <p:cNvSpPr/>
          <p:nvPr/>
        </p:nvSpPr>
        <p:spPr>
          <a:xfrm>
            <a:off x="6491211" y="2383139"/>
            <a:ext cx="172691" cy="138153"/>
          </a:xfrm>
          <a:custGeom>
            <a:avLst/>
            <a:gdLst/>
            <a:ahLst/>
            <a:cxnLst/>
            <a:rect l="l" t="t" r="r" b="b"/>
            <a:pathLst>
              <a:path w="172691" h="138153">
                <a:moveTo>
                  <a:pt x="36697" y="34538"/>
                </a:moveTo>
                <a:cubicBezTo>
                  <a:pt x="36697" y="16667"/>
                  <a:pt x="51206" y="2159"/>
                  <a:pt x="69076" y="2159"/>
                </a:cubicBezTo>
                <a:cubicBezTo>
                  <a:pt x="86947" y="2159"/>
                  <a:pt x="101456" y="16667"/>
                  <a:pt x="101456" y="34538"/>
                </a:cubicBezTo>
                <a:cubicBezTo>
                  <a:pt x="101456" y="52409"/>
                  <a:pt x="86947" y="66918"/>
                  <a:pt x="69076" y="66918"/>
                </a:cubicBezTo>
                <a:cubicBezTo>
                  <a:pt x="51206" y="66918"/>
                  <a:pt x="36697" y="52409"/>
                  <a:pt x="36697" y="34538"/>
                </a:cubicBezTo>
                <a:close/>
                <a:moveTo>
                  <a:pt x="12952" y="130139"/>
                </a:moveTo>
                <a:cubicBezTo>
                  <a:pt x="12952" y="103561"/>
                  <a:pt x="34484" y="82028"/>
                  <a:pt x="61063" y="82028"/>
                </a:cubicBezTo>
                <a:lnTo>
                  <a:pt x="77090" y="82028"/>
                </a:lnTo>
                <a:cubicBezTo>
                  <a:pt x="103669" y="82028"/>
                  <a:pt x="125201" y="103561"/>
                  <a:pt x="125201" y="130139"/>
                </a:cubicBezTo>
                <a:cubicBezTo>
                  <a:pt x="125201" y="134564"/>
                  <a:pt x="121612" y="138153"/>
                  <a:pt x="117187" y="138153"/>
                </a:cubicBezTo>
                <a:lnTo>
                  <a:pt x="20966" y="138153"/>
                </a:lnTo>
                <a:cubicBezTo>
                  <a:pt x="16541" y="138153"/>
                  <a:pt x="12952" y="134564"/>
                  <a:pt x="12952" y="130139"/>
                </a:cubicBezTo>
                <a:close/>
                <a:moveTo>
                  <a:pt x="127360" y="45331"/>
                </a:moveTo>
                <a:lnTo>
                  <a:pt x="166215" y="45331"/>
                </a:lnTo>
                <a:cubicBezTo>
                  <a:pt x="169804" y="45331"/>
                  <a:pt x="172691" y="48219"/>
                  <a:pt x="172691" y="51807"/>
                </a:cubicBezTo>
                <a:cubicBezTo>
                  <a:pt x="172691" y="55396"/>
                  <a:pt x="169804" y="58283"/>
                  <a:pt x="166215" y="58283"/>
                </a:cubicBezTo>
                <a:lnTo>
                  <a:pt x="127360" y="58283"/>
                </a:lnTo>
                <a:cubicBezTo>
                  <a:pt x="123771" y="58283"/>
                  <a:pt x="120884" y="55396"/>
                  <a:pt x="120884" y="51807"/>
                </a:cubicBezTo>
                <a:cubicBezTo>
                  <a:pt x="120884" y="48219"/>
                  <a:pt x="123771" y="45331"/>
                  <a:pt x="127360" y="45331"/>
                </a:cubicBezTo>
                <a:close/>
              </a:path>
            </a:pathLst>
          </a:custGeom>
          <a:solidFill>
            <a:srgbClr val="C5A56A"/>
          </a:solidFill>
          <a:ln/>
        </p:spPr>
      </p:sp>
      <p:sp>
        <p:nvSpPr>
          <p:cNvPr id="44" name="Text 42"/>
          <p:cNvSpPr/>
          <p:nvPr/>
        </p:nvSpPr>
        <p:spPr>
          <a:xfrm>
            <a:off x="6732979" y="2331331"/>
            <a:ext cx="1856431" cy="241768"/>
          </a:xfrm>
          <a:prstGeom prst="rect">
            <a:avLst/>
          </a:prstGeom>
          <a:noFill/>
          <a:ln/>
        </p:spPr>
        <p:txBody>
          <a:bodyPr wrap="square" lIns="0" tIns="0" rIns="0" bIns="0" rtlCol="0" anchor="ctr"/>
          <a:lstStyle/>
          <a:p>
            <a:pPr>
              <a:lnSpc>
                <a:spcPct val="130000"/>
              </a:lnSpc>
            </a:pPr>
            <a:r>
              <a:rPr lang="en-US" sz="1224" b="1" dirty="0">
                <a:solidFill>
                  <a:srgbClr val="FFFFFF"/>
                </a:solidFill>
                <a:latin typeface="Liter" pitchFamily="34" charset="0"/>
                <a:ea typeface="Liter" pitchFamily="34" charset="-122"/>
                <a:cs typeface="Liter" pitchFamily="34" charset="-120"/>
              </a:rPr>
              <a:t>Resignations Root Causes</a:t>
            </a:r>
            <a:endParaRPr lang="en-US" sz="1600" dirty="0"/>
          </a:p>
        </p:txBody>
      </p:sp>
      <p:sp>
        <p:nvSpPr>
          <p:cNvPr id="45" name="Shape 43"/>
          <p:cNvSpPr/>
          <p:nvPr/>
        </p:nvSpPr>
        <p:spPr>
          <a:xfrm>
            <a:off x="6543019" y="2711252"/>
            <a:ext cx="69076" cy="138153"/>
          </a:xfrm>
          <a:custGeom>
            <a:avLst/>
            <a:gdLst/>
            <a:ahLst/>
            <a:cxnLst/>
            <a:rect l="l" t="t" r="r" b="b"/>
            <a:pathLst>
              <a:path w="69076" h="138153">
                <a:moveTo>
                  <a:pt x="66675" y="62978"/>
                </a:moveTo>
                <a:cubicBezTo>
                  <a:pt x="70048" y="66351"/>
                  <a:pt x="70048" y="71829"/>
                  <a:pt x="66675" y="75202"/>
                </a:cubicBezTo>
                <a:lnTo>
                  <a:pt x="23502" y="118374"/>
                </a:lnTo>
                <a:cubicBezTo>
                  <a:pt x="20129" y="121747"/>
                  <a:pt x="14652" y="121747"/>
                  <a:pt x="11279" y="118374"/>
                </a:cubicBezTo>
                <a:cubicBezTo>
                  <a:pt x="7906" y="115002"/>
                  <a:pt x="7906" y="109524"/>
                  <a:pt x="11279" y="106151"/>
                </a:cubicBezTo>
                <a:lnTo>
                  <a:pt x="48354" y="69076"/>
                </a:lnTo>
                <a:lnTo>
                  <a:pt x="11306" y="32002"/>
                </a:lnTo>
                <a:cubicBezTo>
                  <a:pt x="7933" y="28629"/>
                  <a:pt x="7933" y="23151"/>
                  <a:pt x="11306" y="19779"/>
                </a:cubicBezTo>
                <a:cubicBezTo>
                  <a:pt x="14679" y="16406"/>
                  <a:pt x="20156" y="16406"/>
                  <a:pt x="23529" y="19779"/>
                </a:cubicBezTo>
                <a:lnTo>
                  <a:pt x="66702" y="62951"/>
                </a:lnTo>
                <a:close/>
              </a:path>
            </a:pathLst>
          </a:custGeom>
          <a:solidFill>
            <a:srgbClr val="C5A56A"/>
          </a:solidFill>
          <a:ln/>
        </p:spPr>
      </p:sp>
      <p:sp>
        <p:nvSpPr>
          <p:cNvPr id="46" name="Text 44"/>
          <p:cNvSpPr/>
          <p:nvPr/>
        </p:nvSpPr>
        <p:spPr>
          <a:xfrm>
            <a:off x="6732979" y="2676714"/>
            <a:ext cx="2210448" cy="207229"/>
          </a:xfrm>
          <a:prstGeom prst="rect">
            <a:avLst/>
          </a:prstGeom>
          <a:noFill/>
          <a:ln/>
        </p:spPr>
        <p:txBody>
          <a:bodyPr wrap="square" lIns="0" tIns="0" rIns="0" bIns="0" rtlCol="0" anchor="ctr"/>
          <a:lstStyle/>
          <a:p>
            <a:pPr>
              <a:lnSpc>
                <a:spcPct val="130000"/>
              </a:lnSpc>
            </a:pPr>
            <a:r>
              <a:rPr lang="en-US" sz="1088" dirty="0">
                <a:solidFill>
                  <a:srgbClr val="FFFFFF"/>
                </a:solidFill>
                <a:latin typeface="Liter" pitchFamily="34" charset="0"/>
                <a:ea typeface="Liter" pitchFamily="34" charset="-122"/>
                <a:cs typeface="Liter" pitchFamily="34" charset="-120"/>
              </a:rPr>
              <a:t>Slow promotions (2 yrs vs 1-1.5 yrs)</a:t>
            </a:r>
            <a:endParaRPr lang="en-US" sz="1600" dirty="0"/>
          </a:p>
        </p:txBody>
      </p:sp>
      <p:sp>
        <p:nvSpPr>
          <p:cNvPr id="47" name="Shape 45"/>
          <p:cNvSpPr/>
          <p:nvPr/>
        </p:nvSpPr>
        <p:spPr>
          <a:xfrm>
            <a:off x="6543019" y="2987558"/>
            <a:ext cx="69076" cy="138153"/>
          </a:xfrm>
          <a:custGeom>
            <a:avLst/>
            <a:gdLst/>
            <a:ahLst/>
            <a:cxnLst/>
            <a:rect l="l" t="t" r="r" b="b"/>
            <a:pathLst>
              <a:path w="69076" h="138153">
                <a:moveTo>
                  <a:pt x="66675" y="62978"/>
                </a:moveTo>
                <a:cubicBezTo>
                  <a:pt x="70048" y="66351"/>
                  <a:pt x="70048" y="71829"/>
                  <a:pt x="66675" y="75202"/>
                </a:cubicBezTo>
                <a:lnTo>
                  <a:pt x="23502" y="118374"/>
                </a:lnTo>
                <a:cubicBezTo>
                  <a:pt x="20129" y="121747"/>
                  <a:pt x="14652" y="121747"/>
                  <a:pt x="11279" y="118374"/>
                </a:cubicBezTo>
                <a:cubicBezTo>
                  <a:pt x="7906" y="115002"/>
                  <a:pt x="7906" y="109524"/>
                  <a:pt x="11279" y="106151"/>
                </a:cubicBezTo>
                <a:lnTo>
                  <a:pt x="48354" y="69076"/>
                </a:lnTo>
                <a:lnTo>
                  <a:pt x="11306" y="32002"/>
                </a:lnTo>
                <a:cubicBezTo>
                  <a:pt x="7933" y="28629"/>
                  <a:pt x="7933" y="23151"/>
                  <a:pt x="11306" y="19779"/>
                </a:cubicBezTo>
                <a:cubicBezTo>
                  <a:pt x="14679" y="16406"/>
                  <a:pt x="20156" y="16406"/>
                  <a:pt x="23529" y="19779"/>
                </a:cubicBezTo>
                <a:lnTo>
                  <a:pt x="66702" y="62951"/>
                </a:lnTo>
                <a:close/>
              </a:path>
            </a:pathLst>
          </a:custGeom>
          <a:solidFill>
            <a:srgbClr val="C5A56A"/>
          </a:solidFill>
          <a:ln/>
        </p:spPr>
      </p:sp>
      <p:sp>
        <p:nvSpPr>
          <p:cNvPr id="48" name="Text 46"/>
          <p:cNvSpPr/>
          <p:nvPr/>
        </p:nvSpPr>
        <p:spPr>
          <a:xfrm>
            <a:off x="6732979" y="2953020"/>
            <a:ext cx="2348601" cy="207229"/>
          </a:xfrm>
          <a:prstGeom prst="rect">
            <a:avLst/>
          </a:prstGeom>
          <a:noFill/>
          <a:ln/>
        </p:spPr>
        <p:txBody>
          <a:bodyPr wrap="square" lIns="0" tIns="0" rIns="0" bIns="0" rtlCol="0" anchor="ctr"/>
          <a:lstStyle/>
          <a:p>
            <a:pPr>
              <a:lnSpc>
                <a:spcPct val="130000"/>
              </a:lnSpc>
            </a:pPr>
            <a:r>
              <a:rPr lang="en-US" sz="1088" dirty="0">
                <a:solidFill>
                  <a:srgbClr val="FFFFFF"/>
                </a:solidFill>
                <a:latin typeface="Liter" pitchFamily="34" charset="0"/>
                <a:ea typeface="Liter" pitchFamily="34" charset="-122"/>
                <a:cs typeface="Liter" pitchFamily="34" charset="-120"/>
              </a:rPr>
              <a:t>Delayed increments (August reviews)</a:t>
            </a:r>
            <a:endParaRPr lang="en-US" sz="1600" dirty="0"/>
          </a:p>
        </p:txBody>
      </p:sp>
      <p:sp>
        <p:nvSpPr>
          <p:cNvPr id="49" name="Shape 47"/>
          <p:cNvSpPr/>
          <p:nvPr/>
        </p:nvSpPr>
        <p:spPr>
          <a:xfrm>
            <a:off x="6543019" y="3263864"/>
            <a:ext cx="69076" cy="138153"/>
          </a:xfrm>
          <a:custGeom>
            <a:avLst/>
            <a:gdLst/>
            <a:ahLst/>
            <a:cxnLst/>
            <a:rect l="l" t="t" r="r" b="b"/>
            <a:pathLst>
              <a:path w="69076" h="138153">
                <a:moveTo>
                  <a:pt x="66675" y="62978"/>
                </a:moveTo>
                <a:cubicBezTo>
                  <a:pt x="70048" y="66351"/>
                  <a:pt x="70048" y="71829"/>
                  <a:pt x="66675" y="75202"/>
                </a:cubicBezTo>
                <a:lnTo>
                  <a:pt x="23502" y="118374"/>
                </a:lnTo>
                <a:cubicBezTo>
                  <a:pt x="20129" y="121747"/>
                  <a:pt x="14652" y="121747"/>
                  <a:pt x="11279" y="118374"/>
                </a:cubicBezTo>
                <a:cubicBezTo>
                  <a:pt x="7906" y="115002"/>
                  <a:pt x="7906" y="109524"/>
                  <a:pt x="11279" y="106151"/>
                </a:cubicBezTo>
                <a:lnTo>
                  <a:pt x="48354" y="69076"/>
                </a:lnTo>
                <a:lnTo>
                  <a:pt x="11306" y="32002"/>
                </a:lnTo>
                <a:cubicBezTo>
                  <a:pt x="7933" y="28629"/>
                  <a:pt x="7933" y="23151"/>
                  <a:pt x="11306" y="19779"/>
                </a:cubicBezTo>
                <a:cubicBezTo>
                  <a:pt x="14679" y="16406"/>
                  <a:pt x="20156" y="16406"/>
                  <a:pt x="23529" y="19779"/>
                </a:cubicBezTo>
                <a:lnTo>
                  <a:pt x="66702" y="62951"/>
                </a:lnTo>
                <a:close/>
              </a:path>
            </a:pathLst>
          </a:custGeom>
          <a:solidFill>
            <a:srgbClr val="C5A56A"/>
          </a:solidFill>
          <a:ln/>
        </p:spPr>
      </p:sp>
      <p:sp>
        <p:nvSpPr>
          <p:cNvPr id="50" name="Text 48"/>
          <p:cNvSpPr/>
          <p:nvPr/>
        </p:nvSpPr>
        <p:spPr>
          <a:xfrm>
            <a:off x="6732979" y="3229326"/>
            <a:ext cx="1865065" cy="207229"/>
          </a:xfrm>
          <a:prstGeom prst="rect">
            <a:avLst/>
          </a:prstGeom>
          <a:noFill/>
          <a:ln/>
        </p:spPr>
        <p:txBody>
          <a:bodyPr wrap="square" lIns="0" tIns="0" rIns="0" bIns="0" rtlCol="0" anchor="ctr"/>
          <a:lstStyle/>
          <a:p>
            <a:pPr>
              <a:lnSpc>
                <a:spcPct val="130000"/>
              </a:lnSpc>
            </a:pPr>
            <a:r>
              <a:rPr lang="en-US" sz="1088" dirty="0">
                <a:solidFill>
                  <a:srgbClr val="FFFFFF"/>
                </a:solidFill>
                <a:latin typeface="Liter" pitchFamily="34" charset="0"/>
                <a:ea typeface="Liter" pitchFamily="34" charset="-122"/>
                <a:cs typeface="Liter" pitchFamily="34" charset="-120"/>
              </a:rPr>
              <a:t>Poor compensation vs market</a:t>
            </a:r>
            <a:endParaRPr lang="en-US" sz="1600" dirty="0"/>
          </a:p>
        </p:txBody>
      </p:sp>
      <p:sp>
        <p:nvSpPr>
          <p:cNvPr id="51" name="Shape 49"/>
          <p:cNvSpPr/>
          <p:nvPr/>
        </p:nvSpPr>
        <p:spPr>
          <a:xfrm>
            <a:off x="6353058" y="3712861"/>
            <a:ext cx="5107882" cy="1295183"/>
          </a:xfrm>
          <a:custGeom>
            <a:avLst/>
            <a:gdLst/>
            <a:ahLst/>
            <a:cxnLst/>
            <a:rect l="l" t="t" r="r" b="b"/>
            <a:pathLst>
              <a:path w="5318890" h="1381530">
                <a:moveTo>
                  <a:pt x="69076" y="0"/>
                </a:moveTo>
                <a:lnTo>
                  <a:pt x="5249813" y="0"/>
                </a:lnTo>
                <a:cubicBezTo>
                  <a:pt x="5287963" y="0"/>
                  <a:pt x="5318890" y="30927"/>
                  <a:pt x="5318890" y="69076"/>
                </a:cubicBezTo>
                <a:lnTo>
                  <a:pt x="5318890" y="1312453"/>
                </a:lnTo>
                <a:cubicBezTo>
                  <a:pt x="5318890" y="1350603"/>
                  <a:pt x="5287963" y="1381530"/>
                  <a:pt x="5249813" y="1381530"/>
                </a:cubicBezTo>
                <a:lnTo>
                  <a:pt x="69076" y="1381530"/>
                </a:lnTo>
                <a:cubicBezTo>
                  <a:pt x="30927" y="1381530"/>
                  <a:pt x="0" y="1350603"/>
                  <a:pt x="0" y="1312453"/>
                </a:cubicBezTo>
                <a:lnTo>
                  <a:pt x="0" y="69076"/>
                </a:lnTo>
                <a:cubicBezTo>
                  <a:pt x="0" y="30952"/>
                  <a:pt x="30952" y="0"/>
                  <a:pt x="69076" y="0"/>
                </a:cubicBezTo>
                <a:close/>
              </a:path>
            </a:pathLst>
          </a:custGeom>
          <a:solidFill>
            <a:srgbClr val="C10007"/>
          </a:solidFill>
          <a:ln/>
        </p:spPr>
      </p:sp>
      <p:sp>
        <p:nvSpPr>
          <p:cNvPr id="52" name="Shape 50"/>
          <p:cNvSpPr/>
          <p:nvPr/>
        </p:nvSpPr>
        <p:spPr>
          <a:xfrm>
            <a:off x="6499846" y="3902822"/>
            <a:ext cx="155422" cy="138153"/>
          </a:xfrm>
          <a:custGeom>
            <a:avLst/>
            <a:gdLst/>
            <a:ahLst/>
            <a:cxnLst/>
            <a:rect l="l" t="t" r="r" b="b"/>
            <a:pathLst>
              <a:path w="155422" h="138153">
                <a:moveTo>
                  <a:pt x="11063" y="-6719"/>
                </a:moveTo>
                <a:cubicBezTo>
                  <a:pt x="8527" y="-9255"/>
                  <a:pt x="4425" y="-9255"/>
                  <a:pt x="1916" y="-6719"/>
                </a:cubicBezTo>
                <a:cubicBezTo>
                  <a:pt x="-594" y="-4182"/>
                  <a:pt x="-621" y="-81"/>
                  <a:pt x="1889" y="2455"/>
                </a:cubicBezTo>
                <a:lnTo>
                  <a:pt x="144359" y="144926"/>
                </a:lnTo>
                <a:cubicBezTo>
                  <a:pt x="146895" y="147462"/>
                  <a:pt x="150997" y="147462"/>
                  <a:pt x="153506" y="144926"/>
                </a:cubicBezTo>
                <a:cubicBezTo>
                  <a:pt x="156016" y="142389"/>
                  <a:pt x="156043" y="138288"/>
                  <a:pt x="153506" y="135778"/>
                </a:cubicBezTo>
                <a:lnTo>
                  <a:pt x="84052" y="66297"/>
                </a:lnTo>
                <a:cubicBezTo>
                  <a:pt x="98893" y="63356"/>
                  <a:pt x="110091" y="50242"/>
                  <a:pt x="110091" y="34538"/>
                </a:cubicBezTo>
                <a:cubicBezTo>
                  <a:pt x="110091" y="16649"/>
                  <a:pt x="95601" y="2159"/>
                  <a:pt x="77711" y="2159"/>
                </a:cubicBezTo>
                <a:cubicBezTo>
                  <a:pt x="62007" y="2159"/>
                  <a:pt x="48893" y="13357"/>
                  <a:pt x="45952" y="28197"/>
                </a:cubicBezTo>
                <a:lnTo>
                  <a:pt x="11063" y="-6719"/>
                </a:lnTo>
                <a:close/>
                <a:moveTo>
                  <a:pt x="63572" y="82406"/>
                </a:moveTo>
                <a:cubicBezTo>
                  <a:pt x="39908" y="85428"/>
                  <a:pt x="21586" y="105638"/>
                  <a:pt x="21586" y="130139"/>
                </a:cubicBezTo>
                <a:cubicBezTo>
                  <a:pt x="21586" y="134564"/>
                  <a:pt x="25175" y="138153"/>
                  <a:pt x="29600" y="138153"/>
                </a:cubicBezTo>
                <a:lnTo>
                  <a:pt x="119319" y="138153"/>
                </a:lnTo>
                <a:lnTo>
                  <a:pt x="63572" y="82406"/>
                </a:lnTo>
                <a:close/>
              </a:path>
            </a:pathLst>
          </a:custGeom>
          <a:solidFill>
            <a:srgbClr val="FFFFFF"/>
          </a:solidFill>
          <a:ln/>
        </p:spPr>
      </p:sp>
      <p:sp>
        <p:nvSpPr>
          <p:cNvPr id="53" name="Text 51"/>
          <p:cNvSpPr/>
          <p:nvPr/>
        </p:nvSpPr>
        <p:spPr>
          <a:xfrm>
            <a:off x="6732979" y="3851014"/>
            <a:ext cx="1873700" cy="241768"/>
          </a:xfrm>
          <a:prstGeom prst="rect">
            <a:avLst/>
          </a:prstGeom>
          <a:noFill/>
          <a:ln/>
        </p:spPr>
        <p:txBody>
          <a:bodyPr wrap="square" lIns="0" tIns="0" rIns="0" bIns="0" rtlCol="0" anchor="ctr"/>
          <a:lstStyle/>
          <a:p>
            <a:pPr>
              <a:lnSpc>
                <a:spcPct val="130000"/>
              </a:lnSpc>
            </a:pPr>
            <a:r>
              <a:rPr lang="en-US" sz="1224" b="1" dirty="0">
                <a:solidFill>
                  <a:srgbClr val="FFFFFF"/>
                </a:solidFill>
                <a:latin typeface="Liter" pitchFamily="34" charset="0"/>
                <a:ea typeface="Liter" pitchFamily="34" charset="-122"/>
                <a:cs typeface="Liter" pitchFamily="34" charset="-120"/>
              </a:rPr>
              <a:t>Terminations Root Causes</a:t>
            </a:r>
            <a:endParaRPr lang="en-US" sz="1600" dirty="0"/>
          </a:p>
        </p:txBody>
      </p:sp>
      <p:sp>
        <p:nvSpPr>
          <p:cNvPr id="54" name="Shape 52"/>
          <p:cNvSpPr/>
          <p:nvPr/>
        </p:nvSpPr>
        <p:spPr>
          <a:xfrm>
            <a:off x="6543019" y="4230935"/>
            <a:ext cx="69076" cy="138153"/>
          </a:xfrm>
          <a:custGeom>
            <a:avLst/>
            <a:gdLst/>
            <a:ahLst/>
            <a:cxnLst/>
            <a:rect l="l" t="t" r="r" b="b"/>
            <a:pathLst>
              <a:path w="69076" h="138153">
                <a:moveTo>
                  <a:pt x="66675" y="62978"/>
                </a:moveTo>
                <a:cubicBezTo>
                  <a:pt x="70048" y="66351"/>
                  <a:pt x="70048" y="71829"/>
                  <a:pt x="66675" y="75202"/>
                </a:cubicBezTo>
                <a:lnTo>
                  <a:pt x="23502" y="118374"/>
                </a:lnTo>
                <a:cubicBezTo>
                  <a:pt x="20129" y="121747"/>
                  <a:pt x="14652" y="121747"/>
                  <a:pt x="11279" y="118374"/>
                </a:cubicBezTo>
                <a:cubicBezTo>
                  <a:pt x="7906" y="115002"/>
                  <a:pt x="7906" y="109524"/>
                  <a:pt x="11279" y="106151"/>
                </a:cubicBezTo>
                <a:lnTo>
                  <a:pt x="48354" y="69076"/>
                </a:lnTo>
                <a:lnTo>
                  <a:pt x="11306" y="32002"/>
                </a:lnTo>
                <a:cubicBezTo>
                  <a:pt x="7933" y="28629"/>
                  <a:pt x="7933" y="23151"/>
                  <a:pt x="11306" y="19779"/>
                </a:cubicBezTo>
                <a:cubicBezTo>
                  <a:pt x="14679" y="16406"/>
                  <a:pt x="20156" y="16406"/>
                  <a:pt x="23529" y="19779"/>
                </a:cubicBezTo>
                <a:lnTo>
                  <a:pt x="66702" y="62951"/>
                </a:lnTo>
                <a:close/>
              </a:path>
            </a:pathLst>
          </a:custGeom>
          <a:solidFill>
            <a:srgbClr val="FFFFFF"/>
          </a:solidFill>
          <a:ln/>
        </p:spPr>
      </p:sp>
      <p:sp>
        <p:nvSpPr>
          <p:cNvPr id="55" name="Text 53"/>
          <p:cNvSpPr/>
          <p:nvPr/>
        </p:nvSpPr>
        <p:spPr>
          <a:xfrm>
            <a:off x="6732979" y="4196397"/>
            <a:ext cx="1191569" cy="207229"/>
          </a:xfrm>
          <a:prstGeom prst="rect">
            <a:avLst/>
          </a:prstGeom>
          <a:noFill/>
          <a:ln/>
        </p:spPr>
        <p:txBody>
          <a:bodyPr wrap="square" lIns="0" tIns="0" rIns="0" bIns="0" rtlCol="0" anchor="ctr"/>
          <a:lstStyle/>
          <a:p>
            <a:pPr>
              <a:lnSpc>
                <a:spcPct val="130000"/>
              </a:lnSpc>
            </a:pPr>
            <a:r>
              <a:rPr lang="en-US" sz="1088" dirty="0">
                <a:solidFill>
                  <a:srgbClr val="FFFFFF"/>
                </a:solidFill>
                <a:latin typeface="Liter" pitchFamily="34" charset="0"/>
                <a:ea typeface="Liter" pitchFamily="34" charset="-122"/>
                <a:cs typeface="Liter" pitchFamily="34" charset="-120"/>
              </a:rPr>
              <a:t>Integrity violations</a:t>
            </a:r>
            <a:endParaRPr lang="en-US" sz="1600" dirty="0"/>
          </a:p>
        </p:txBody>
      </p:sp>
      <p:sp>
        <p:nvSpPr>
          <p:cNvPr id="56" name="Shape 54"/>
          <p:cNvSpPr/>
          <p:nvPr/>
        </p:nvSpPr>
        <p:spPr>
          <a:xfrm>
            <a:off x="6543019" y="4507241"/>
            <a:ext cx="69076" cy="138153"/>
          </a:xfrm>
          <a:custGeom>
            <a:avLst/>
            <a:gdLst/>
            <a:ahLst/>
            <a:cxnLst/>
            <a:rect l="l" t="t" r="r" b="b"/>
            <a:pathLst>
              <a:path w="69076" h="138153">
                <a:moveTo>
                  <a:pt x="66675" y="62978"/>
                </a:moveTo>
                <a:cubicBezTo>
                  <a:pt x="70048" y="66351"/>
                  <a:pt x="70048" y="71829"/>
                  <a:pt x="66675" y="75202"/>
                </a:cubicBezTo>
                <a:lnTo>
                  <a:pt x="23502" y="118374"/>
                </a:lnTo>
                <a:cubicBezTo>
                  <a:pt x="20129" y="121747"/>
                  <a:pt x="14652" y="121747"/>
                  <a:pt x="11279" y="118374"/>
                </a:cubicBezTo>
                <a:cubicBezTo>
                  <a:pt x="7906" y="115002"/>
                  <a:pt x="7906" y="109524"/>
                  <a:pt x="11279" y="106151"/>
                </a:cubicBezTo>
                <a:lnTo>
                  <a:pt x="48354" y="69076"/>
                </a:lnTo>
                <a:lnTo>
                  <a:pt x="11306" y="32002"/>
                </a:lnTo>
                <a:cubicBezTo>
                  <a:pt x="7933" y="28629"/>
                  <a:pt x="7933" y="23151"/>
                  <a:pt x="11306" y="19779"/>
                </a:cubicBezTo>
                <a:cubicBezTo>
                  <a:pt x="14679" y="16406"/>
                  <a:pt x="20156" y="16406"/>
                  <a:pt x="23529" y="19779"/>
                </a:cubicBezTo>
                <a:lnTo>
                  <a:pt x="66702" y="62951"/>
                </a:lnTo>
                <a:close/>
              </a:path>
            </a:pathLst>
          </a:custGeom>
          <a:solidFill>
            <a:srgbClr val="FFFFFF"/>
          </a:solidFill>
          <a:ln/>
        </p:spPr>
      </p:sp>
      <p:sp>
        <p:nvSpPr>
          <p:cNvPr id="57" name="Text 55"/>
          <p:cNvSpPr/>
          <p:nvPr/>
        </p:nvSpPr>
        <p:spPr>
          <a:xfrm>
            <a:off x="6732979" y="4472703"/>
            <a:ext cx="1985949" cy="207229"/>
          </a:xfrm>
          <a:prstGeom prst="rect">
            <a:avLst/>
          </a:prstGeom>
          <a:noFill/>
          <a:ln/>
        </p:spPr>
        <p:txBody>
          <a:bodyPr wrap="square" lIns="0" tIns="0" rIns="0" bIns="0" rtlCol="0" anchor="ctr"/>
          <a:lstStyle/>
          <a:p>
            <a:pPr>
              <a:lnSpc>
                <a:spcPct val="130000"/>
              </a:lnSpc>
            </a:pPr>
            <a:r>
              <a:rPr lang="en-US" sz="1088" dirty="0">
                <a:solidFill>
                  <a:srgbClr val="FFFFFF"/>
                </a:solidFill>
                <a:latin typeface="Liter" pitchFamily="34" charset="0"/>
                <a:ea typeface="Liter" pitchFamily="34" charset="-122"/>
                <a:cs typeface="Liter" pitchFamily="34" charset="-120"/>
              </a:rPr>
              <a:t>Weak governance &amp; monitoring</a:t>
            </a:r>
            <a:endParaRPr lang="en-US" sz="1600" dirty="0"/>
          </a:p>
        </p:txBody>
      </p:sp>
      <p:sp>
        <p:nvSpPr>
          <p:cNvPr id="58" name="Shape 56"/>
          <p:cNvSpPr/>
          <p:nvPr/>
        </p:nvSpPr>
        <p:spPr>
          <a:xfrm>
            <a:off x="6543019" y="4783547"/>
            <a:ext cx="69076" cy="138153"/>
          </a:xfrm>
          <a:custGeom>
            <a:avLst/>
            <a:gdLst/>
            <a:ahLst/>
            <a:cxnLst/>
            <a:rect l="l" t="t" r="r" b="b"/>
            <a:pathLst>
              <a:path w="69076" h="138153">
                <a:moveTo>
                  <a:pt x="66675" y="62978"/>
                </a:moveTo>
                <a:cubicBezTo>
                  <a:pt x="70048" y="66351"/>
                  <a:pt x="70048" y="71829"/>
                  <a:pt x="66675" y="75202"/>
                </a:cubicBezTo>
                <a:lnTo>
                  <a:pt x="23502" y="118374"/>
                </a:lnTo>
                <a:cubicBezTo>
                  <a:pt x="20129" y="121747"/>
                  <a:pt x="14652" y="121747"/>
                  <a:pt x="11279" y="118374"/>
                </a:cubicBezTo>
                <a:cubicBezTo>
                  <a:pt x="7906" y="115002"/>
                  <a:pt x="7906" y="109524"/>
                  <a:pt x="11279" y="106151"/>
                </a:cubicBezTo>
                <a:lnTo>
                  <a:pt x="48354" y="69076"/>
                </a:lnTo>
                <a:lnTo>
                  <a:pt x="11306" y="32002"/>
                </a:lnTo>
                <a:cubicBezTo>
                  <a:pt x="7933" y="28629"/>
                  <a:pt x="7933" y="23151"/>
                  <a:pt x="11306" y="19779"/>
                </a:cubicBezTo>
                <a:cubicBezTo>
                  <a:pt x="14679" y="16406"/>
                  <a:pt x="20156" y="16406"/>
                  <a:pt x="23529" y="19779"/>
                </a:cubicBezTo>
                <a:lnTo>
                  <a:pt x="66702" y="62951"/>
                </a:lnTo>
                <a:close/>
              </a:path>
            </a:pathLst>
          </a:custGeom>
          <a:solidFill>
            <a:srgbClr val="FFFFFF"/>
          </a:solidFill>
          <a:ln/>
        </p:spPr>
      </p:sp>
      <p:sp>
        <p:nvSpPr>
          <p:cNvPr id="59" name="Text 57"/>
          <p:cNvSpPr/>
          <p:nvPr/>
        </p:nvSpPr>
        <p:spPr>
          <a:xfrm>
            <a:off x="6732979" y="4749008"/>
            <a:ext cx="2020487" cy="207229"/>
          </a:xfrm>
          <a:prstGeom prst="rect">
            <a:avLst/>
          </a:prstGeom>
          <a:noFill/>
          <a:ln/>
        </p:spPr>
        <p:txBody>
          <a:bodyPr wrap="square" lIns="0" tIns="0" rIns="0" bIns="0" rtlCol="0" anchor="ctr"/>
          <a:lstStyle/>
          <a:p>
            <a:pPr>
              <a:lnSpc>
                <a:spcPct val="130000"/>
              </a:lnSpc>
            </a:pPr>
            <a:r>
              <a:rPr lang="en-US" sz="1088" dirty="0">
                <a:solidFill>
                  <a:srgbClr val="FFFFFF"/>
                </a:solidFill>
                <a:latin typeface="Liter" pitchFamily="34" charset="0"/>
                <a:ea typeface="Liter" pitchFamily="34" charset="-122"/>
                <a:cs typeface="Liter" pitchFamily="34" charset="-120"/>
              </a:rPr>
              <a:t>Inconsistent policy enforcement</a:t>
            </a:r>
            <a:endParaRPr lang="en-US" sz="1600" dirty="0"/>
          </a:p>
        </p:txBody>
      </p:sp>
      <p:sp>
        <p:nvSpPr>
          <p:cNvPr id="60" name="Shape 58"/>
          <p:cNvSpPr/>
          <p:nvPr/>
        </p:nvSpPr>
        <p:spPr>
          <a:xfrm>
            <a:off x="6199614" y="5215275"/>
            <a:ext cx="5384188" cy="1260646"/>
          </a:xfrm>
          <a:custGeom>
            <a:avLst/>
            <a:gdLst/>
            <a:ahLst/>
            <a:cxnLst/>
            <a:rect l="l" t="t" r="r" b="b"/>
            <a:pathLst>
              <a:path w="5664272" h="1450606">
                <a:moveTo>
                  <a:pt x="69078" y="0"/>
                </a:moveTo>
                <a:lnTo>
                  <a:pt x="5595194" y="0"/>
                </a:lnTo>
                <a:cubicBezTo>
                  <a:pt x="5633345" y="0"/>
                  <a:pt x="5664272" y="30927"/>
                  <a:pt x="5664272" y="69078"/>
                </a:cubicBezTo>
                <a:lnTo>
                  <a:pt x="5664272" y="1381528"/>
                </a:lnTo>
                <a:cubicBezTo>
                  <a:pt x="5664272" y="1419679"/>
                  <a:pt x="5633345" y="1450606"/>
                  <a:pt x="5595194" y="1450606"/>
                </a:cubicBezTo>
                <a:lnTo>
                  <a:pt x="69078" y="1450606"/>
                </a:lnTo>
                <a:cubicBezTo>
                  <a:pt x="30927" y="1450606"/>
                  <a:pt x="0" y="1419679"/>
                  <a:pt x="0" y="1381528"/>
                </a:cubicBezTo>
                <a:lnTo>
                  <a:pt x="0" y="69078"/>
                </a:lnTo>
                <a:cubicBezTo>
                  <a:pt x="0" y="30927"/>
                  <a:pt x="30927" y="0"/>
                  <a:pt x="69078" y="0"/>
                </a:cubicBezTo>
                <a:close/>
              </a:path>
            </a:pathLst>
          </a:custGeom>
          <a:solidFill>
            <a:srgbClr val="C5A56A"/>
          </a:solidFill>
          <a:ln/>
        </p:spPr>
      </p:sp>
      <p:sp>
        <p:nvSpPr>
          <p:cNvPr id="61" name="Shape 59"/>
          <p:cNvSpPr/>
          <p:nvPr/>
        </p:nvSpPr>
        <p:spPr>
          <a:xfrm>
            <a:off x="6357406" y="5307039"/>
            <a:ext cx="207229" cy="207229"/>
          </a:xfrm>
          <a:custGeom>
            <a:avLst/>
            <a:gdLst/>
            <a:ahLst/>
            <a:cxnLst/>
            <a:rect l="l" t="t" r="r" b="b"/>
            <a:pathLst>
              <a:path w="207229" h="207229">
                <a:moveTo>
                  <a:pt x="181326" y="103615"/>
                </a:moveTo>
                <a:cubicBezTo>
                  <a:pt x="181326" y="60725"/>
                  <a:pt x="146505" y="25904"/>
                  <a:pt x="103615" y="25904"/>
                </a:cubicBezTo>
                <a:cubicBezTo>
                  <a:pt x="60725" y="25904"/>
                  <a:pt x="25904" y="60725"/>
                  <a:pt x="25904" y="103615"/>
                </a:cubicBezTo>
                <a:cubicBezTo>
                  <a:pt x="25904" y="146505"/>
                  <a:pt x="60725" y="181326"/>
                  <a:pt x="103615" y="181326"/>
                </a:cubicBezTo>
                <a:cubicBezTo>
                  <a:pt x="146505" y="181326"/>
                  <a:pt x="181326" y="146505"/>
                  <a:pt x="181326" y="103615"/>
                </a:cubicBezTo>
                <a:close/>
                <a:moveTo>
                  <a:pt x="0" y="103615"/>
                </a:moveTo>
                <a:cubicBezTo>
                  <a:pt x="0" y="46428"/>
                  <a:pt x="46428" y="0"/>
                  <a:pt x="103615" y="0"/>
                </a:cubicBezTo>
                <a:cubicBezTo>
                  <a:pt x="160801" y="0"/>
                  <a:pt x="207229" y="46428"/>
                  <a:pt x="207229" y="103615"/>
                </a:cubicBezTo>
                <a:cubicBezTo>
                  <a:pt x="207229" y="160801"/>
                  <a:pt x="160801" y="207229"/>
                  <a:pt x="103615" y="207229"/>
                </a:cubicBezTo>
                <a:cubicBezTo>
                  <a:pt x="46428" y="207229"/>
                  <a:pt x="0" y="160801"/>
                  <a:pt x="0" y="103615"/>
                </a:cubicBezTo>
                <a:close/>
                <a:moveTo>
                  <a:pt x="103615" y="135994"/>
                </a:moveTo>
                <a:cubicBezTo>
                  <a:pt x="121486" y="135994"/>
                  <a:pt x="135994" y="121486"/>
                  <a:pt x="135994" y="103615"/>
                </a:cubicBezTo>
                <a:cubicBezTo>
                  <a:pt x="135994" y="85744"/>
                  <a:pt x="121486" y="71235"/>
                  <a:pt x="103615" y="71235"/>
                </a:cubicBezTo>
                <a:cubicBezTo>
                  <a:pt x="85744" y="71235"/>
                  <a:pt x="71235" y="85744"/>
                  <a:pt x="71235" y="103615"/>
                </a:cubicBezTo>
                <a:cubicBezTo>
                  <a:pt x="71235" y="121486"/>
                  <a:pt x="85744" y="135994"/>
                  <a:pt x="103615" y="135994"/>
                </a:cubicBezTo>
                <a:close/>
                <a:moveTo>
                  <a:pt x="103615" y="45331"/>
                </a:moveTo>
                <a:cubicBezTo>
                  <a:pt x="135782" y="45331"/>
                  <a:pt x="161898" y="71447"/>
                  <a:pt x="161898" y="103615"/>
                </a:cubicBezTo>
                <a:cubicBezTo>
                  <a:pt x="161898" y="135782"/>
                  <a:pt x="135782" y="161898"/>
                  <a:pt x="103615" y="161898"/>
                </a:cubicBezTo>
                <a:cubicBezTo>
                  <a:pt x="71447" y="161898"/>
                  <a:pt x="45331" y="135782"/>
                  <a:pt x="45331" y="103615"/>
                </a:cubicBezTo>
                <a:cubicBezTo>
                  <a:pt x="45331" y="71447"/>
                  <a:pt x="71447" y="45331"/>
                  <a:pt x="103615" y="45331"/>
                </a:cubicBezTo>
                <a:close/>
                <a:moveTo>
                  <a:pt x="90663" y="103615"/>
                </a:moveTo>
                <a:cubicBezTo>
                  <a:pt x="90663" y="96466"/>
                  <a:pt x="96466" y="90663"/>
                  <a:pt x="103615" y="90663"/>
                </a:cubicBezTo>
                <a:cubicBezTo>
                  <a:pt x="110763" y="90663"/>
                  <a:pt x="116567" y="96466"/>
                  <a:pt x="116567" y="103615"/>
                </a:cubicBezTo>
                <a:cubicBezTo>
                  <a:pt x="116567" y="110763"/>
                  <a:pt x="110763" y="116567"/>
                  <a:pt x="103615" y="116567"/>
                </a:cubicBezTo>
                <a:cubicBezTo>
                  <a:pt x="96466" y="116567"/>
                  <a:pt x="90663" y="110763"/>
                  <a:pt x="90663" y="103615"/>
                </a:cubicBezTo>
                <a:close/>
              </a:path>
            </a:pathLst>
          </a:custGeom>
          <a:solidFill>
            <a:srgbClr val="FFFFFF"/>
          </a:solidFill>
          <a:ln/>
        </p:spPr>
      </p:sp>
      <p:sp>
        <p:nvSpPr>
          <p:cNvPr id="62" name="Text 60"/>
          <p:cNvSpPr/>
          <p:nvPr/>
        </p:nvSpPr>
        <p:spPr>
          <a:xfrm>
            <a:off x="6732979" y="5289770"/>
            <a:ext cx="1502414" cy="241768"/>
          </a:xfrm>
          <a:prstGeom prst="rect">
            <a:avLst/>
          </a:prstGeom>
          <a:noFill/>
          <a:ln/>
        </p:spPr>
        <p:txBody>
          <a:bodyPr wrap="square" lIns="0" tIns="0" rIns="0" bIns="0" rtlCol="0" anchor="ctr"/>
          <a:lstStyle/>
          <a:p>
            <a:pPr>
              <a:lnSpc>
                <a:spcPct val="130000"/>
              </a:lnSpc>
            </a:pPr>
            <a:r>
              <a:rPr lang="en-US" sz="1224" b="1" dirty="0">
                <a:solidFill>
                  <a:srgbClr val="FFFFFF"/>
                </a:solidFill>
                <a:latin typeface="Liter" pitchFamily="34" charset="0"/>
                <a:ea typeface="Liter" pitchFamily="34" charset="-122"/>
                <a:cs typeface="Liter" pitchFamily="34" charset="-120"/>
              </a:rPr>
              <a:t>Primary Root Causes</a:t>
            </a:r>
            <a:endParaRPr lang="en-US" sz="1600" dirty="0"/>
          </a:p>
        </p:txBody>
      </p:sp>
      <p:sp>
        <p:nvSpPr>
          <p:cNvPr id="63" name="Shape 61"/>
          <p:cNvSpPr/>
          <p:nvPr/>
        </p:nvSpPr>
        <p:spPr>
          <a:xfrm>
            <a:off x="6335790" y="5614498"/>
            <a:ext cx="207229" cy="207229"/>
          </a:xfrm>
          <a:custGeom>
            <a:avLst/>
            <a:gdLst/>
            <a:ahLst/>
            <a:cxnLst/>
            <a:rect l="l" t="t" r="r" b="b"/>
            <a:pathLst>
              <a:path w="207229" h="207229">
                <a:moveTo>
                  <a:pt x="103615" y="0"/>
                </a:moveTo>
                <a:lnTo>
                  <a:pt x="103615" y="0"/>
                </a:lnTo>
                <a:cubicBezTo>
                  <a:pt x="160801" y="0"/>
                  <a:pt x="207229" y="46428"/>
                  <a:pt x="207229" y="103615"/>
                </a:cubicBezTo>
                <a:lnTo>
                  <a:pt x="207229" y="103615"/>
                </a:lnTo>
                <a:cubicBezTo>
                  <a:pt x="207229" y="160801"/>
                  <a:pt x="160801" y="207229"/>
                  <a:pt x="103615" y="207229"/>
                </a:cubicBezTo>
                <a:lnTo>
                  <a:pt x="103615" y="207229"/>
                </a:lnTo>
                <a:cubicBezTo>
                  <a:pt x="46428" y="207229"/>
                  <a:pt x="0" y="160801"/>
                  <a:pt x="0" y="103615"/>
                </a:cubicBezTo>
                <a:lnTo>
                  <a:pt x="0" y="103615"/>
                </a:lnTo>
                <a:cubicBezTo>
                  <a:pt x="0" y="46428"/>
                  <a:pt x="46428" y="0"/>
                  <a:pt x="103615" y="0"/>
                </a:cubicBezTo>
                <a:close/>
              </a:path>
            </a:pathLst>
          </a:custGeom>
          <a:solidFill>
            <a:srgbClr val="FFFFFF">
              <a:alpha val="20000"/>
            </a:srgbClr>
          </a:solidFill>
          <a:ln/>
        </p:spPr>
        <p:txBody>
          <a:bodyPr/>
          <a:lstStyle/>
          <a:p>
            <a:endParaRPr lang="en-IN" dirty="0"/>
          </a:p>
        </p:txBody>
      </p:sp>
      <p:sp>
        <p:nvSpPr>
          <p:cNvPr id="64" name="Text 62"/>
          <p:cNvSpPr/>
          <p:nvPr/>
        </p:nvSpPr>
        <p:spPr>
          <a:xfrm>
            <a:off x="6380942" y="5370698"/>
            <a:ext cx="163786" cy="742571"/>
          </a:xfrm>
          <a:prstGeom prst="rect">
            <a:avLst/>
          </a:prstGeom>
          <a:noFill/>
          <a:ln/>
        </p:spPr>
        <p:txBody>
          <a:bodyPr wrap="square" lIns="0" tIns="0" rIns="0" bIns="0" rtlCol="0" anchor="ctr"/>
          <a:lstStyle/>
          <a:p>
            <a:pPr>
              <a:lnSpc>
                <a:spcPct val="120000"/>
              </a:lnSpc>
            </a:pPr>
            <a:r>
              <a:rPr lang="en-US" sz="952" b="1" dirty="0">
                <a:solidFill>
                  <a:srgbClr val="FFFFFF"/>
                </a:solidFill>
                <a:latin typeface="Liter" pitchFamily="34" charset="0"/>
                <a:ea typeface="Liter" pitchFamily="34" charset="-122"/>
                <a:cs typeface="Liter" pitchFamily="34" charset="-120"/>
              </a:rPr>
              <a:t>1</a:t>
            </a:r>
            <a:endParaRPr lang="en-US" sz="1600" dirty="0"/>
          </a:p>
        </p:txBody>
      </p:sp>
      <p:sp>
        <p:nvSpPr>
          <p:cNvPr id="65" name="Text 63"/>
          <p:cNvSpPr/>
          <p:nvPr/>
        </p:nvSpPr>
        <p:spPr>
          <a:xfrm>
            <a:off x="6646634" y="5639568"/>
            <a:ext cx="1856700" cy="201473"/>
          </a:xfrm>
          <a:prstGeom prst="rect">
            <a:avLst/>
          </a:prstGeom>
          <a:noFill/>
          <a:ln/>
        </p:spPr>
        <p:txBody>
          <a:bodyPr wrap="square" lIns="0" tIns="0" rIns="0" bIns="0" rtlCol="0" anchor="ctr"/>
          <a:lstStyle/>
          <a:p>
            <a:pPr>
              <a:lnSpc>
                <a:spcPct val="130000"/>
              </a:lnSpc>
            </a:pPr>
            <a:r>
              <a:rPr lang="en-US" sz="1088" b="1" dirty="0">
                <a:solidFill>
                  <a:srgbClr val="FFFFFF"/>
                </a:solidFill>
                <a:latin typeface="Liter" pitchFamily="34" charset="0"/>
                <a:ea typeface="Liter" pitchFamily="34" charset="-122"/>
                <a:cs typeface="Liter" pitchFamily="34" charset="-120"/>
              </a:rPr>
              <a:t>Career growth dissatisfaction</a:t>
            </a:r>
            <a:endParaRPr lang="en-US" sz="1600" dirty="0"/>
          </a:p>
        </p:txBody>
      </p:sp>
      <p:sp>
        <p:nvSpPr>
          <p:cNvPr id="66" name="Shape 64"/>
          <p:cNvSpPr/>
          <p:nvPr/>
        </p:nvSpPr>
        <p:spPr>
          <a:xfrm>
            <a:off x="6335789" y="5920216"/>
            <a:ext cx="207229" cy="207229"/>
          </a:xfrm>
          <a:custGeom>
            <a:avLst/>
            <a:gdLst/>
            <a:ahLst/>
            <a:cxnLst/>
            <a:rect l="l" t="t" r="r" b="b"/>
            <a:pathLst>
              <a:path w="207229" h="207229">
                <a:moveTo>
                  <a:pt x="103615" y="0"/>
                </a:moveTo>
                <a:lnTo>
                  <a:pt x="103615" y="0"/>
                </a:lnTo>
                <a:cubicBezTo>
                  <a:pt x="160801" y="0"/>
                  <a:pt x="207229" y="46428"/>
                  <a:pt x="207229" y="103615"/>
                </a:cubicBezTo>
                <a:lnTo>
                  <a:pt x="207229" y="103615"/>
                </a:lnTo>
                <a:cubicBezTo>
                  <a:pt x="207229" y="160801"/>
                  <a:pt x="160801" y="207229"/>
                  <a:pt x="103615" y="207229"/>
                </a:cubicBezTo>
                <a:lnTo>
                  <a:pt x="103615" y="207229"/>
                </a:lnTo>
                <a:cubicBezTo>
                  <a:pt x="46428" y="207229"/>
                  <a:pt x="0" y="160801"/>
                  <a:pt x="0" y="103615"/>
                </a:cubicBezTo>
                <a:lnTo>
                  <a:pt x="0" y="103615"/>
                </a:lnTo>
                <a:cubicBezTo>
                  <a:pt x="0" y="46428"/>
                  <a:pt x="46428" y="0"/>
                  <a:pt x="103615" y="0"/>
                </a:cubicBezTo>
                <a:close/>
              </a:path>
            </a:pathLst>
          </a:custGeom>
          <a:solidFill>
            <a:srgbClr val="FFFFFF">
              <a:alpha val="20000"/>
            </a:srgbClr>
          </a:solidFill>
          <a:ln/>
        </p:spPr>
      </p:sp>
      <p:sp>
        <p:nvSpPr>
          <p:cNvPr id="67" name="Text 65"/>
          <p:cNvSpPr/>
          <p:nvPr/>
        </p:nvSpPr>
        <p:spPr>
          <a:xfrm>
            <a:off x="6380942" y="5661400"/>
            <a:ext cx="170081" cy="728176"/>
          </a:xfrm>
          <a:prstGeom prst="rect">
            <a:avLst/>
          </a:prstGeom>
          <a:noFill/>
          <a:ln/>
        </p:spPr>
        <p:txBody>
          <a:bodyPr wrap="square" lIns="0" tIns="0" rIns="0" bIns="0" rtlCol="0" anchor="ctr"/>
          <a:lstStyle/>
          <a:p>
            <a:pPr>
              <a:lnSpc>
                <a:spcPct val="120000"/>
              </a:lnSpc>
            </a:pPr>
            <a:r>
              <a:rPr lang="en-US" sz="952" b="1" dirty="0">
                <a:solidFill>
                  <a:srgbClr val="FFFFFF"/>
                </a:solidFill>
                <a:latin typeface="Liter" pitchFamily="34" charset="0"/>
                <a:ea typeface="Liter" pitchFamily="34" charset="-122"/>
                <a:cs typeface="Liter" pitchFamily="34" charset="-120"/>
              </a:rPr>
              <a:t>2</a:t>
            </a:r>
            <a:endParaRPr lang="en-US" sz="1600" dirty="0"/>
          </a:p>
        </p:txBody>
      </p:sp>
      <p:sp>
        <p:nvSpPr>
          <p:cNvPr id="68" name="Text 66"/>
          <p:cNvSpPr/>
          <p:nvPr/>
        </p:nvSpPr>
        <p:spPr>
          <a:xfrm>
            <a:off x="6655268" y="5930060"/>
            <a:ext cx="1249493" cy="201473"/>
          </a:xfrm>
          <a:prstGeom prst="rect">
            <a:avLst/>
          </a:prstGeom>
          <a:noFill/>
          <a:ln/>
        </p:spPr>
        <p:txBody>
          <a:bodyPr wrap="square" lIns="0" tIns="0" rIns="0" bIns="0" rtlCol="0" anchor="ctr"/>
          <a:lstStyle/>
          <a:p>
            <a:pPr>
              <a:lnSpc>
                <a:spcPct val="130000"/>
              </a:lnSpc>
            </a:pPr>
            <a:r>
              <a:rPr lang="en-US" sz="1088" b="1" dirty="0">
                <a:solidFill>
                  <a:srgbClr val="FFFFFF"/>
                </a:solidFill>
                <a:latin typeface="Liter" pitchFamily="34" charset="0"/>
                <a:ea typeface="Liter" pitchFamily="34" charset="-122"/>
                <a:cs typeface="Liter" pitchFamily="34" charset="-120"/>
              </a:rPr>
              <a:t>Poor compensation</a:t>
            </a:r>
            <a:endParaRPr lang="en-US" sz="1600" dirty="0"/>
          </a:p>
        </p:txBody>
      </p:sp>
      <p:sp>
        <p:nvSpPr>
          <p:cNvPr id="69" name="Shape 67"/>
          <p:cNvSpPr/>
          <p:nvPr/>
        </p:nvSpPr>
        <p:spPr>
          <a:xfrm>
            <a:off x="6335788" y="6176589"/>
            <a:ext cx="207229" cy="207229"/>
          </a:xfrm>
          <a:custGeom>
            <a:avLst/>
            <a:gdLst/>
            <a:ahLst/>
            <a:cxnLst/>
            <a:rect l="l" t="t" r="r" b="b"/>
            <a:pathLst>
              <a:path w="207229" h="207229">
                <a:moveTo>
                  <a:pt x="103615" y="0"/>
                </a:moveTo>
                <a:lnTo>
                  <a:pt x="103615" y="0"/>
                </a:lnTo>
                <a:cubicBezTo>
                  <a:pt x="160801" y="0"/>
                  <a:pt x="207229" y="46428"/>
                  <a:pt x="207229" y="103615"/>
                </a:cubicBezTo>
                <a:lnTo>
                  <a:pt x="207229" y="103615"/>
                </a:lnTo>
                <a:cubicBezTo>
                  <a:pt x="207229" y="160801"/>
                  <a:pt x="160801" y="207229"/>
                  <a:pt x="103615" y="207229"/>
                </a:cubicBezTo>
                <a:lnTo>
                  <a:pt x="103615" y="207229"/>
                </a:lnTo>
                <a:cubicBezTo>
                  <a:pt x="46428" y="207229"/>
                  <a:pt x="0" y="160801"/>
                  <a:pt x="0" y="103615"/>
                </a:cubicBezTo>
                <a:lnTo>
                  <a:pt x="0" y="103615"/>
                </a:lnTo>
                <a:cubicBezTo>
                  <a:pt x="0" y="46428"/>
                  <a:pt x="46428" y="0"/>
                  <a:pt x="103615" y="0"/>
                </a:cubicBezTo>
                <a:close/>
              </a:path>
            </a:pathLst>
          </a:custGeom>
          <a:solidFill>
            <a:srgbClr val="FFFFFF">
              <a:alpha val="20000"/>
            </a:srgbClr>
          </a:solidFill>
          <a:ln/>
        </p:spPr>
      </p:sp>
      <p:sp>
        <p:nvSpPr>
          <p:cNvPr id="70" name="Text 68"/>
          <p:cNvSpPr/>
          <p:nvPr/>
        </p:nvSpPr>
        <p:spPr>
          <a:xfrm>
            <a:off x="6382614" y="6188231"/>
            <a:ext cx="129518" cy="172691"/>
          </a:xfrm>
          <a:prstGeom prst="rect">
            <a:avLst/>
          </a:prstGeom>
          <a:noFill/>
          <a:ln/>
        </p:spPr>
        <p:txBody>
          <a:bodyPr wrap="square" lIns="0" tIns="0" rIns="0" bIns="0" rtlCol="0" anchor="ctr"/>
          <a:lstStyle/>
          <a:p>
            <a:pPr>
              <a:lnSpc>
                <a:spcPct val="120000"/>
              </a:lnSpc>
            </a:pPr>
            <a:r>
              <a:rPr lang="en-US" sz="952" b="1" dirty="0">
                <a:solidFill>
                  <a:srgbClr val="FFFFFF"/>
                </a:solidFill>
                <a:latin typeface="Liter" pitchFamily="34" charset="0"/>
                <a:ea typeface="Liter" pitchFamily="34" charset="-122"/>
                <a:cs typeface="Liter" pitchFamily="34" charset="-120"/>
              </a:rPr>
              <a:t>3</a:t>
            </a:r>
            <a:endParaRPr lang="en-US" sz="1600" dirty="0"/>
          </a:p>
        </p:txBody>
      </p:sp>
      <p:sp>
        <p:nvSpPr>
          <p:cNvPr id="71" name="Text 69"/>
          <p:cNvSpPr/>
          <p:nvPr/>
        </p:nvSpPr>
        <p:spPr>
          <a:xfrm>
            <a:off x="6646634" y="6182345"/>
            <a:ext cx="1735367" cy="201473"/>
          </a:xfrm>
          <a:prstGeom prst="rect">
            <a:avLst/>
          </a:prstGeom>
          <a:noFill/>
          <a:ln/>
        </p:spPr>
        <p:txBody>
          <a:bodyPr wrap="square" lIns="0" tIns="0" rIns="0" bIns="0" rtlCol="0" anchor="ctr"/>
          <a:lstStyle/>
          <a:p>
            <a:pPr>
              <a:lnSpc>
                <a:spcPct val="130000"/>
              </a:lnSpc>
            </a:pPr>
            <a:r>
              <a:rPr lang="en-US" sz="1088" b="1" dirty="0">
                <a:solidFill>
                  <a:srgbClr val="FFFFFF"/>
                </a:solidFill>
                <a:latin typeface="Liter" pitchFamily="34" charset="0"/>
                <a:ea typeface="Liter" pitchFamily="34" charset="-122"/>
                <a:cs typeface="Liter" pitchFamily="34" charset="-120"/>
              </a:rPr>
              <a:t>Stressful work environment</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https://kimi-web-img.moonshot.cn/img/aventislearning.com/536f81820ebad2bc7b15f412f7765cae22b69d4b.jpeg"/>
          <p:cNvPicPr>
            <a:picLocks noChangeAspect="1"/>
          </p:cNvPicPr>
          <p:nvPr/>
        </p:nvPicPr>
        <p:blipFill>
          <a:blip r:embed="rId3">
            <a:alphaModFix amt="20000"/>
          </a:blip>
          <a:srcRect t="8525" b="852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3A52">
                  <a:alpha val="95000"/>
                </a:srgbClr>
              </a:gs>
              <a:gs pos="50000">
                <a:srgbClr val="1A3A52">
                  <a:alpha val="90000"/>
                </a:srgbClr>
              </a:gs>
              <a:gs pos="100000">
                <a:srgbClr val="5E7A91">
                  <a:alpha val="85000"/>
                </a:srgbClr>
              </a:gs>
            </a:gsLst>
            <a:lin ang="2700000" scaled="1"/>
          </a:gradFill>
          <a:ln/>
        </p:spPr>
      </p:sp>
      <p:sp>
        <p:nvSpPr>
          <p:cNvPr id="4" name="Text 1"/>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5A56A"/>
                </a:solidFill>
                <a:latin typeface="Liter" pitchFamily="34" charset="0"/>
                <a:ea typeface="Liter" pitchFamily="34" charset="-122"/>
                <a:cs typeface="Liter" pitchFamily="34" charset="-120"/>
              </a:rPr>
              <a:t>Project Conclusion</a:t>
            </a:r>
            <a:endParaRPr lang="en-US" sz="1600" dirty="0"/>
          </a:p>
        </p:txBody>
      </p:sp>
      <p:sp>
        <p:nvSpPr>
          <p:cNvPr id="5" name="Text 2"/>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F8F9FA"/>
                </a:solidFill>
                <a:latin typeface="Liter" pitchFamily="34" charset="0"/>
                <a:ea typeface="Liter" pitchFamily="34" charset="-122"/>
                <a:cs typeface="Liter" pitchFamily="34" charset="-120"/>
              </a:rPr>
              <a:t>Control Measures &amp; Final Recommendations</a:t>
            </a:r>
            <a:endParaRPr lang="en-US" sz="1600" dirty="0"/>
          </a:p>
        </p:txBody>
      </p:sp>
      <p:sp>
        <p:nvSpPr>
          <p:cNvPr id="6" name="Shape 3"/>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5A56A"/>
          </a:solidFill>
          <a:ln/>
        </p:spPr>
      </p:sp>
      <p:sp>
        <p:nvSpPr>
          <p:cNvPr id="7" name="Shape 4"/>
          <p:cNvSpPr/>
          <p:nvPr/>
        </p:nvSpPr>
        <p:spPr>
          <a:xfrm>
            <a:off x="384175" y="1374775"/>
            <a:ext cx="5635625" cy="4235450"/>
          </a:xfrm>
          <a:custGeom>
            <a:avLst/>
            <a:gdLst/>
            <a:ahLst/>
            <a:cxnLst/>
            <a:rect l="l" t="t" r="r" b="b"/>
            <a:pathLst>
              <a:path w="5635625" h="4235450">
                <a:moveTo>
                  <a:pt x="76196" y="0"/>
                </a:moveTo>
                <a:lnTo>
                  <a:pt x="5559429" y="0"/>
                </a:lnTo>
                <a:cubicBezTo>
                  <a:pt x="5601511" y="0"/>
                  <a:pt x="5635625" y="34114"/>
                  <a:pt x="5635625" y="76196"/>
                </a:cubicBezTo>
                <a:lnTo>
                  <a:pt x="5635625" y="4159254"/>
                </a:lnTo>
                <a:cubicBezTo>
                  <a:pt x="5635625" y="4201336"/>
                  <a:pt x="5601511" y="4235450"/>
                  <a:pt x="5559429" y="4235450"/>
                </a:cubicBezTo>
                <a:lnTo>
                  <a:pt x="76196" y="4235450"/>
                </a:lnTo>
                <a:cubicBezTo>
                  <a:pt x="34114" y="4235450"/>
                  <a:pt x="0" y="4201336"/>
                  <a:pt x="0" y="4159254"/>
                </a:cubicBezTo>
                <a:lnTo>
                  <a:pt x="0" y="76196"/>
                </a:lnTo>
                <a:cubicBezTo>
                  <a:pt x="0" y="34142"/>
                  <a:pt x="34142" y="0"/>
                  <a:pt x="76196" y="0"/>
                </a:cubicBezTo>
                <a:close/>
              </a:path>
            </a:pathLst>
          </a:custGeom>
          <a:solidFill>
            <a:srgbClr val="FFFFFF">
              <a:alpha val="10196"/>
            </a:srgbClr>
          </a:solidFill>
          <a:ln w="8467">
            <a:solidFill>
              <a:srgbClr val="FFFFFF">
                <a:alpha val="20000"/>
              </a:srgbClr>
            </a:solidFill>
            <a:prstDash val="solid"/>
          </a:ln>
        </p:spPr>
      </p:sp>
      <p:sp>
        <p:nvSpPr>
          <p:cNvPr id="8" name="Shape 5"/>
          <p:cNvSpPr/>
          <p:nvPr/>
        </p:nvSpPr>
        <p:spPr>
          <a:xfrm>
            <a:off x="568325" y="1549412"/>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C5A56A"/>
          </a:solidFill>
          <a:ln/>
        </p:spPr>
      </p:sp>
      <p:sp>
        <p:nvSpPr>
          <p:cNvPr id="9" name="Text 6"/>
          <p:cNvSpPr/>
          <p:nvPr/>
        </p:nvSpPr>
        <p:spPr>
          <a:xfrm>
            <a:off x="939800" y="1530362"/>
            <a:ext cx="1428750" cy="266700"/>
          </a:xfrm>
          <a:prstGeom prst="rect">
            <a:avLst/>
          </a:prstGeom>
          <a:noFill/>
          <a:ln/>
        </p:spPr>
        <p:txBody>
          <a:bodyPr wrap="square" lIns="0" tIns="0" rIns="0" bIns="0" rtlCol="0" anchor="ctr"/>
          <a:lstStyle/>
          <a:p>
            <a:pPr>
              <a:lnSpc>
                <a:spcPct val="130000"/>
              </a:lnSpc>
            </a:pPr>
            <a:r>
              <a:rPr lang="en-US" sz="1350" b="1" dirty="0">
                <a:solidFill>
                  <a:srgbClr val="F8F9FA"/>
                </a:solidFill>
                <a:latin typeface="Liter" pitchFamily="34" charset="0"/>
                <a:ea typeface="Liter" pitchFamily="34" charset="-122"/>
                <a:cs typeface="Liter" pitchFamily="34" charset="-120"/>
              </a:rPr>
              <a:t>Control Measures</a:t>
            </a:r>
            <a:endParaRPr lang="en-US" sz="1600" dirty="0"/>
          </a:p>
        </p:txBody>
      </p:sp>
      <p:sp>
        <p:nvSpPr>
          <p:cNvPr id="10" name="Shape 7"/>
          <p:cNvSpPr/>
          <p:nvPr/>
        </p:nvSpPr>
        <p:spPr>
          <a:xfrm>
            <a:off x="539750" y="1911362"/>
            <a:ext cx="5324475" cy="647700"/>
          </a:xfrm>
          <a:custGeom>
            <a:avLst/>
            <a:gdLst/>
            <a:ahLst/>
            <a:cxnLst/>
            <a:rect l="l" t="t" r="r" b="b"/>
            <a:pathLst>
              <a:path w="5324475" h="647700">
                <a:moveTo>
                  <a:pt x="38098" y="0"/>
                </a:moveTo>
                <a:lnTo>
                  <a:pt x="5286377" y="0"/>
                </a:lnTo>
                <a:cubicBezTo>
                  <a:pt x="5307404" y="0"/>
                  <a:pt x="5324475" y="17071"/>
                  <a:pt x="5324475" y="38098"/>
                </a:cubicBezTo>
                <a:lnTo>
                  <a:pt x="5324475" y="609602"/>
                </a:lnTo>
                <a:cubicBezTo>
                  <a:pt x="5324475" y="630643"/>
                  <a:pt x="5307418" y="647700"/>
                  <a:pt x="5286377"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alpha val="10196"/>
            </a:srgbClr>
          </a:solidFill>
          <a:ln/>
        </p:spPr>
      </p:sp>
      <p:sp>
        <p:nvSpPr>
          <p:cNvPr id="11" name="Text 8"/>
          <p:cNvSpPr/>
          <p:nvPr/>
        </p:nvSpPr>
        <p:spPr>
          <a:xfrm>
            <a:off x="615950" y="1987562"/>
            <a:ext cx="5248275" cy="228600"/>
          </a:xfrm>
          <a:prstGeom prst="rect">
            <a:avLst/>
          </a:prstGeom>
          <a:noFill/>
          <a:ln/>
        </p:spPr>
        <p:txBody>
          <a:bodyPr wrap="square" lIns="0" tIns="0" rIns="0" bIns="0" rtlCol="0" anchor="ctr"/>
          <a:lstStyle/>
          <a:p>
            <a:pPr>
              <a:lnSpc>
                <a:spcPct val="130000"/>
              </a:lnSpc>
            </a:pPr>
            <a:r>
              <a:rPr lang="en-US" sz="1200" b="1" dirty="0">
                <a:solidFill>
                  <a:srgbClr val="C5A56A"/>
                </a:solidFill>
                <a:latin typeface="Liter" pitchFamily="34" charset="0"/>
                <a:ea typeface="Liter" pitchFamily="34" charset="-122"/>
                <a:cs typeface="Liter" pitchFamily="34" charset="-120"/>
              </a:rPr>
              <a:t>Standardization &amp; SOPs</a:t>
            </a:r>
            <a:endParaRPr lang="en-US" sz="1600" dirty="0"/>
          </a:p>
        </p:txBody>
      </p:sp>
      <p:sp>
        <p:nvSpPr>
          <p:cNvPr id="12" name="Text 9"/>
          <p:cNvSpPr/>
          <p:nvPr/>
        </p:nvSpPr>
        <p:spPr>
          <a:xfrm>
            <a:off x="615950" y="2254262"/>
            <a:ext cx="5248275" cy="228600"/>
          </a:xfrm>
          <a:prstGeom prst="rect">
            <a:avLst/>
          </a:prstGeom>
          <a:noFill/>
          <a:ln/>
        </p:spPr>
        <p:txBody>
          <a:bodyPr wrap="square" lIns="0" tIns="0" rIns="0" bIns="0" rtlCol="0" anchor="ctr"/>
          <a:lstStyle/>
          <a:p>
            <a:pPr>
              <a:lnSpc>
                <a:spcPct val="130000"/>
              </a:lnSpc>
            </a:pPr>
            <a:r>
              <a:rPr lang="en-US" sz="1200" dirty="0">
                <a:solidFill>
                  <a:srgbClr val="F8F9FA">
                    <a:alpha val="90000"/>
                  </a:srgbClr>
                </a:solidFill>
                <a:latin typeface="Liter" pitchFamily="34" charset="0"/>
                <a:ea typeface="Liter" pitchFamily="34" charset="-122"/>
                <a:cs typeface="Liter" pitchFamily="34" charset="-120"/>
              </a:rPr>
              <a:t>Documented retention procedures</a:t>
            </a:r>
            <a:endParaRPr lang="en-US" sz="1600" dirty="0"/>
          </a:p>
        </p:txBody>
      </p:sp>
      <p:sp>
        <p:nvSpPr>
          <p:cNvPr id="13" name="Shape 10"/>
          <p:cNvSpPr/>
          <p:nvPr/>
        </p:nvSpPr>
        <p:spPr>
          <a:xfrm>
            <a:off x="539750" y="2635262"/>
            <a:ext cx="5324475" cy="647700"/>
          </a:xfrm>
          <a:custGeom>
            <a:avLst/>
            <a:gdLst/>
            <a:ahLst/>
            <a:cxnLst/>
            <a:rect l="l" t="t" r="r" b="b"/>
            <a:pathLst>
              <a:path w="5324475" h="647700">
                <a:moveTo>
                  <a:pt x="38098" y="0"/>
                </a:moveTo>
                <a:lnTo>
                  <a:pt x="5286377" y="0"/>
                </a:lnTo>
                <a:cubicBezTo>
                  <a:pt x="5307404" y="0"/>
                  <a:pt x="5324475" y="17071"/>
                  <a:pt x="5324475" y="38098"/>
                </a:cubicBezTo>
                <a:lnTo>
                  <a:pt x="5324475" y="609602"/>
                </a:lnTo>
                <a:cubicBezTo>
                  <a:pt x="5324475" y="630643"/>
                  <a:pt x="5307418" y="647700"/>
                  <a:pt x="5286377"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alpha val="10196"/>
            </a:srgbClr>
          </a:solidFill>
          <a:ln/>
        </p:spPr>
      </p:sp>
      <p:sp>
        <p:nvSpPr>
          <p:cNvPr id="14" name="Text 11"/>
          <p:cNvSpPr/>
          <p:nvPr/>
        </p:nvSpPr>
        <p:spPr>
          <a:xfrm>
            <a:off x="615950" y="2711462"/>
            <a:ext cx="5248275" cy="228600"/>
          </a:xfrm>
          <a:prstGeom prst="rect">
            <a:avLst/>
          </a:prstGeom>
          <a:noFill/>
          <a:ln/>
        </p:spPr>
        <p:txBody>
          <a:bodyPr wrap="square" lIns="0" tIns="0" rIns="0" bIns="0" rtlCol="0" anchor="ctr"/>
          <a:lstStyle/>
          <a:p>
            <a:pPr>
              <a:lnSpc>
                <a:spcPct val="130000"/>
              </a:lnSpc>
            </a:pPr>
            <a:r>
              <a:rPr lang="en-US" sz="1200" b="1" dirty="0">
                <a:solidFill>
                  <a:srgbClr val="C5A56A"/>
                </a:solidFill>
                <a:latin typeface="Liter" pitchFamily="34" charset="0"/>
                <a:ea typeface="Liter" pitchFamily="34" charset="-122"/>
                <a:cs typeface="Liter" pitchFamily="34" charset="-120"/>
              </a:rPr>
              <a:t>Attrition Dashboards</a:t>
            </a:r>
            <a:endParaRPr lang="en-US" sz="1600" dirty="0"/>
          </a:p>
        </p:txBody>
      </p:sp>
      <p:sp>
        <p:nvSpPr>
          <p:cNvPr id="15" name="Text 12"/>
          <p:cNvSpPr/>
          <p:nvPr/>
        </p:nvSpPr>
        <p:spPr>
          <a:xfrm>
            <a:off x="615950" y="2978162"/>
            <a:ext cx="5248275" cy="228600"/>
          </a:xfrm>
          <a:prstGeom prst="rect">
            <a:avLst/>
          </a:prstGeom>
          <a:noFill/>
          <a:ln/>
        </p:spPr>
        <p:txBody>
          <a:bodyPr wrap="square" lIns="0" tIns="0" rIns="0" bIns="0" rtlCol="0" anchor="ctr"/>
          <a:lstStyle/>
          <a:p>
            <a:pPr>
              <a:lnSpc>
                <a:spcPct val="130000"/>
              </a:lnSpc>
            </a:pPr>
            <a:r>
              <a:rPr lang="en-US" sz="1200" dirty="0">
                <a:solidFill>
                  <a:srgbClr val="F8F9FA">
                    <a:alpha val="90000"/>
                  </a:srgbClr>
                </a:solidFill>
                <a:latin typeface="Liter" pitchFamily="34" charset="0"/>
                <a:ea typeface="Liter" pitchFamily="34" charset="-122"/>
                <a:cs typeface="Liter" pitchFamily="34" charset="-120"/>
              </a:rPr>
              <a:t>Monthly np-charts &amp; trend analysis</a:t>
            </a:r>
            <a:endParaRPr lang="en-US" sz="1600" dirty="0"/>
          </a:p>
        </p:txBody>
      </p:sp>
      <p:sp>
        <p:nvSpPr>
          <p:cNvPr id="16" name="Shape 13"/>
          <p:cNvSpPr/>
          <p:nvPr/>
        </p:nvSpPr>
        <p:spPr>
          <a:xfrm>
            <a:off x="539750" y="3359162"/>
            <a:ext cx="5324475" cy="647700"/>
          </a:xfrm>
          <a:custGeom>
            <a:avLst/>
            <a:gdLst/>
            <a:ahLst/>
            <a:cxnLst/>
            <a:rect l="l" t="t" r="r" b="b"/>
            <a:pathLst>
              <a:path w="5324475" h="647700">
                <a:moveTo>
                  <a:pt x="38098" y="0"/>
                </a:moveTo>
                <a:lnTo>
                  <a:pt x="5286377" y="0"/>
                </a:lnTo>
                <a:cubicBezTo>
                  <a:pt x="5307404" y="0"/>
                  <a:pt x="5324475" y="17071"/>
                  <a:pt x="5324475" y="38098"/>
                </a:cubicBezTo>
                <a:lnTo>
                  <a:pt x="5324475" y="609602"/>
                </a:lnTo>
                <a:cubicBezTo>
                  <a:pt x="5324475" y="630643"/>
                  <a:pt x="5307418" y="647700"/>
                  <a:pt x="5286377"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alpha val="10196"/>
            </a:srgbClr>
          </a:solidFill>
          <a:ln/>
        </p:spPr>
      </p:sp>
      <p:sp>
        <p:nvSpPr>
          <p:cNvPr id="17" name="Text 14"/>
          <p:cNvSpPr/>
          <p:nvPr/>
        </p:nvSpPr>
        <p:spPr>
          <a:xfrm>
            <a:off x="615950" y="3435362"/>
            <a:ext cx="5248275" cy="228600"/>
          </a:xfrm>
          <a:prstGeom prst="rect">
            <a:avLst/>
          </a:prstGeom>
          <a:noFill/>
          <a:ln/>
        </p:spPr>
        <p:txBody>
          <a:bodyPr wrap="square" lIns="0" tIns="0" rIns="0" bIns="0" rtlCol="0" anchor="ctr"/>
          <a:lstStyle/>
          <a:p>
            <a:pPr>
              <a:lnSpc>
                <a:spcPct val="130000"/>
              </a:lnSpc>
            </a:pPr>
            <a:r>
              <a:rPr lang="en-US" sz="1200" b="1" dirty="0">
                <a:solidFill>
                  <a:srgbClr val="C5A56A"/>
                </a:solidFill>
                <a:latin typeface="Liter" pitchFamily="34" charset="0"/>
                <a:ea typeface="Liter" pitchFamily="34" charset="-122"/>
                <a:cs typeface="Liter" pitchFamily="34" charset="-120"/>
              </a:rPr>
              <a:t>KPIs</a:t>
            </a:r>
            <a:endParaRPr lang="en-US" sz="1600" dirty="0"/>
          </a:p>
        </p:txBody>
      </p:sp>
      <p:sp>
        <p:nvSpPr>
          <p:cNvPr id="18" name="Text 15"/>
          <p:cNvSpPr/>
          <p:nvPr/>
        </p:nvSpPr>
        <p:spPr>
          <a:xfrm>
            <a:off x="615950" y="3702062"/>
            <a:ext cx="5248275" cy="228600"/>
          </a:xfrm>
          <a:prstGeom prst="rect">
            <a:avLst/>
          </a:prstGeom>
          <a:noFill/>
          <a:ln/>
        </p:spPr>
        <p:txBody>
          <a:bodyPr wrap="square" lIns="0" tIns="0" rIns="0" bIns="0" rtlCol="0" anchor="ctr"/>
          <a:lstStyle/>
          <a:p>
            <a:pPr>
              <a:lnSpc>
                <a:spcPct val="130000"/>
              </a:lnSpc>
            </a:pPr>
            <a:r>
              <a:rPr lang="en-US" sz="1200" dirty="0">
                <a:solidFill>
                  <a:srgbClr val="F8F9FA">
                    <a:alpha val="90000"/>
                  </a:srgbClr>
                </a:solidFill>
                <a:latin typeface="Liter" pitchFamily="34" charset="0"/>
                <a:ea typeface="Liter" pitchFamily="34" charset="-122"/>
                <a:cs typeface="Liter" pitchFamily="34" charset="-120"/>
              </a:rPr>
              <a:t>Attrition %, promotion cycle, work hours</a:t>
            </a:r>
            <a:endParaRPr lang="en-US" sz="1600" dirty="0"/>
          </a:p>
        </p:txBody>
      </p:sp>
      <p:sp>
        <p:nvSpPr>
          <p:cNvPr id="19" name="Shape 16"/>
          <p:cNvSpPr/>
          <p:nvPr/>
        </p:nvSpPr>
        <p:spPr>
          <a:xfrm>
            <a:off x="539750" y="4083062"/>
            <a:ext cx="5324475" cy="647700"/>
          </a:xfrm>
          <a:custGeom>
            <a:avLst/>
            <a:gdLst/>
            <a:ahLst/>
            <a:cxnLst/>
            <a:rect l="l" t="t" r="r" b="b"/>
            <a:pathLst>
              <a:path w="5324475" h="647700">
                <a:moveTo>
                  <a:pt x="38098" y="0"/>
                </a:moveTo>
                <a:lnTo>
                  <a:pt x="5286377" y="0"/>
                </a:lnTo>
                <a:cubicBezTo>
                  <a:pt x="5307404" y="0"/>
                  <a:pt x="5324475" y="17071"/>
                  <a:pt x="5324475" y="38098"/>
                </a:cubicBezTo>
                <a:lnTo>
                  <a:pt x="5324475" y="609602"/>
                </a:lnTo>
                <a:cubicBezTo>
                  <a:pt x="5324475" y="630643"/>
                  <a:pt x="5307418" y="647700"/>
                  <a:pt x="5286377"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alpha val="10196"/>
            </a:srgbClr>
          </a:solidFill>
          <a:ln/>
        </p:spPr>
      </p:sp>
      <p:sp>
        <p:nvSpPr>
          <p:cNvPr id="20" name="Text 17"/>
          <p:cNvSpPr/>
          <p:nvPr/>
        </p:nvSpPr>
        <p:spPr>
          <a:xfrm>
            <a:off x="615950" y="4159262"/>
            <a:ext cx="5248275" cy="228600"/>
          </a:xfrm>
          <a:prstGeom prst="rect">
            <a:avLst/>
          </a:prstGeom>
          <a:noFill/>
          <a:ln/>
        </p:spPr>
        <p:txBody>
          <a:bodyPr wrap="square" lIns="0" tIns="0" rIns="0" bIns="0" rtlCol="0" anchor="ctr"/>
          <a:lstStyle/>
          <a:p>
            <a:pPr>
              <a:lnSpc>
                <a:spcPct val="130000"/>
              </a:lnSpc>
            </a:pPr>
            <a:r>
              <a:rPr lang="en-US" sz="1200" b="1" dirty="0">
                <a:solidFill>
                  <a:srgbClr val="C5A56A"/>
                </a:solidFill>
                <a:latin typeface="Liter" pitchFamily="34" charset="0"/>
                <a:ea typeface="Liter" pitchFamily="34" charset="-122"/>
                <a:cs typeface="Liter" pitchFamily="34" charset="-120"/>
              </a:rPr>
              <a:t>Preventive Controls</a:t>
            </a:r>
            <a:endParaRPr lang="en-US" sz="1600" dirty="0"/>
          </a:p>
        </p:txBody>
      </p:sp>
      <p:sp>
        <p:nvSpPr>
          <p:cNvPr id="21" name="Text 18"/>
          <p:cNvSpPr/>
          <p:nvPr/>
        </p:nvSpPr>
        <p:spPr>
          <a:xfrm>
            <a:off x="615950" y="4425962"/>
            <a:ext cx="5248275" cy="228600"/>
          </a:xfrm>
          <a:prstGeom prst="rect">
            <a:avLst/>
          </a:prstGeom>
          <a:noFill/>
          <a:ln/>
        </p:spPr>
        <p:txBody>
          <a:bodyPr wrap="square" lIns="0" tIns="0" rIns="0" bIns="0" rtlCol="0" anchor="ctr"/>
          <a:lstStyle/>
          <a:p>
            <a:pPr>
              <a:lnSpc>
                <a:spcPct val="130000"/>
              </a:lnSpc>
            </a:pPr>
            <a:r>
              <a:rPr lang="en-US" sz="1200" dirty="0">
                <a:solidFill>
                  <a:srgbClr val="F8F9FA">
                    <a:alpha val="90000"/>
                  </a:srgbClr>
                </a:solidFill>
                <a:latin typeface="Liter" pitchFamily="34" charset="0"/>
                <a:ea typeface="Liter" pitchFamily="34" charset="-122"/>
                <a:cs typeface="Liter" pitchFamily="34" charset="-120"/>
              </a:rPr>
              <a:t>Alerts, audits, benchmarking</a:t>
            </a:r>
            <a:endParaRPr lang="en-US" sz="1600" dirty="0"/>
          </a:p>
        </p:txBody>
      </p:sp>
      <p:sp>
        <p:nvSpPr>
          <p:cNvPr id="22" name="Shape 19"/>
          <p:cNvSpPr/>
          <p:nvPr/>
        </p:nvSpPr>
        <p:spPr>
          <a:xfrm>
            <a:off x="539750" y="4806962"/>
            <a:ext cx="5324475" cy="647700"/>
          </a:xfrm>
          <a:custGeom>
            <a:avLst/>
            <a:gdLst/>
            <a:ahLst/>
            <a:cxnLst/>
            <a:rect l="l" t="t" r="r" b="b"/>
            <a:pathLst>
              <a:path w="5324475" h="647700">
                <a:moveTo>
                  <a:pt x="38098" y="0"/>
                </a:moveTo>
                <a:lnTo>
                  <a:pt x="5286377" y="0"/>
                </a:lnTo>
                <a:cubicBezTo>
                  <a:pt x="5307404" y="0"/>
                  <a:pt x="5324475" y="17071"/>
                  <a:pt x="5324475" y="38098"/>
                </a:cubicBezTo>
                <a:lnTo>
                  <a:pt x="5324475" y="609602"/>
                </a:lnTo>
                <a:cubicBezTo>
                  <a:pt x="5324475" y="630643"/>
                  <a:pt x="5307418" y="647700"/>
                  <a:pt x="5286377"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alpha val="10196"/>
            </a:srgbClr>
          </a:solidFill>
          <a:ln/>
        </p:spPr>
      </p:sp>
      <p:sp>
        <p:nvSpPr>
          <p:cNvPr id="23" name="Text 20"/>
          <p:cNvSpPr/>
          <p:nvPr/>
        </p:nvSpPr>
        <p:spPr>
          <a:xfrm>
            <a:off x="615950" y="4883162"/>
            <a:ext cx="5248275" cy="228600"/>
          </a:xfrm>
          <a:prstGeom prst="rect">
            <a:avLst/>
          </a:prstGeom>
          <a:noFill/>
          <a:ln/>
        </p:spPr>
        <p:txBody>
          <a:bodyPr wrap="square" lIns="0" tIns="0" rIns="0" bIns="0" rtlCol="0" anchor="ctr"/>
          <a:lstStyle/>
          <a:p>
            <a:pPr>
              <a:lnSpc>
                <a:spcPct val="130000"/>
              </a:lnSpc>
            </a:pPr>
            <a:r>
              <a:rPr lang="en-US" sz="1200" b="1" dirty="0">
                <a:solidFill>
                  <a:srgbClr val="C5A56A"/>
                </a:solidFill>
                <a:latin typeface="Liter" pitchFamily="34" charset="0"/>
                <a:ea typeface="Liter" pitchFamily="34" charset="-122"/>
                <a:cs typeface="Liter" pitchFamily="34" charset="-120"/>
              </a:rPr>
              <a:t>Feedback Loops</a:t>
            </a:r>
            <a:endParaRPr lang="en-US" sz="1600" dirty="0"/>
          </a:p>
        </p:txBody>
      </p:sp>
      <p:sp>
        <p:nvSpPr>
          <p:cNvPr id="24" name="Text 21"/>
          <p:cNvSpPr/>
          <p:nvPr/>
        </p:nvSpPr>
        <p:spPr>
          <a:xfrm>
            <a:off x="615950" y="5149862"/>
            <a:ext cx="5248275" cy="228600"/>
          </a:xfrm>
          <a:prstGeom prst="rect">
            <a:avLst/>
          </a:prstGeom>
          <a:noFill/>
          <a:ln/>
        </p:spPr>
        <p:txBody>
          <a:bodyPr wrap="square" lIns="0" tIns="0" rIns="0" bIns="0" rtlCol="0" anchor="ctr"/>
          <a:lstStyle/>
          <a:p>
            <a:pPr>
              <a:lnSpc>
                <a:spcPct val="130000"/>
              </a:lnSpc>
            </a:pPr>
            <a:r>
              <a:rPr lang="en-US" sz="1200" dirty="0">
                <a:solidFill>
                  <a:srgbClr val="F8F9FA">
                    <a:alpha val="90000"/>
                  </a:srgbClr>
                </a:solidFill>
                <a:latin typeface="Liter" pitchFamily="34" charset="0"/>
                <a:ea typeface="Liter" pitchFamily="34" charset="-122"/>
                <a:cs typeface="Liter" pitchFamily="34" charset="-120"/>
              </a:rPr>
              <a:t>Surveys, exit interview checks</a:t>
            </a:r>
            <a:endParaRPr lang="en-US" sz="1600" dirty="0"/>
          </a:p>
        </p:txBody>
      </p:sp>
      <p:sp>
        <p:nvSpPr>
          <p:cNvPr id="25" name="Shape 22"/>
          <p:cNvSpPr/>
          <p:nvPr/>
        </p:nvSpPr>
        <p:spPr>
          <a:xfrm>
            <a:off x="6175375" y="1374775"/>
            <a:ext cx="5635625" cy="2139950"/>
          </a:xfrm>
          <a:custGeom>
            <a:avLst/>
            <a:gdLst/>
            <a:ahLst/>
            <a:cxnLst/>
            <a:rect l="l" t="t" r="r" b="b"/>
            <a:pathLst>
              <a:path w="5635625" h="2139950">
                <a:moveTo>
                  <a:pt x="76204" y="0"/>
                </a:moveTo>
                <a:lnTo>
                  <a:pt x="5559421" y="0"/>
                </a:lnTo>
                <a:cubicBezTo>
                  <a:pt x="5601507" y="0"/>
                  <a:pt x="5635625" y="34118"/>
                  <a:pt x="5635625" y="76204"/>
                </a:cubicBezTo>
                <a:lnTo>
                  <a:pt x="5635625" y="2063746"/>
                </a:lnTo>
                <a:cubicBezTo>
                  <a:pt x="5635625" y="2105832"/>
                  <a:pt x="5601507" y="2139950"/>
                  <a:pt x="5559421" y="2139950"/>
                </a:cubicBezTo>
                <a:lnTo>
                  <a:pt x="76204" y="2139950"/>
                </a:lnTo>
                <a:cubicBezTo>
                  <a:pt x="34118" y="2139950"/>
                  <a:pt x="0" y="2105832"/>
                  <a:pt x="0" y="2063746"/>
                </a:cubicBezTo>
                <a:lnTo>
                  <a:pt x="0" y="76204"/>
                </a:lnTo>
                <a:cubicBezTo>
                  <a:pt x="0" y="34146"/>
                  <a:pt x="34146" y="0"/>
                  <a:pt x="76204" y="0"/>
                </a:cubicBezTo>
                <a:close/>
              </a:path>
            </a:pathLst>
          </a:custGeom>
          <a:solidFill>
            <a:srgbClr val="FFFFFF">
              <a:alpha val="10196"/>
            </a:srgbClr>
          </a:solidFill>
          <a:ln w="8467">
            <a:solidFill>
              <a:srgbClr val="FFFFFF">
                <a:alpha val="20000"/>
              </a:srgbClr>
            </a:solidFill>
            <a:prstDash val="solid"/>
          </a:ln>
        </p:spPr>
      </p:sp>
      <p:sp>
        <p:nvSpPr>
          <p:cNvPr id="26" name="Shape 23"/>
          <p:cNvSpPr/>
          <p:nvPr/>
        </p:nvSpPr>
        <p:spPr>
          <a:xfrm>
            <a:off x="6388100" y="1549412"/>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C5A56A"/>
          </a:solidFill>
          <a:ln/>
        </p:spPr>
      </p:sp>
      <p:sp>
        <p:nvSpPr>
          <p:cNvPr id="27" name="Text 24"/>
          <p:cNvSpPr/>
          <p:nvPr/>
        </p:nvSpPr>
        <p:spPr>
          <a:xfrm>
            <a:off x="6731000" y="1530362"/>
            <a:ext cx="1895475" cy="266700"/>
          </a:xfrm>
          <a:prstGeom prst="rect">
            <a:avLst/>
          </a:prstGeom>
          <a:noFill/>
          <a:ln/>
        </p:spPr>
        <p:txBody>
          <a:bodyPr wrap="square" lIns="0" tIns="0" rIns="0" bIns="0" rtlCol="0" anchor="ctr"/>
          <a:lstStyle/>
          <a:p>
            <a:pPr>
              <a:lnSpc>
                <a:spcPct val="130000"/>
              </a:lnSpc>
            </a:pPr>
            <a:r>
              <a:rPr lang="en-US" sz="1350" b="1" dirty="0">
                <a:solidFill>
                  <a:srgbClr val="F8F9FA"/>
                </a:solidFill>
                <a:latin typeface="Liter" pitchFamily="34" charset="0"/>
                <a:ea typeface="Liter" pitchFamily="34" charset="-122"/>
                <a:cs typeface="Liter" pitchFamily="34" charset="-120"/>
              </a:rPr>
              <a:t>Final Recommendations</a:t>
            </a:r>
            <a:endParaRPr lang="en-US" sz="1600" dirty="0"/>
          </a:p>
        </p:txBody>
      </p:sp>
      <p:sp>
        <p:nvSpPr>
          <p:cNvPr id="28" name="Shape 25"/>
          <p:cNvSpPr/>
          <p:nvPr/>
        </p:nvSpPr>
        <p:spPr>
          <a:xfrm>
            <a:off x="6350000" y="194946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C5A56A"/>
          </a:solidFill>
          <a:ln/>
        </p:spPr>
      </p:sp>
      <p:sp>
        <p:nvSpPr>
          <p:cNvPr id="29" name="Text 26"/>
          <p:cNvSpPr/>
          <p:nvPr/>
        </p:nvSpPr>
        <p:spPr>
          <a:xfrm>
            <a:off x="6597650" y="1911362"/>
            <a:ext cx="3552825"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Liter" pitchFamily="34" charset="0"/>
                <a:ea typeface="Liter" pitchFamily="34" charset="-122"/>
                <a:cs typeface="Liter" pitchFamily="34" charset="-120"/>
              </a:rPr>
              <a:t>Align promotion cycle</a:t>
            </a:r>
            <a:r>
              <a:rPr lang="en-US" sz="1200" dirty="0">
                <a:solidFill>
                  <a:srgbClr val="F8F9FA"/>
                </a:solidFill>
                <a:latin typeface="Liter" pitchFamily="34" charset="0"/>
                <a:ea typeface="Liter" pitchFamily="34" charset="-122"/>
                <a:cs typeface="Liter" pitchFamily="34" charset="-120"/>
              </a:rPr>
              <a:t> with competitors (1-1.5 years)</a:t>
            </a:r>
            <a:endParaRPr lang="en-US" sz="1600" dirty="0"/>
          </a:p>
        </p:txBody>
      </p:sp>
      <p:sp>
        <p:nvSpPr>
          <p:cNvPr id="30" name="Shape 27"/>
          <p:cNvSpPr/>
          <p:nvPr/>
        </p:nvSpPr>
        <p:spPr>
          <a:xfrm>
            <a:off x="6350000" y="225426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C5A56A"/>
          </a:solidFill>
          <a:ln/>
        </p:spPr>
      </p:sp>
      <p:sp>
        <p:nvSpPr>
          <p:cNvPr id="31" name="Text 28"/>
          <p:cNvSpPr/>
          <p:nvPr/>
        </p:nvSpPr>
        <p:spPr>
          <a:xfrm>
            <a:off x="6597650" y="2216162"/>
            <a:ext cx="3019425"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Liter" pitchFamily="34" charset="0"/>
                <a:ea typeface="Liter" pitchFamily="34" charset="-122"/>
                <a:cs typeface="Liter" pitchFamily="34" charset="-120"/>
              </a:rPr>
              <a:t>Benchmark compensation</a:t>
            </a:r>
            <a:r>
              <a:rPr lang="en-US" sz="1200" dirty="0">
                <a:solidFill>
                  <a:srgbClr val="F8F9FA"/>
                </a:solidFill>
                <a:latin typeface="Liter" pitchFamily="34" charset="0"/>
                <a:ea typeface="Liter" pitchFamily="34" charset="-122"/>
                <a:cs typeface="Liter" pitchFamily="34" charset="-120"/>
              </a:rPr>
              <a:t> regularly &amp; adjust</a:t>
            </a:r>
            <a:endParaRPr lang="en-US" sz="1600" dirty="0"/>
          </a:p>
        </p:txBody>
      </p:sp>
      <p:sp>
        <p:nvSpPr>
          <p:cNvPr id="32" name="Shape 29"/>
          <p:cNvSpPr/>
          <p:nvPr/>
        </p:nvSpPr>
        <p:spPr>
          <a:xfrm>
            <a:off x="6350000" y="255906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C5A56A"/>
          </a:solidFill>
          <a:ln/>
        </p:spPr>
      </p:sp>
      <p:sp>
        <p:nvSpPr>
          <p:cNvPr id="33" name="Text 30"/>
          <p:cNvSpPr/>
          <p:nvPr/>
        </p:nvSpPr>
        <p:spPr>
          <a:xfrm>
            <a:off x="6597650" y="2520962"/>
            <a:ext cx="3219450"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Liter" pitchFamily="34" charset="0"/>
                <a:ea typeface="Liter" pitchFamily="34" charset="-122"/>
                <a:cs typeface="Liter" pitchFamily="34" charset="-120"/>
              </a:rPr>
              <a:t>Enforce work-life balance</a:t>
            </a:r>
            <a:r>
              <a:rPr lang="en-US" sz="1200" dirty="0">
                <a:solidFill>
                  <a:srgbClr val="F8F9FA"/>
                </a:solidFill>
                <a:latin typeface="Liter" pitchFamily="34" charset="0"/>
                <a:ea typeface="Liter" pitchFamily="34" charset="-122"/>
                <a:cs typeface="Liter" pitchFamily="34" charset="-120"/>
              </a:rPr>
              <a:t> policies (9-hour day)</a:t>
            </a:r>
            <a:endParaRPr lang="en-US" sz="1600" dirty="0"/>
          </a:p>
        </p:txBody>
      </p:sp>
      <p:sp>
        <p:nvSpPr>
          <p:cNvPr id="34" name="Shape 31"/>
          <p:cNvSpPr/>
          <p:nvPr/>
        </p:nvSpPr>
        <p:spPr>
          <a:xfrm>
            <a:off x="6350000" y="286386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C5A56A"/>
          </a:solidFill>
          <a:ln/>
        </p:spPr>
      </p:sp>
      <p:sp>
        <p:nvSpPr>
          <p:cNvPr id="35" name="Text 32"/>
          <p:cNvSpPr/>
          <p:nvPr/>
        </p:nvSpPr>
        <p:spPr>
          <a:xfrm>
            <a:off x="6597650" y="2825762"/>
            <a:ext cx="3152775"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Liter" pitchFamily="34" charset="0"/>
                <a:ea typeface="Liter" pitchFamily="34" charset="-122"/>
                <a:cs typeface="Liter" pitchFamily="34" charset="-120"/>
              </a:rPr>
              <a:t>Strengthen governance</a:t>
            </a:r>
            <a:r>
              <a:rPr lang="en-US" sz="1200" dirty="0">
                <a:solidFill>
                  <a:srgbClr val="F8F9FA"/>
                </a:solidFill>
                <a:latin typeface="Liter" pitchFamily="34" charset="0"/>
                <a:ea typeface="Liter" pitchFamily="34" charset="-122"/>
                <a:cs typeface="Liter" pitchFamily="34" charset="-120"/>
              </a:rPr>
              <a:t> &amp; monitoring systems</a:t>
            </a:r>
            <a:endParaRPr lang="en-US" sz="1600" dirty="0"/>
          </a:p>
        </p:txBody>
      </p:sp>
      <p:sp>
        <p:nvSpPr>
          <p:cNvPr id="36" name="Shape 33"/>
          <p:cNvSpPr/>
          <p:nvPr/>
        </p:nvSpPr>
        <p:spPr>
          <a:xfrm>
            <a:off x="6350000" y="316866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C5A56A"/>
          </a:solidFill>
          <a:ln/>
        </p:spPr>
      </p:sp>
      <p:sp>
        <p:nvSpPr>
          <p:cNvPr id="37" name="Text 34"/>
          <p:cNvSpPr/>
          <p:nvPr/>
        </p:nvSpPr>
        <p:spPr>
          <a:xfrm>
            <a:off x="6597650" y="3130562"/>
            <a:ext cx="3181350"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Liter" pitchFamily="34" charset="0"/>
                <a:ea typeface="Liter" pitchFamily="34" charset="-122"/>
                <a:cs typeface="Liter" pitchFamily="34" charset="-120"/>
              </a:rPr>
              <a:t>Continuous improvement</a:t>
            </a:r>
            <a:r>
              <a:rPr lang="en-US" sz="1200" dirty="0">
                <a:solidFill>
                  <a:srgbClr val="F8F9FA"/>
                </a:solidFill>
                <a:latin typeface="Liter" pitchFamily="34" charset="0"/>
                <a:ea typeface="Liter" pitchFamily="34" charset="-122"/>
                <a:cs typeface="Liter" pitchFamily="34" charset="-120"/>
              </a:rPr>
              <a:t> via quarterly reviews</a:t>
            </a:r>
            <a:endParaRPr lang="en-US" sz="1600" dirty="0"/>
          </a:p>
        </p:txBody>
      </p:sp>
      <p:sp>
        <p:nvSpPr>
          <p:cNvPr id="38" name="Shape 35"/>
          <p:cNvSpPr/>
          <p:nvPr/>
        </p:nvSpPr>
        <p:spPr>
          <a:xfrm>
            <a:off x="6172200" y="3632206"/>
            <a:ext cx="5638800" cy="1314450"/>
          </a:xfrm>
          <a:custGeom>
            <a:avLst/>
            <a:gdLst/>
            <a:ahLst/>
            <a:cxnLst/>
            <a:rect l="l" t="t" r="r" b="b"/>
            <a:pathLst>
              <a:path w="5638800" h="1314450">
                <a:moveTo>
                  <a:pt x="76199" y="0"/>
                </a:moveTo>
                <a:lnTo>
                  <a:pt x="5562601" y="0"/>
                </a:lnTo>
                <a:cubicBezTo>
                  <a:pt x="5604685" y="0"/>
                  <a:pt x="5638800" y="34115"/>
                  <a:pt x="5638800" y="76199"/>
                </a:cubicBezTo>
                <a:lnTo>
                  <a:pt x="5638800" y="1238251"/>
                </a:lnTo>
                <a:cubicBezTo>
                  <a:pt x="5638800" y="1280335"/>
                  <a:pt x="5604685" y="1314450"/>
                  <a:pt x="5562601" y="1314450"/>
                </a:cubicBezTo>
                <a:lnTo>
                  <a:pt x="76199" y="1314450"/>
                </a:lnTo>
                <a:cubicBezTo>
                  <a:pt x="34115" y="1314450"/>
                  <a:pt x="0" y="1280335"/>
                  <a:pt x="0" y="1238251"/>
                </a:cubicBezTo>
                <a:lnTo>
                  <a:pt x="0" y="76199"/>
                </a:lnTo>
                <a:cubicBezTo>
                  <a:pt x="0" y="34143"/>
                  <a:pt x="34143" y="0"/>
                  <a:pt x="76199" y="0"/>
                </a:cubicBezTo>
                <a:close/>
              </a:path>
            </a:pathLst>
          </a:custGeom>
          <a:solidFill>
            <a:srgbClr val="C5A56A"/>
          </a:solidFill>
          <a:ln/>
        </p:spPr>
      </p:sp>
      <p:sp>
        <p:nvSpPr>
          <p:cNvPr id="39" name="Shape 36"/>
          <p:cNvSpPr/>
          <p:nvPr/>
        </p:nvSpPr>
        <p:spPr>
          <a:xfrm>
            <a:off x="7942461" y="3784606"/>
            <a:ext cx="285750" cy="285750"/>
          </a:xfrm>
          <a:custGeom>
            <a:avLst/>
            <a:gdLst/>
            <a:ahLst/>
            <a:cxnLst/>
            <a:rect l="l" t="t" r="r" b="b"/>
            <a:pathLst>
              <a:path w="285750" h="285750">
                <a:moveTo>
                  <a:pt x="80535" y="0"/>
                </a:moveTo>
                <a:lnTo>
                  <a:pt x="205550" y="0"/>
                </a:lnTo>
                <a:cubicBezTo>
                  <a:pt x="220340" y="0"/>
                  <a:pt x="232395" y="12167"/>
                  <a:pt x="231837" y="26901"/>
                </a:cubicBezTo>
                <a:cubicBezTo>
                  <a:pt x="231725" y="29859"/>
                  <a:pt x="231614" y="32817"/>
                  <a:pt x="231446" y="35719"/>
                </a:cubicBezTo>
                <a:lnTo>
                  <a:pt x="259128" y="35719"/>
                </a:lnTo>
                <a:cubicBezTo>
                  <a:pt x="273695" y="35719"/>
                  <a:pt x="286531" y="47774"/>
                  <a:pt x="285415" y="63512"/>
                </a:cubicBezTo>
                <a:cubicBezTo>
                  <a:pt x="281229" y="121388"/>
                  <a:pt x="251650" y="153200"/>
                  <a:pt x="219559" y="169831"/>
                </a:cubicBezTo>
                <a:cubicBezTo>
                  <a:pt x="210741" y="174408"/>
                  <a:pt x="201755" y="177812"/>
                  <a:pt x="193216" y="180324"/>
                </a:cubicBezTo>
                <a:cubicBezTo>
                  <a:pt x="181942" y="196286"/>
                  <a:pt x="170222" y="204713"/>
                  <a:pt x="160902" y="209234"/>
                </a:cubicBezTo>
                <a:lnTo>
                  <a:pt x="160902" y="250031"/>
                </a:lnTo>
                <a:lnTo>
                  <a:pt x="196621" y="250031"/>
                </a:lnTo>
                <a:cubicBezTo>
                  <a:pt x="206499" y="250031"/>
                  <a:pt x="214480" y="258012"/>
                  <a:pt x="214480" y="267891"/>
                </a:cubicBezTo>
                <a:cubicBezTo>
                  <a:pt x="214480" y="277769"/>
                  <a:pt x="206499" y="285750"/>
                  <a:pt x="196621" y="285750"/>
                </a:cubicBezTo>
                <a:lnTo>
                  <a:pt x="89464" y="285750"/>
                </a:lnTo>
                <a:cubicBezTo>
                  <a:pt x="79586" y="285750"/>
                  <a:pt x="71605" y="277769"/>
                  <a:pt x="71605" y="267891"/>
                </a:cubicBezTo>
                <a:cubicBezTo>
                  <a:pt x="71605" y="258012"/>
                  <a:pt x="79586" y="250031"/>
                  <a:pt x="89464" y="250031"/>
                </a:cubicBezTo>
                <a:lnTo>
                  <a:pt x="125183" y="250031"/>
                </a:lnTo>
                <a:lnTo>
                  <a:pt x="125183" y="209234"/>
                </a:lnTo>
                <a:cubicBezTo>
                  <a:pt x="116253" y="204936"/>
                  <a:pt x="105147" y="196955"/>
                  <a:pt x="94320" y="182277"/>
                </a:cubicBezTo>
                <a:cubicBezTo>
                  <a:pt x="84051" y="179598"/>
                  <a:pt x="72889" y="175524"/>
                  <a:pt x="62006" y="169385"/>
                </a:cubicBezTo>
                <a:cubicBezTo>
                  <a:pt x="31812" y="152474"/>
                  <a:pt x="4576" y="120607"/>
                  <a:pt x="670" y="63401"/>
                </a:cubicBezTo>
                <a:cubicBezTo>
                  <a:pt x="-391" y="47718"/>
                  <a:pt x="12390" y="35663"/>
                  <a:pt x="26956" y="35663"/>
                </a:cubicBezTo>
                <a:lnTo>
                  <a:pt x="54639" y="35663"/>
                </a:lnTo>
                <a:cubicBezTo>
                  <a:pt x="54471" y="32761"/>
                  <a:pt x="54359" y="29859"/>
                  <a:pt x="54248" y="26845"/>
                </a:cubicBezTo>
                <a:cubicBezTo>
                  <a:pt x="53690" y="12055"/>
                  <a:pt x="65745" y="-56"/>
                  <a:pt x="80535" y="-56"/>
                </a:cubicBezTo>
                <a:close/>
                <a:moveTo>
                  <a:pt x="56648" y="62508"/>
                </a:moveTo>
                <a:lnTo>
                  <a:pt x="27403" y="62508"/>
                </a:lnTo>
                <a:cubicBezTo>
                  <a:pt x="30863" y="109779"/>
                  <a:pt x="52574" y="133443"/>
                  <a:pt x="74954" y="146000"/>
                </a:cubicBezTo>
                <a:cubicBezTo>
                  <a:pt x="66917" y="125183"/>
                  <a:pt x="60275" y="98003"/>
                  <a:pt x="56648" y="62508"/>
                </a:cubicBezTo>
                <a:close/>
                <a:moveTo>
                  <a:pt x="212080" y="143321"/>
                </a:moveTo>
                <a:cubicBezTo>
                  <a:pt x="234683" y="130039"/>
                  <a:pt x="255110" y="106431"/>
                  <a:pt x="258570" y="62508"/>
                </a:cubicBezTo>
                <a:lnTo>
                  <a:pt x="229381" y="62508"/>
                </a:lnTo>
                <a:cubicBezTo>
                  <a:pt x="225921" y="96496"/>
                  <a:pt x="219670" y="122895"/>
                  <a:pt x="212080" y="143321"/>
                </a:cubicBezTo>
                <a:close/>
              </a:path>
            </a:pathLst>
          </a:custGeom>
          <a:solidFill>
            <a:srgbClr val="FFFFFF"/>
          </a:solidFill>
          <a:ln/>
        </p:spPr>
      </p:sp>
      <p:sp>
        <p:nvSpPr>
          <p:cNvPr id="40" name="Text 37"/>
          <p:cNvSpPr/>
          <p:nvPr/>
        </p:nvSpPr>
        <p:spPr>
          <a:xfrm>
            <a:off x="8328224" y="3794131"/>
            <a:ext cx="1800225" cy="2667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Target Achievement</a:t>
            </a:r>
            <a:endParaRPr lang="en-US" sz="1600" dirty="0"/>
          </a:p>
        </p:txBody>
      </p:sp>
      <p:sp>
        <p:nvSpPr>
          <p:cNvPr id="41" name="Text 38"/>
          <p:cNvSpPr/>
          <p:nvPr/>
        </p:nvSpPr>
        <p:spPr>
          <a:xfrm>
            <a:off x="6238875" y="4146556"/>
            <a:ext cx="5505450" cy="381000"/>
          </a:xfrm>
          <a:prstGeom prst="rect">
            <a:avLst/>
          </a:prstGeom>
          <a:noFill/>
          <a:ln/>
        </p:spPr>
        <p:txBody>
          <a:bodyPr wrap="square" lIns="0" tIns="0" rIns="0" bIns="0" rtlCol="0" anchor="ctr"/>
          <a:lstStyle/>
          <a:p>
            <a:pPr algn="ctr">
              <a:lnSpc>
                <a:spcPct val="90000"/>
              </a:lnSpc>
            </a:pPr>
            <a:r>
              <a:rPr lang="en-US" sz="2700" b="1" dirty="0">
                <a:solidFill>
                  <a:srgbClr val="FFFFFF"/>
                </a:solidFill>
                <a:latin typeface="Liter" pitchFamily="34" charset="0"/>
                <a:ea typeface="Liter" pitchFamily="34" charset="-122"/>
                <a:cs typeface="Liter" pitchFamily="34" charset="-120"/>
              </a:rPr>
              <a:t>Attrition ≤ 1%</a:t>
            </a:r>
            <a:endParaRPr lang="en-US" sz="1600" dirty="0"/>
          </a:p>
        </p:txBody>
      </p:sp>
      <p:sp>
        <p:nvSpPr>
          <p:cNvPr id="42" name="Text 39"/>
          <p:cNvSpPr/>
          <p:nvPr/>
        </p:nvSpPr>
        <p:spPr>
          <a:xfrm>
            <a:off x="6286500" y="4565656"/>
            <a:ext cx="5410200" cy="228600"/>
          </a:xfrm>
          <a:prstGeom prst="rect">
            <a:avLst/>
          </a:prstGeom>
          <a:noFill/>
          <a:ln/>
        </p:spPr>
        <p:txBody>
          <a:bodyPr wrap="square" lIns="0" tIns="0" rIns="0" bIns="0" rtlCol="0" anchor="ctr"/>
          <a:lstStyle/>
          <a:p>
            <a:pPr algn="ctr">
              <a:lnSpc>
                <a:spcPct val="130000"/>
              </a:lnSpc>
            </a:pPr>
            <a:r>
              <a:rPr lang="en-US" sz="1200" dirty="0">
                <a:solidFill>
                  <a:srgbClr val="FFFFFF">
                    <a:alpha val="90000"/>
                  </a:srgbClr>
                </a:solidFill>
                <a:latin typeface="Liter" pitchFamily="34" charset="0"/>
                <a:ea typeface="Liter" pitchFamily="34" charset="-122"/>
                <a:cs typeface="Liter" pitchFamily="34" charset="-120"/>
              </a:rPr>
              <a:t>by Q3 2025</a:t>
            </a:r>
            <a:endParaRPr lang="en-US" sz="1600" dirty="0"/>
          </a:p>
        </p:txBody>
      </p:sp>
      <p:sp>
        <p:nvSpPr>
          <p:cNvPr id="43" name="Shape 40"/>
          <p:cNvSpPr/>
          <p:nvPr/>
        </p:nvSpPr>
        <p:spPr>
          <a:xfrm>
            <a:off x="6175375" y="5064131"/>
            <a:ext cx="5635625" cy="920750"/>
          </a:xfrm>
          <a:custGeom>
            <a:avLst/>
            <a:gdLst/>
            <a:ahLst/>
            <a:cxnLst/>
            <a:rect l="l" t="t" r="r" b="b"/>
            <a:pathLst>
              <a:path w="5635625" h="920750">
                <a:moveTo>
                  <a:pt x="76201" y="0"/>
                </a:moveTo>
                <a:lnTo>
                  <a:pt x="5559424" y="0"/>
                </a:lnTo>
                <a:cubicBezTo>
                  <a:pt x="5601509" y="0"/>
                  <a:pt x="5635625" y="34116"/>
                  <a:pt x="5635625" y="76201"/>
                </a:cubicBezTo>
                <a:lnTo>
                  <a:pt x="5635625" y="844549"/>
                </a:lnTo>
                <a:cubicBezTo>
                  <a:pt x="5635625" y="886634"/>
                  <a:pt x="5601509" y="920750"/>
                  <a:pt x="5559424" y="920750"/>
                </a:cubicBezTo>
                <a:lnTo>
                  <a:pt x="76201" y="920750"/>
                </a:lnTo>
                <a:cubicBezTo>
                  <a:pt x="34116" y="920750"/>
                  <a:pt x="0" y="886634"/>
                  <a:pt x="0" y="844549"/>
                </a:cubicBezTo>
                <a:lnTo>
                  <a:pt x="0" y="76201"/>
                </a:lnTo>
                <a:cubicBezTo>
                  <a:pt x="0" y="34145"/>
                  <a:pt x="34145" y="0"/>
                  <a:pt x="76201" y="0"/>
                </a:cubicBezTo>
                <a:close/>
              </a:path>
            </a:pathLst>
          </a:custGeom>
          <a:solidFill>
            <a:srgbClr val="FFFFFF">
              <a:alpha val="10196"/>
            </a:srgbClr>
          </a:solidFill>
          <a:ln w="8467">
            <a:solidFill>
              <a:srgbClr val="FFFFFF">
                <a:alpha val="20000"/>
              </a:srgbClr>
            </a:solidFill>
            <a:prstDash val="solid"/>
          </a:ln>
        </p:spPr>
      </p:sp>
      <p:sp>
        <p:nvSpPr>
          <p:cNvPr id="44" name="Shape 41"/>
          <p:cNvSpPr/>
          <p:nvPr/>
        </p:nvSpPr>
        <p:spPr>
          <a:xfrm>
            <a:off x="6316663" y="520065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C5A56A"/>
          </a:solidFill>
          <a:ln/>
        </p:spPr>
      </p:sp>
      <p:sp>
        <p:nvSpPr>
          <p:cNvPr id="45" name="Text 42"/>
          <p:cNvSpPr/>
          <p:nvPr/>
        </p:nvSpPr>
        <p:spPr>
          <a:xfrm>
            <a:off x="6645275" y="5181600"/>
            <a:ext cx="1438275"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Liter" pitchFamily="34" charset="0"/>
                <a:ea typeface="Liter" pitchFamily="34" charset="-122"/>
                <a:cs typeface="Liter" pitchFamily="34" charset="-120"/>
              </a:rPr>
              <a:t>Expected Outcomes</a:t>
            </a:r>
            <a:endParaRPr lang="en-US" sz="1600" dirty="0"/>
          </a:p>
        </p:txBody>
      </p:sp>
      <p:sp>
        <p:nvSpPr>
          <p:cNvPr id="46" name="Shape 43"/>
          <p:cNvSpPr/>
          <p:nvPr/>
        </p:nvSpPr>
        <p:spPr>
          <a:xfrm>
            <a:off x="6292850" y="5486400"/>
            <a:ext cx="1752600" cy="381000"/>
          </a:xfrm>
          <a:custGeom>
            <a:avLst/>
            <a:gdLst/>
            <a:ahLst/>
            <a:cxnLst/>
            <a:rect l="l" t="t" r="r" b="b"/>
            <a:pathLst>
              <a:path w="1752600" h="381000">
                <a:moveTo>
                  <a:pt x="38100" y="0"/>
                </a:moveTo>
                <a:lnTo>
                  <a:pt x="1714500" y="0"/>
                </a:lnTo>
                <a:cubicBezTo>
                  <a:pt x="1735528" y="0"/>
                  <a:pt x="1752600" y="17072"/>
                  <a:pt x="1752600" y="38100"/>
                </a:cubicBezTo>
                <a:lnTo>
                  <a:pt x="1752600" y="342900"/>
                </a:lnTo>
                <a:cubicBezTo>
                  <a:pt x="1752600" y="363928"/>
                  <a:pt x="1735528" y="381000"/>
                  <a:pt x="1714500" y="381000"/>
                </a:cubicBezTo>
                <a:lnTo>
                  <a:pt x="38100" y="381000"/>
                </a:lnTo>
                <a:cubicBezTo>
                  <a:pt x="17072" y="381000"/>
                  <a:pt x="0" y="363928"/>
                  <a:pt x="0" y="342900"/>
                </a:cubicBezTo>
                <a:lnTo>
                  <a:pt x="0" y="38100"/>
                </a:lnTo>
                <a:cubicBezTo>
                  <a:pt x="0" y="17072"/>
                  <a:pt x="17072" y="0"/>
                  <a:pt x="38100" y="0"/>
                </a:cubicBezTo>
                <a:close/>
              </a:path>
            </a:pathLst>
          </a:custGeom>
          <a:solidFill>
            <a:srgbClr val="FFFFFF">
              <a:alpha val="10196"/>
            </a:srgbClr>
          </a:solidFill>
          <a:ln/>
        </p:spPr>
      </p:sp>
      <p:sp>
        <p:nvSpPr>
          <p:cNvPr id="47" name="Text 44"/>
          <p:cNvSpPr/>
          <p:nvPr/>
        </p:nvSpPr>
        <p:spPr>
          <a:xfrm>
            <a:off x="6330950" y="5562600"/>
            <a:ext cx="1676400" cy="228600"/>
          </a:xfrm>
          <a:prstGeom prst="rect">
            <a:avLst/>
          </a:prstGeom>
          <a:noFill/>
          <a:ln/>
        </p:spPr>
        <p:txBody>
          <a:bodyPr wrap="square" lIns="0" tIns="0" rIns="0" bIns="0" rtlCol="0" anchor="ctr"/>
          <a:lstStyle/>
          <a:p>
            <a:pPr algn="ctr">
              <a:lnSpc>
                <a:spcPct val="130000"/>
              </a:lnSpc>
            </a:pPr>
            <a:r>
              <a:rPr lang="en-US" sz="1200" b="1" dirty="0">
                <a:solidFill>
                  <a:srgbClr val="C5A56A"/>
                </a:solidFill>
                <a:latin typeface="Liter" pitchFamily="34" charset="0"/>
                <a:ea typeface="Liter" pitchFamily="34" charset="-122"/>
                <a:cs typeface="Liter" pitchFamily="34" charset="-120"/>
              </a:rPr>
              <a:t>Workforce Stability</a:t>
            </a:r>
            <a:endParaRPr lang="en-US" sz="1600" dirty="0"/>
          </a:p>
        </p:txBody>
      </p:sp>
      <p:sp>
        <p:nvSpPr>
          <p:cNvPr id="48" name="Shape 45"/>
          <p:cNvSpPr/>
          <p:nvPr/>
        </p:nvSpPr>
        <p:spPr>
          <a:xfrm>
            <a:off x="8117384" y="5486400"/>
            <a:ext cx="1752600" cy="381000"/>
          </a:xfrm>
          <a:custGeom>
            <a:avLst/>
            <a:gdLst/>
            <a:ahLst/>
            <a:cxnLst/>
            <a:rect l="l" t="t" r="r" b="b"/>
            <a:pathLst>
              <a:path w="1752600" h="381000">
                <a:moveTo>
                  <a:pt x="38100" y="0"/>
                </a:moveTo>
                <a:lnTo>
                  <a:pt x="1714500" y="0"/>
                </a:lnTo>
                <a:cubicBezTo>
                  <a:pt x="1735528" y="0"/>
                  <a:pt x="1752600" y="17072"/>
                  <a:pt x="1752600" y="38100"/>
                </a:cubicBezTo>
                <a:lnTo>
                  <a:pt x="1752600" y="342900"/>
                </a:lnTo>
                <a:cubicBezTo>
                  <a:pt x="1752600" y="363928"/>
                  <a:pt x="1735528" y="381000"/>
                  <a:pt x="1714500" y="381000"/>
                </a:cubicBezTo>
                <a:lnTo>
                  <a:pt x="38100" y="381000"/>
                </a:lnTo>
                <a:cubicBezTo>
                  <a:pt x="17072" y="381000"/>
                  <a:pt x="0" y="363928"/>
                  <a:pt x="0" y="342900"/>
                </a:cubicBezTo>
                <a:lnTo>
                  <a:pt x="0" y="38100"/>
                </a:lnTo>
                <a:cubicBezTo>
                  <a:pt x="0" y="17072"/>
                  <a:pt x="17072" y="0"/>
                  <a:pt x="38100" y="0"/>
                </a:cubicBezTo>
                <a:close/>
              </a:path>
            </a:pathLst>
          </a:custGeom>
          <a:solidFill>
            <a:srgbClr val="FFFFFF">
              <a:alpha val="10196"/>
            </a:srgbClr>
          </a:solidFill>
          <a:ln/>
        </p:spPr>
      </p:sp>
      <p:sp>
        <p:nvSpPr>
          <p:cNvPr id="49" name="Text 46"/>
          <p:cNvSpPr/>
          <p:nvPr/>
        </p:nvSpPr>
        <p:spPr>
          <a:xfrm>
            <a:off x="8155484" y="5562600"/>
            <a:ext cx="1676400" cy="228600"/>
          </a:xfrm>
          <a:prstGeom prst="rect">
            <a:avLst/>
          </a:prstGeom>
          <a:noFill/>
          <a:ln/>
        </p:spPr>
        <p:txBody>
          <a:bodyPr wrap="square" lIns="0" tIns="0" rIns="0" bIns="0" rtlCol="0" anchor="ctr"/>
          <a:lstStyle/>
          <a:p>
            <a:pPr algn="ctr">
              <a:lnSpc>
                <a:spcPct val="130000"/>
              </a:lnSpc>
            </a:pPr>
            <a:r>
              <a:rPr lang="en-US" sz="1200" b="1" dirty="0">
                <a:solidFill>
                  <a:srgbClr val="C5A56A"/>
                </a:solidFill>
                <a:latin typeface="Liter" pitchFamily="34" charset="0"/>
                <a:ea typeface="Liter" pitchFamily="34" charset="-122"/>
                <a:cs typeface="Liter" pitchFamily="34" charset="-120"/>
              </a:rPr>
              <a:t>Cost Savings</a:t>
            </a:r>
            <a:endParaRPr lang="en-US" sz="1600" dirty="0"/>
          </a:p>
        </p:txBody>
      </p:sp>
      <p:sp>
        <p:nvSpPr>
          <p:cNvPr id="50" name="Shape 47"/>
          <p:cNvSpPr/>
          <p:nvPr/>
        </p:nvSpPr>
        <p:spPr>
          <a:xfrm>
            <a:off x="9942016" y="5486400"/>
            <a:ext cx="1752600" cy="381000"/>
          </a:xfrm>
          <a:custGeom>
            <a:avLst/>
            <a:gdLst/>
            <a:ahLst/>
            <a:cxnLst/>
            <a:rect l="l" t="t" r="r" b="b"/>
            <a:pathLst>
              <a:path w="1752600" h="381000">
                <a:moveTo>
                  <a:pt x="38100" y="0"/>
                </a:moveTo>
                <a:lnTo>
                  <a:pt x="1714500" y="0"/>
                </a:lnTo>
                <a:cubicBezTo>
                  <a:pt x="1735528" y="0"/>
                  <a:pt x="1752600" y="17072"/>
                  <a:pt x="1752600" y="38100"/>
                </a:cubicBezTo>
                <a:lnTo>
                  <a:pt x="1752600" y="342900"/>
                </a:lnTo>
                <a:cubicBezTo>
                  <a:pt x="1752600" y="363928"/>
                  <a:pt x="1735528" y="381000"/>
                  <a:pt x="1714500" y="381000"/>
                </a:cubicBezTo>
                <a:lnTo>
                  <a:pt x="38100" y="381000"/>
                </a:lnTo>
                <a:cubicBezTo>
                  <a:pt x="17072" y="381000"/>
                  <a:pt x="0" y="363928"/>
                  <a:pt x="0" y="342900"/>
                </a:cubicBezTo>
                <a:lnTo>
                  <a:pt x="0" y="38100"/>
                </a:lnTo>
                <a:cubicBezTo>
                  <a:pt x="0" y="17072"/>
                  <a:pt x="17072" y="0"/>
                  <a:pt x="38100" y="0"/>
                </a:cubicBezTo>
                <a:close/>
              </a:path>
            </a:pathLst>
          </a:custGeom>
          <a:solidFill>
            <a:srgbClr val="FFFFFF">
              <a:alpha val="10196"/>
            </a:srgbClr>
          </a:solidFill>
          <a:ln/>
        </p:spPr>
      </p:sp>
      <p:sp>
        <p:nvSpPr>
          <p:cNvPr id="51" name="Text 48"/>
          <p:cNvSpPr/>
          <p:nvPr/>
        </p:nvSpPr>
        <p:spPr>
          <a:xfrm>
            <a:off x="9980116" y="5562600"/>
            <a:ext cx="1676400" cy="228600"/>
          </a:xfrm>
          <a:prstGeom prst="rect">
            <a:avLst/>
          </a:prstGeom>
          <a:noFill/>
          <a:ln/>
        </p:spPr>
        <p:txBody>
          <a:bodyPr wrap="square" lIns="0" tIns="0" rIns="0" bIns="0" rtlCol="0" anchor="ctr"/>
          <a:lstStyle/>
          <a:p>
            <a:pPr algn="ctr">
              <a:lnSpc>
                <a:spcPct val="130000"/>
              </a:lnSpc>
            </a:pPr>
            <a:r>
              <a:rPr lang="en-US" sz="1200" b="1" dirty="0">
                <a:solidFill>
                  <a:srgbClr val="C5A56A"/>
                </a:solidFill>
                <a:latin typeface="Liter" pitchFamily="34" charset="0"/>
                <a:ea typeface="Liter" pitchFamily="34" charset="-122"/>
                <a:cs typeface="Liter" pitchFamily="34" charset="-120"/>
              </a:rPr>
              <a:t>Client Satisfaction</a:t>
            </a:r>
            <a:endParaRPr lang="en-US" sz="1600" dirty="0"/>
          </a:p>
        </p:txBody>
      </p:sp>
      <p:sp>
        <p:nvSpPr>
          <p:cNvPr id="52" name="Shape 49"/>
          <p:cNvSpPr/>
          <p:nvPr/>
        </p:nvSpPr>
        <p:spPr>
          <a:xfrm>
            <a:off x="384175" y="6105537"/>
            <a:ext cx="11426825" cy="501650"/>
          </a:xfrm>
          <a:custGeom>
            <a:avLst/>
            <a:gdLst/>
            <a:ahLst/>
            <a:cxnLst/>
            <a:rect l="l" t="t" r="r" b="b"/>
            <a:pathLst>
              <a:path w="11426825" h="501650">
                <a:moveTo>
                  <a:pt x="76201" y="0"/>
                </a:moveTo>
                <a:lnTo>
                  <a:pt x="11350624" y="0"/>
                </a:lnTo>
                <a:cubicBezTo>
                  <a:pt x="11392709" y="0"/>
                  <a:pt x="11426825" y="34116"/>
                  <a:pt x="11426825" y="76201"/>
                </a:cubicBezTo>
                <a:lnTo>
                  <a:pt x="11426825" y="425449"/>
                </a:lnTo>
                <a:cubicBezTo>
                  <a:pt x="11426825" y="467534"/>
                  <a:pt x="11392709" y="501650"/>
                  <a:pt x="11350624" y="501650"/>
                </a:cubicBezTo>
                <a:lnTo>
                  <a:pt x="76201" y="501650"/>
                </a:lnTo>
                <a:cubicBezTo>
                  <a:pt x="34144" y="501650"/>
                  <a:pt x="0" y="467506"/>
                  <a:pt x="0" y="425449"/>
                </a:cubicBezTo>
                <a:lnTo>
                  <a:pt x="0" y="76201"/>
                </a:lnTo>
                <a:cubicBezTo>
                  <a:pt x="0" y="34144"/>
                  <a:pt x="34144" y="0"/>
                  <a:pt x="76201" y="0"/>
                </a:cubicBezTo>
                <a:close/>
              </a:path>
            </a:pathLst>
          </a:custGeom>
          <a:solidFill>
            <a:srgbClr val="FFFFFF">
              <a:alpha val="10196"/>
            </a:srgbClr>
          </a:solidFill>
          <a:ln w="8467">
            <a:solidFill>
              <a:srgbClr val="FFFFFF">
                <a:alpha val="20000"/>
              </a:srgbClr>
            </a:solidFill>
            <a:prstDash val="solid"/>
          </a:ln>
        </p:spPr>
      </p:sp>
      <p:sp>
        <p:nvSpPr>
          <p:cNvPr id="53" name="Shape 50"/>
          <p:cNvSpPr/>
          <p:nvPr/>
        </p:nvSpPr>
        <p:spPr>
          <a:xfrm>
            <a:off x="3986610" y="6254762"/>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C5A56A"/>
          </a:solidFill>
          <a:ln/>
        </p:spPr>
      </p:sp>
      <p:sp>
        <p:nvSpPr>
          <p:cNvPr id="54" name="Text 51"/>
          <p:cNvSpPr/>
          <p:nvPr/>
        </p:nvSpPr>
        <p:spPr>
          <a:xfrm>
            <a:off x="749300" y="6223006"/>
            <a:ext cx="10991850" cy="2667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Liter" pitchFamily="34" charset="0"/>
                <a:ea typeface="Liter" pitchFamily="34" charset="-122"/>
                <a:cs typeface="Liter" pitchFamily="34" charset="-120"/>
              </a:rPr>
              <a:t>Next Step: Implement &amp; Sustain Improvements</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2411</Words>
  <Application>Microsoft Office PowerPoint</Application>
  <PresentationFormat>Widescreen</PresentationFormat>
  <Paragraphs>591</Paragraphs>
  <Slides>21</Slides>
  <Notes>16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Arial</vt:lpstr>
      <vt:lpstr>Calibri</vt:lpstr>
      <vt:lpstr>Liter</vt:lpstr>
      <vt:lpstr>Symbol</vt:lpstr>
      <vt:lpstr>Aptos Display</vt:lpstr>
      <vt:lpstr>微软雅黑</vt:lpstr>
      <vt:lpstr>Aptos</vt:lpstr>
      <vt:lpstr>Custom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Attrition Reduction Project</dc:title>
  <dc:subject>Employee Attrition Reduction Project</dc:subject>
  <dc:creator>Kimi</dc:creator>
  <cp:lastModifiedBy>Pravin _118613</cp:lastModifiedBy>
  <cp:revision>26</cp:revision>
  <dcterms:created xsi:type="dcterms:W3CDTF">2026-02-15T05:57:36Z</dcterms:created>
  <dcterms:modified xsi:type="dcterms:W3CDTF">2026-02-26T08:05:35Z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{"Label":"Employee Attrition Reduction Project","ContentProducer":"001191110108MACG2KBH8F10000","ProduceID":"19c5fcce-db12-8449-8000-00002527c1e7","ReservedCode1":"","ContentPropagator":"001191110108MACG2KBH8F20000","PropagateID":"19c5fcce-db12-8449-8000-00002527c1e7","ReservedCode2":""}</vt:lpwstr>
  </property>
</Properties>
</file>